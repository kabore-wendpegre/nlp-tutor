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Play"/>
      <p:regular r:id="rId27"/>
      <p:bold r:id="rId28"/>
    </p:embeddedFont>
    <p:embeddedFont>
      <p:font typeface="Cambria Math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3C24A7-5803-40AB-A72D-7B8C09617009}">
  <a:tblStyle styleId="{353C24A7-5803-40AB-A72D-7B8C096170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ambriaMath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86d533e99a3950a_3_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h486d533e99a3950a_3_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h486d533e99a3950a_3_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86d533e99a3950a_3_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h486d533e99a3950a_3_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h486d533e99a3950a_3_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86d533e99a3950a_3_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h486d533e99a3950a_3_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h486d533e99a3950a_3_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486d533e99a3950a_3_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h486d533e99a3950a_3_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486d533e99a3950a_3_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86d533e99a3950a_3_1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h486d533e99a3950a_3_1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486d533e99a3950a_3_1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486d533e99a3950a_3_1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h486d533e99a3950a_3_1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486d533e99a3950a_3_1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486d533e99a3950a_3_1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h486d533e99a3950a_3_1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486d533e99a3950a_3_1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486d533e99a3950a_3_2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486d533e99a3950a_3_2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486d533e99a3950a_3_2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86d533e99a3950a_3_2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h486d533e99a3950a_3_2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h486d533e99a3950a_3_2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486d533e99a3950a_3_3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h486d533e99a3950a_3_3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486d533e99a3950a_3_3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486d533e99a3950a_3_3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h486d533e99a3950a_3_3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h486d533e99a3950a_3_33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486d533e99a3950a_3_3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h486d533e99a3950a_3_3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h486d533e99a3950a_3_3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486d533e99a3950a_3_39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h486d533e99a3950a_3_39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486d533e99a3950a_3_39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486d533e99a3950a_3_4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h486d533e99a3950a_3_4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h486d533e99a3950a_3_4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h486d533e99a3950a_3_4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h486d533e99a3950a_3_4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h486d533e99a3950a_3_4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h486d533e99a3950a_3_47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h486d533e99a3950a_3_47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h486d533e99a3950a_3_47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486d533e99a3950a_3_49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h486d533e99a3950a_3_49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h486d533e99a3950a_3_49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h486d533e99a3950a_3_5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h486d533e99a3950a_3_5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h486d533e99a3950a_3_5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486d533e99a3950a_3_5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h486d533e99a3950a_3_5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h486d533e99a3950a_3_5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/>
        </p:nvSpPr>
        <p:spPr>
          <a:xfrm>
            <a:off x="0" y="0"/>
            <a:ext cx="9143771" cy="75438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" name="Google Shape;55;p15"/>
          <p:cNvCxnSpPr/>
          <p:nvPr/>
        </p:nvCxnSpPr>
        <p:spPr>
          <a:xfrm>
            <a:off x="445770" y="485546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5"/>
          <p:cNvSpPr/>
          <p:nvPr/>
        </p:nvSpPr>
        <p:spPr>
          <a:xfrm>
            <a:off x="466344" y="4882896"/>
            <a:ext cx="49377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NLP Tutor • Qwen2.5-1.5B • QLoRA • Gradio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3771" cy="8229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34924" y="788670"/>
            <a:ext cx="39090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fr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NLP Tutor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62356" y="1385316"/>
            <a:ext cx="49377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7F3"/>
              </a:buClr>
              <a:buSzPts val="1500"/>
              <a:buFont typeface="Arial"/>
              <a:buNone/>
            </a:pPr>
            <a:r>
              <a:rPr b="0" i="0" lang="fr" sz="1500" u="none" cap="none" strike="noStrike">
                <a:solidFill>
                  <a:srgbClr val="D8E7F3"/>
                </a:solidFill>
                <a:latin typeface="Arial"/>
                <a:ea typeface="Arial"/>
                <a:cs typeface="Arial"/>
                <a:sym typeface="Arial"/>
              </a:rPr>
              <a:t>Du Transformer pré-entraîné à un assistant pédagogique spécialisé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62356" y="200253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1000"/>
              <a:buFont typeface="Arial"/>
              <a:buNone/>
            </a:pPr>
            <a:r>
              <a:rPr b="0" i="0" lang="fr" sz="10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Qwen2.5-1.5B-Instruct • Prompting • QLoRA 4 bits • Évaluation • Gradio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117336" y="836676"/>
            <a:ext cx="2366010" cy="2983230"/>
          </a:xfrm>
          <a:prstGeom prst="roundRect">
            <a:avLst>
              <a:gd fmla="val 2319" name="adj"/>
            </a:avLst>
          </a:prstGeom>
          <a:solidFill>
            <a:srgbClr val="13283D"/>
          </a:solidFill>
          <a:ln cap="flat" cmpd="sng" w="13950">
            <a:solidFill>
              <a:srgbClr val="2B4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6412230" y="1131570"/>
            <a:ext cx="174879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Logits → Softmax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Décodage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Réponse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562356" y="401193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Wendpêgré Hugues Anselme KABORE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562356" y="4286250"/>
            <a:ext cx="43891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7D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B8C7D9"/>
                </a:solidFill>
                <a:latin typeface="Arial"/>
                <a:ea typeface="Arial"/>
                <a:cs typeface="Arial"/>
                <a:sym typeface="Arial"/>
              </a:rPr>
              <a:t>CY Tech • Traitement automatique du langage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1. Problème, objectif et périmètre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Construire un assistant spécialisé, mesurable et compatible avec des ressources limitées.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CADRAGE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34924" y="925830"/>
            <a:ext cx="2537460" cy="1508760"/>
          </a:xfrm>
          <a:prstGeom prst="roundRect">
            <a:avLst>
              <a:gd fmla="val 3636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534924" y="925830"/>
            <a:ext cx="48006" cy="150876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85800" y="1049274"/>
            <a:ext cx="22974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Cas d’usage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85800" y="1309878"/>
            <a:ext cx="230428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Un étudiant pose des questions sur les notions fondamentales du NLP et des Transformers. Le système doit répondre en français, de manière pédagogique et structurée.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312414" y="925830"/>
            <a:ext cx="2537460" cy="1508760"/>
          </a:xfrm>
          <a:prstGeom prst="roundRect">
            <a:avLst>
              <a:gd fmla="val 3636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312414" y="925830"/>
            <a:ext cx="48006" cy="150876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3463290" y="1049274"/>
            <a:ext cx="22974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Question expérimentale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463290" y="1309878"/>
            <a:ext cx="230428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Est-ce qu’une adaptation QLoRA améliore réellement le comportement pédagogique d’un petit modèle par rapport à une simple baseline avec prompting 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089904" y="925830"/>
            <a:ext cx="2537460" cy="1508760"/>
          </a:xfrm>
          <a:prstGeom prst="roundRect">
            <a:avLst>
              <a:gd fmla="val 3636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089904" y="925830"/>
            <a:ext cx="48006" cy="150876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6240780" y="1049274"/>
            <a:ext cx="22974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Contraintes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6240780" y="1309878"/>
            <a:ext cx="230428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GPU Tesla T4, modèle compact, entraînement léger, dataset limité, résultats reproductibles et interface de démonstration.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48640" y="2777490"/>
            <a:ext cx="219456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Deux configurations comparées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62356" y="3099816"/>
            <a:ext cx="363474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720090" y="3236976"/>
            <a:ext cx="10972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20090" y="3463290"/>
            <a:ext cx="31203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Qwen2.5-1.5B-Instruct + prompt système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→ aucun poids modifié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354830" y="3099816"/>
            <a:ext cx="3634740" cy="92583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4512564" y="3236976"/>
            <a:ext cx="1440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APRÈS QLoRA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512564" y="3463290"/>
            <a:ext cx="31203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Même Qwen + quantification 4 bits + adaptateurs LoRA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→ environ 1,18 % des paramètres entraînables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2. Les briques à comprendre avant l’entraînement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modèle génère du texte en répétant une prédiction de prochain token.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FONDAMENTAUX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62356" y="92583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562356" y="925830"/>
            <a:ext cx="48006" cy="85725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3232" y="104927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713232" y="1309878"/>
            <a:ext cx="357301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Unité manipulée par le modèle : mot, sous-mot, ponctuation…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677156" y="92583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4677156" y="925830"/>
            <a:ext cx="48006" cy="85725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4828032" y="104927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828032" y="1309878"/>
            <a:ext cx="357301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Convertit le texte en identifiants numériques puis permet le décodage inverse.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62356" y="198882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F0ED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562356" y="1988820"/>
            <a:ext cx="48006" cy="85725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713232" y="211226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713232" y="2372868"/>
            <a:ext cx="357301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Transforme un identifiant de token en vecteur numérique exploitable par le réseau.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677156" y="198882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4677156" y="1988820"/>
            <a:ext cx="48006" cy="85725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828032" y="211226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828032" y="2372868"/>
            <a:ext cx="357301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Architecture fondée notamment sur l’attention pour contextualiser les représentations.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62356" y="305181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FDECEC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562356" y="3051810"/>
            <a:ext cx="48006" cy="85725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713232" y="317525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Logits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713232" y="3435858"/>
            <a:ext cx="357301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Scores bruts produits pour chaque prochain token possible.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677156" y="305181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677156" y="3051810"/>
            <a:ext cx="48006" cy="85725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828032" y="317525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828032" y="3435858"/>
            <a:ext cx="357301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Transforme les logits en probabilités positives dont la somme vaut 1.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17220" y="4217670"/>
            <a:ext cx="78867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Idée clé : le LLM ne “choisit pas une phrase entière”. Il choisit un token, l’ajoute au contexte, puis recommence.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3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3. Pipeline de génération : du texte au prochain token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Exemple simplifié du mécanisme étudié dans le notebook.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FONDAMENTAUX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7719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3205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Texte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3205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Le NLP est… »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460754" y="1625346"/>
            <a:ext cx="233172" cy="288036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161163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66649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Tokens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66649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IDs numériques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695194" y="1625346"/>
            <a:ext cx="233172" cy="288036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284607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290093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90093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vecteurs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929634" y="1625346"/>
            <a:ext cx="233172" cy="288036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408051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413537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13537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attention + MLP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164074" y="1625346"/>
            <a:ext cx="233172" cy="288036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31495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36981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Logits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36981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scores bruts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398514" y="1625346"/>
            <a:ext cx="233172" cy="288036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54939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660425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60425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probabilités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632954" y="1625346"/>
            <a:ext cx="233172" cy="288036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7783830" y="1405890"/>
            <a:ext cx="1062990" cy="788670"/>
          </a:xfrm>
          <a:prstGeom prst="roundRect">
            <a:avLst>
              <a:gd fmla="val 5217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7838694" y="1563624"/>
            <a:ext cx="953262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Décodage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838694" y="1803654"/>
            <a:ext cx="9532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token choisi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62356" y="2777490"/>
            <a:ext cx="3737610" cy="1220724"/>
          </a:xfrm>
          <a:prstGeom prst="roundRect">
            <a:avLst>
              <a:gd fmla="val 2247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85800" y="2880360"/>
            <a:ext cx="349072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with torch.inference_mode():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outputs = model(**inputs)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next_logits = outputs.logits[0, -1]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next_probs = torch.softmax(next_logits.float(), dim=-1)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next_id = torch.argmax(next_probs).item()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608576" y="2777490"/>
            <a:ext cx="3909060" cy="1220724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4608576" y="2777490"/>
            <a:ext cx="48006" cy="1220724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4759452" y="2900934"/>
            <a:ext cx="36690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cette étape dans le projet 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759452" y="3161538"/>
            <a:ext cx="36758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La consigne demandait d’observer le tokenizer, la forme des logits, la softmax et le choix du prochain token. Cela permet de comprendre ce que font ensuite température, top-k et top-p au lieu de traiter le LLM comme une boîte noire.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4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4. Baseline : guider le modèle sans l’entraîner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prompting agit sur le contexte ; il ne modifie pas les poids du modèle.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62356" y="925830"/>
            <a:ext cx="3566160" cy="1453896"/>
          </a:xfrm>
          <a:prstGeom prst="roundRect">
            <a:avLst>
              <a:gd fmla="val 3774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62356" y="925830"/>
            <a:ext cx="48006" cy="1453896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713232" y="1049274"/>
            <a:ext cx="33261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Prompt système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13232" y="1309878"/>
            <a:ext cx="3332988" cy="97383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Tu es NLP Tutor… réponds en français, commence par une définition claire, explique progressivement, donne un exemple quand c’est pertinent et termine par “À retenir”. »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423410" y="925830"/>
            <a:ext cx="16459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Décodage testé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423410" y="1248156"/>
            <a:ext cx="1817370" cy="754380"/>
          </a:xfrm>
          <a:prstGeom prst="roundRect">
            <a:avLst>
              <a:gd fmla="val 7273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4423410" y="1248156"/>
            <a:ext cx="48006" cy="75438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4574286" y="1371600"/>
            <a:ext cx="15773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Greedy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574286" y="1632204"/>
            <a:ext cx="1584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toujours le token le plus probable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446520" y="1248156"/>
            <a:ext cx="1817370" cy="75438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446520" y="1248156"/>
            <a:ext cx="48006" cy="75438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597396" y="1371600"/>
            <a:ext cx="15773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Température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597396" y="1632204"/>
            <a:ext cx="1584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contrôle le caractère plus ou moins aléatoire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423410" y="2173986"/>
            <a:ext cx="1817370" cy="754380"/>
          </a:xfrm>
          <a:prstGeom prst="roundRect">
            <a:avLst>
              <a:gd fmla="val 7273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423410" y="2173986"/>
            <a:ext cx="48006" cy="75438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574286" y="2297430"/>
            <a:ext cx="15773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Top-k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574286" y="2558034"/>
            <a:ext cx="1584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limite aux k meilleurs candidats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446520" y="2173986"/>
            <a:ext cx="1817370" cy="75438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446520" y="2173986"/>
            <a:ext cx="48006" cy="75438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597396" y="2297430"/>
            <a:ext cx="15773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Top-p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597396" y="2558034"/>
            <a:ext cx="1584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garde une masse cumulée de probabilité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62356" y="2798064"/>
            <a:ext cx="3785616" cy="1371600"/>
          </a:xfrm>
          <a:prstGeom prst="roundRect">
            <a:avLst>
              <a:gd fmla="val 2000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85800" y="2900934"/>
            <a:ext cx="35387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messages = [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"system", "content": SYSTEM_PROMPT},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{"role": "user",   "content": question},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model_inputs = tokenizer.apply_chat_template(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messages, add_generation_prompt=True,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return_tensors="pt"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b="0" i="0" lang="fr" sz="7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608576" y="2798064"/>
            <a:ext cx="3895344" cy="1371600"/>
          </a:xfrm>
          <a:prstGeom prst="roundRect">
            <a:avLst>
              <a:gd fmla="val 4000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608576" y="2798064"/>
            <a:ext cx="48006" cy="13716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4759452" y="2921508"/>
            <a:ext cx="365531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conserver cette baseline 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759452" y="3182112"/>
            <a:ext cx="3662172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Elle sert de référence. Sans elle, un bon score après QLoRA ne permettrait pas de savoir si l’amélioration vient réellement du fine-tuning ou si Qwen était déjà suffisamment performant.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5. Dataset pédagogique : 500 exemples contrôlés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25 notions × 20 formulations de question, avec séparation train / validation / test.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62356" y="925830"/>
            <a:ext cx="2228850" cy="1577340"/>
          </a:xfrm>
          <a:prstGeom prst="roundRect">
            <a:avLst>
              <a:gd fmla="val 3043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788670" y="117957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25 concepts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720090" y="1563624"/>
            <a:ext cx="19202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token • softmax • attention • Q/K/V • LoRA • QLoRA • quantification • surapprentissage…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928366" y="1474470"/>
            <a:ext cx="356616" cy="397764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3415284" y="925830"/>
            <a:ext cx="2228850" cy="1577340"/>
          </a:xfrm>
          <a:prstGeom prst="roundRect">
            <a:avLst>
              <a:gd fmla="val 3043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3634740" y="117957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20 formulations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634740" y="1556766"/>
            <a:ext cx="1783080" cy="644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Explique… »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À quoi sert… »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Donne un exemple… »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Fais une fiche de révision… »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95010" y="1474470"/>
            <a:ext cx="356616" cy="397764"/>
          </a:xfrm>
          <a:prstGeom prst="chevron">
            <a:avLst>
              <a:gd fmla="val 50000" name="adj"/>
            </a:avLst>
          </a:prstGeom>
          <a:solidFill>
            <a:srgbClr val="B8C1CC"/>
          </a:solidFill>
          <a:ln cap="flat" cmpd="sng" w="12700">
            <a:solidFill>
              <a:srgbClr val="B8C1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6275070" y="925830"/>
            <a:ext cx="2228850" cy="1577340"/>
          </a:xfrm>
          <a:prstGeom prst="roundRect">
            <a:avLst>
              <a:gd fmla="val 3043" name="adj"/>
            </a:avLst>
          </a:prstGeom>
          <a:solidFill>
            <a:srgbClr val="FFF2E6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6480810" y="1179576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500 exemples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480810" y="1632204"/>
            <a:ext cx="181737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800"/>
              <a:buFont typeface="Arial"/>
              <a:buNone/>
            </a:pPr>
            <a:r>
              <a:rPr b="0" i="0" lang="fr" sz="8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question + référence + mots-clés + prompt + completion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82930" y="2777490"/>
            <a:ext cx="13030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Répartition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89788" y="3120390"/>
            <a:ext cx="1474470" cy="260604"/>
          </a:xfrm>
          <a:prstGeom prst="roundRect">
            <a:avLst>
              <a:gd fmla="val 21053" name="adj"/>
            </a:avLst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617220" y="3182112"/>
            <a:ext cx="141960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350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208276" y="3120390"/>
            <a:ext cx="1611630" cy="260604"/>
          </a:xfrm>
          <a:prstGeom prst="roundRect">
            <a:avLst>
              <a:gd fmla="val 21053" name="adj"/>
            </a:avLst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2235708" y="3182112"/>
            <a:ext cx="155676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VALIDATION 75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3963924" y="3120390"/>
            <a:ext cx="1371600" cy="260604"/>
          </a:xfrm>
          <a:prstGeom prst="roundRect">
            <a:avLst>
              <a:gd fmla="val 21053" name="adj"/>
            </a:avLst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3991356" y="3182112"/>
            <a:ext cx="13167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75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657850" y="2825496"/>
            <a:ext cx="2846070" cy="1110996"/>
          </a:xfrm>
          <a:prstGeom prst="roundRect">
            <a:avLst>
              <a:gd fmla="val 4938" name="adj"/>
            </a:avLst>
          </a:prstGeom>
          <a:solidFill>
            <a:srgbClr val="FDECEC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5657850" y="2825496"/>
            <a:ext cx="48006" cy="111099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5808726" y="2948940"/>
            <a:ext cx="26060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Limite méthodologique importante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5808726" y="3209544"/>
            <a:ext cx="261289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Les questions varient, mais la réponse de référence d’un même concept reste souvent presque identique. Le test standard mesure donc fortement l’adaptation au dataset et peut surestimer la généralisation.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17220" y="3737610"/>
            <a:ext cx="4869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Rôle des splits : train = apprendre • validation = surveiller/choisir • test = mesurer sans apprendre dessus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6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6. Architecture logicielle : ce qui a été mis dans chaque fichier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notebook orchestre l’expérience ; les fonctions réutilisables sont placées dans src/nlp_tutor/.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562356" y="905256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62356" y="905256"/>
            <a:ext cx="48006" cy="706374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713232" y="1028700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config.py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13232" y="1289304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MODEL_ID, SEED, SYSTEM_PROMPT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677156" y="905256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4677156" y="905256"/>
            <a:ext cx="48006" cy="706374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4828032" y="1028700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model.py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828032" y="1289304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tokenizer, modèle de base, QLoRA, adaptateur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562356" y="1789938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62356" y="1789938"/>
            <a:ext cx="48006" cy="706374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713232" y="1913382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generation.py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13232" y="2173986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chat template, generate(), stratégies de décodage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4677156" y="1789938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4677156" y="1789938"/>
            <a:ext cx="48006" cy="706374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828032" y="1913382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dataset.py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828032" y="2173986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concepts, templates, splits 350/75/75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62356" y="2674620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62356" y="2674620"/>
            <a:ext cx="48006" cy="706374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713232" y="279806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training.py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713232" y="3058668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BitsAndBytesConfig, LoRA, SFTConfig, SFTTrainer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677156" y="2674620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4677156" y="2674620"/>
            <a:ext cx="48006" cy="706374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4828032" y="279806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evaluation.py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828032" y="3058668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ROUGE-L, keyword coverage, CSV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62356" y="3559302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562356" y="3559302"/>
            <a:ext cx="48006" cy="706374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713232" y="3682746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app/app.py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13232" y="3943350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chargement final + interface Gradio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677156" y="3559302"/>
            <a:ext cx="3806190" cy="706374"/>
          </a:xfrm>
          <a:prstGeom prst="roundRect">
            <a:avLst>
              <a:gd fmla="val 7767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4677156" y="3559302"/>
            <a:ext cx="48006" cy="706374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4828032" y="3682746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agent.ipynb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4828032" y="3943350"/>
            <a:ext cx="3573018" cy="22631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expérience complète et résultats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637794" y="4526280"/>
            <a:ext cx="78181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cette séparation ?  →  lisibilité • réutilisation • reproductibilité • application indépendante du notebook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7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7. Pourquoi QLoRA 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Spécialiser le modèle sans réentraîner ses 1,56 milliard de paramètres.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ADAPTATION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562356" y="925830"/>
            <a:ext cx="2434590" cy="1543050"/>
          </a:xfrm>
          <a:prstGeom prst="roundRect">
            <a:avLst>
              <a:gd fmla="val 3556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562356" y="925830"/>
            <a:ext cx="48006" cy="154305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713232" y="1049274"/>
            <a:ext cx="21945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Quantification 4 bits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713232" y="1309878"/>
            <a:ext cx="2201418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Les poids principaux de Qwen sont représentés avec une précision réduite. Objectif : diminuer fortement la mémoire nécessaire sur la Tesla T4.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3346704" y="925830"/>
            <a:ext cx="2434590" cy="1543050"/>
          </a:xfrm>
          <a:prstGeom prst="roundRect">
            <a:avLst>
              <a:gd fmla="val 3556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3346704" y="925830"/>
            <a:ext cx="48006" cy="154305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3497580" y="1049274"/>
            <a:ext cx="21945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3497580" y="1309878"/>
            <a:ext cx="2201418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Les poids principaux restent gelés. De petites matrices de faible rang sont ajoutées dans certaines projections et ce sont elles qui sont entraînées.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6131052" y="925830"/>
            <a:ext cx="2434590" cy="1543050"/>
          </a:xfrm>
          <a:prstGeom prst="roundRect">
            <a:avLst>
              <a:gd fmla="val 3556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6131052" y="925830"/>
            <a:ext cx="48006" cy="154305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6281928" y="1049274"/>
            <a:ext cx="21945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QLoRA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6281928" y="1309878"/>
            <a:ext cx="2201418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QLoRA combine les deux : modèle quantifié + adaptateurs LoRA. Cela permet un fine-tuning beaucoup plus léger en mémoire.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617220" y="2798064"/>
            <a:ext cx="19888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Paramètres entraînables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lp_tutor_work/params_donut.png" id="320" name="Google Shape;3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" y="3065526"/>
            <a:ext cx="2914650" cy="117957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/>
          <p:nvPr/>
        </p:nvSpPr>
        <p:spPr>
          <a:xfrm>
            <a:off x="3826764" y="2811780"/>
            <a:ext cx="4697730" cy="1508760"/>
          </a:xfrm>
          <a:prstGeom prst="roundRect">
            <a:avLst>
              <a:gd fmla="val 1818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3950208" y="2914650"/>
            <a:ext cx="4450842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lora_config = LoraConfig(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r=16,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lora_alpha=32,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lora_dropout=0.05,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target_modules=[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"q_proj", "k_proj", "v_proj", "o_proj",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    "gate_proj", "up_proj", "down_proj"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8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8. Entraînement : configuration réellement utilisée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Un réglage volontairement léger pour tenir sur une Tesla T4.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ENTRAÎNEMENT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82930" y="960120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665226" y="1042416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665226" y="1220724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2640330" y="960120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2722626" y="1042416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Batch GPU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2722626" y="1220724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4697730" y="960120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4780026" y="1042416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Accumulation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4780026" y="1220724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6755130" y="960120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AF2F8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6837426" y="1042416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Batch effectif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6837426" y="1220724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582930" y="1728216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665226" y="1810512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665226" y="1988820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 × 10⁻⁴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2640330" y="1728216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2722626" y="1810512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Max length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2722626" y="1988820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512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4697730" y="1728216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4780026" y="1810512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Warmup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4780026" y="1988820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10 steps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6755130" y="1728216"/>
            <a:ext cx="1817370" cy="603504"/>
          </a:xfrm>
          <a:prstGeom prst="roundRect">
            <a:avLst>
              <a:gd fmla="val 5682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6837426" y="1810512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6837426" y="1988820"/>
            <a:ext cx="16116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completion only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582930" y="2708910"/>
            <a:ext cx="3806190" cy="1474470"/>
          </a:xfrm>
          <a:prstGeom prst="roundRect">
            <a:avLst>
              <a:gd fmla="val 1860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706374" y="2811780"/>
            <a:ext cx="3559302" cy="1282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training_args = SFTConfig(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num_train_epochs=2,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per_device_train_batch_size=2,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gradient_accumulation_steps=8,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learning_rate=2e-4,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max_length=512,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gradient_checkpointing=True,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    completion_only_loss=True,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4649724" y="2708910"/>
            <a:ext cx="3874770" cy="147447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4649724" y="2708910"/>
            <a:ext cx="48006" cy="1474470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4800600" y="2832354"/>
            <a:ext cx="36347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Interprétation des principaux choix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4800600" y="3092958"/>
            <a:ext cx="3641598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Batch effectif = 2 × 8 = 16. Le gradient checkpointing réduit la mémoire au prix de calculs supplémentaires. `completion_only_loss=True` apprend surtout la réponse attendue et non le texte du prompt.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617220" y="4382262"/>
            <a:ext cx="78181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b="1" i="0" lang="fr" sz="9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Validation finale observée : eval_loss ≈ 0,0143 • perplexité ≈ 1,014 • mean token accuracy ≈ 0,9988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9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9. Protocole d’évaluation : avant / après exactement sur les mêmes requêtes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Même sélection de 20 exemples du test, mêmes fonctions de génération et mêmes métriques.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ÉVALUATION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562356" y="925830"/>
            <a:ext cx="2503170" cy="1474470"/>
          </a:xfrm>
          <a:prstGeom prst="roundRect">
            <a:avLst>
              <a:gd fmla="val 3721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562356" y="925830"/>
            <a:ext cx="48006" cy="147447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713232" y="104927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ROUGE-L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713232" y="1309878"/>
            <a:ext cx="2269998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Compare la réponse générée à la référence à partir de la plus longue sous-séquence commune. Un score élevé signifie une forte proximité textuelle, pas nécessairement une vérité parfaite.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3305556" y="925830"/>
            <a:ext cx="2503170" cy="1474470"/>
          </a:xfrm>
          <a:prstGeom prst="roundRect">
            <a:avLst>
              <a:gd fmla="val 3721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"/>
          <p:cNvSpPr/>
          <p:nvPr/>
        </p:nvSpPr>
        <p:spPr>
          <a:xfrm>
            <a:off x="3305556" y="925830"/>
            <a:ext cx="48006" cy="147447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5"/>
          <p:cNvSpPr/>
          <p:nvPr/>
        </p:nvSpPr>
        <p:spPr>
          <a:xfrm>
            <a:off x="3456432" y="104927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Keyword coverage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3456432" y="1309878"/>
            <a:ext cx="2269998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Chaque notion possède des mots-clés attendus. La métrique mesure la proportion de ces éléments présents dans la réponse.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6048756" y="925830"/>
            <a:ext cx="2503170" cy="1474470"/>
          </a:xfrm>
          <a:prstGeom prst="roundRect">
            <a:avLst>
              <a:gd fmla="val 3721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6048756" y="925830"/>
            <a:ext cx="48006" cy="147447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6199632" y="104927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Challenge complémentaire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6199632" y="1309878"/>
            <a:ext cx="2269998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20 questions formulées indépendamment des templates pour observer des situations de comparaison, de justification et de raisonnement plus réalistes.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562356" y="2777490"/>
            <a:ext cx="4080510" cy="1179576"/>
          </a:xfrm>
          <a:prstGeom prst="roundRect">
            <a:avLst>
              <a:gd fmla="val 2326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685800" y="2880360"/>
            <a:ext cx="383362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eval20 = dataset["test"].shuffle(seed=123).select(range(20))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rouge_l = rouge.score(reference, prediction)["rougeL"].fmeasure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800"/>
              <a:buFont typeface="Courier New"/>
              <a:buNone/>
            </a:pPr>
            <a:r>
              <a:rPr b="0" i="0" lang="fr" sz="800" u="none" cap="none" strike="noStrike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coverage = keyword_coverage(prediction, keywords)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4896612" y="2777490"/>
            <a:ext cx="3641598" cy="1179576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4896612" y="2777490"/>
            <a:ext cx="48006" cy="1179576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5047488" y="2900934"/>
            <a:ext cx="340156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20 requêtes 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5047488" y="3161538"/>
            <a:ext cx="3408426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La consigne exigeait au moins 20 requêtes de test non utilisées pendant l’entraînement. La graine `123` rend la sélection reproductible.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617220" y="4251960"/>
            <a:ext cx="785241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Attention : une métrique automatique mesure un aspect précis ; elle doit être complétée par l’analyse des réponses.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5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10. Résultats quantitatifs : QLoRA s’adapte très fortement au dataset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gain est massif sur le test standard, mais doit être interprété avec prudence.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RÉSULTATS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lp_tutor_work/results_chart.png" id="406" name="Google Shape;4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925830"/>
            <a:ext cx="493776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6"/>
          <p:cNvSpPr/>
          <p:nvPr/>
        </p:nvSpPr>
        <p:spPr>
          <a:xfrm>
            <a:off x="5726430" y="946404"/>
            <a:ext cx="2674620" cy="857250"/>
          </a:xfrm>
          <a:prstGeom prst="roundRect">
            <a:avLst>
              <a:gd fmla="val 6400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5726430" y="946404"/>
            <a:ext cx="48006" cy="85725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>
            <a:off x="5877306" y="1069848"/>
            <a:ext cx="24345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5877306" y="1330452"/>
            <a:ext cx="244144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ROUGE-L moyen : 0,1331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Couverture mots-clés : 0,2500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5726430" y="1975104"/>
            <a:ext cx="2674620" cy="857250"/>
          </a:xfrm>
          <a:prstGeom prst="roundRect">
            <a:avLst>
              <a:gd fmla="val 6400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5726430" y="1975104"/>
            <a:ext cx="48006" cy="85725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6"/>
          <p:cNvSpPr/>
          <p:nvPr/>
        </p:nvSpPr>
        <p:spPr>
          <a:xfrm>
            <a:off x="5877306" y="2098548"/>
            <a:ext cx="24345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Après QLoRA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5877306" y="2359152"/>
            <a:ext cx="244144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ROUGE-L moyen : 1,0000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Couverture mots-clés : 0,8375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5726430" y="3003804"/>
            <a:ext cx="2674620" cy="877824"/>
          </a:xfrm>
          <a:prstGeom prst="roundRect">
            <a:avLst>
              <a:gd fmla="val 6250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5726430" y="3003804"/>
            <a:ext cx="48006" cy="877824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6"/>
          <p:cNvSpPr/>
          <p:nvPr/>
        </p:nvSpPr>
        <p:spPr>
          <a:xfrm>
            <a:off x="5877306" y="3127248"/>
            <a:ext cx="24345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Lecture correcte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5877306" y="3387852"/>
            <a:ext cx="2441448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QLoRA reproduit beaucoup mieux les références du dataset et leur vocabulaire attendu. Cela montre une spécialisation forte, pas une perfection générale.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822960" y="4066794"/>
            <a:ext cx="74066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Arial"/>
              <a:buNone/>
            </a:pPr>
            <a:r>
              <a:rPr b="1" i="0" lang="fr" sz="13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Δ ROUGE-L ≈ +0,8669   •   Δ couverture ≈ +0,5875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6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11. Pourquoi ROUGE-L = 1 ne veut pas dire “modèle parfait”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Le challenge met en évidence la différence entre adaptation au dataset et généralisation.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ANALYSE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562356" y="918972"/>
            <a:ext cx="3806190" cy="1371600"/>
          </a:xfrm>
          <a:prstGeom prst="roundRect">
            <a:avLst>
              <a:gd fmla="val 3500" name="adj"/>
            </a:avLst>
          </a:prstGeom>
          <a:solidFill>
            <a:srgbClr val="FDECEC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754380" y="1124712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Test standard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754380" y="1405890"/>
            <a:ext cx="3360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Question reformulée mais réponse cible très similaire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→ QLoRA peut apprendre une association directe “concept → réponse type”.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4718304" y="918972"/>
            <a:ext cx="3806190" cy="1371600"/>
          </a:xfrm>
          <a:prstGeom prst="roundRect">
            <a:avLst>
              <a:gd fmla="val 3500" name="adj"/>
            </a:avLst>
          </a:prstGeom>
          <a:solidFill>
            <a:srgbClr val="E8F7F5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4910328" y="112471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Challenge inédit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4910328" y="1405890"/>
            <a:ext cx="33604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Questions de justification, comparaison ou raisonnement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→ test plus réaliste de transfert de connaissance.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562356" y="2606040"/>
            <a:ext cx="2503170" cy="1179576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562356" y="2606040"/>
            <a:ext cx="48006" cy="117957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713232" y="272948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Exemple réussi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713232" y="2990088"/>
            <a:ext cx="2269998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Pourquoi QLoRA consomme-t-il moins de mémoire qu’un fine-tuning complet ? »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→ réponse généralement plus ciblée après adaptation.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3312414" y="2606040"/>
            <a:ext cx="2503170" cy="1179576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3312414" y="2606040"/>
            <a:ext cx="48006" cy="117957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3463290" y="272948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Exemple de limite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3463290" y="2990088"/>
            <a:ext cx="2269998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Sur certaines comparaisons ou questions Q/K/V, une réponse peut être trop courte, partielle ou conceptuellement incorrecte.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6062472" y="2606040"/>
            <a:ext cx="2503170" cy="1179576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6062472" y="2606040"/>
            <a:ext cx="48006" cy="11795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7"/>
          <p:cNvSpPr/>
          <p:nvPr/>
        </p:nvSpPr>
        <p:spPr>
          <a:xfrm>
            <a:off x="6213348" y="272948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6213348" y="2990088"/>
            <a:ext cx="2269998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QLoRA améliore la spécialisation, mais une bonne évaluation doit tester des formulations réellement nouvelles et plusieurs types de compétence.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651510" y="4101084"/>
            <a:ext cx="7749540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La généralisation = utiliser correctement ce qui a été appris dans une situation différente de celle vue pendant l’entraînement.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12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7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12. Application Gradio : transformer le modèle en assistant utilisable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L’application ne réentraîne rien : elle recharge le modèle de base et l’adaptateur sauvegardé.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lp_tutor_work/gradio_demo.png" id="461" name="Google Shape;4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857250"/>
            <a:ext cx="5246370" cy="320268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8"/>
          <p:cNvSpPr/>
          <p:nvPr/>
        </p:nvSpPr>
        <p:spPr>
          <a:xfrm>
            <a:off x="5966460" y="925830"/>
            <a:ext cx="2468880" cy="788670"/>
          </a:xfrm>
          <a:prstGeom prst="roundRect">
            <a:avLst>
              <a:gd fmla="val 6957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>
            <a:off x="5966460" y="925830"/>
            <a:ext cx="48006" cy="78867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6117336" y="1049274"/>
            <a:ext cx="22288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Chargement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6117336" y="1309878"/>
            <a:ext cx="223570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Tokenizer + Qwen 4 bits + adaptateur LoRA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5966460" y="1885950"/>
            <a:ext cx="2468880" cy="788670"/>
          </a:xfrm>
          <a:prstGeom prst="roundRect">
            <a:avLst>
              <a:gd fmla="val 6957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"/>
          <p:cNvSpPr/>
          <p:nvPr/>
        </p:nvSpPr>
        <p:spPr>
          <a:xfrm>
            <a:off x="5966460" y="1885950"/>
            <a:ext cx="48006" cy="78867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8"/>
          <p:cNvSpPr/>
          <p:nvPr/>
        </p:nvSpPr>
        <p:spPr>
          <a:xfrm>
            <a:off x="6117336" y="2009394"/>
            <a:ext cx="22288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Inférence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6117336" y="2269998"/>
            <a:ext cx="223570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message → generate_tutor() → réponse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5966460" y="2846070"/>
            <a:ext cx="2468880" cy="788670"/>
          </a:xfrm>
          <a:prstGeom prst="roundRect">
            <a:avLst>
              <a:gd fmla="val 6957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5966460" y="2846070"/>
            <a:ext cx="48006" cy="78867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8"/>
          <p:cNvSpPr/>
          <p:nvPr/>
        </p:nvSpPr>
        <p:spPr>
          <a:xfrm>
            <a:off x="6117336" y="2969514"/>
            <a:ext cx="22288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6117336" y="3230118"/>
            <a:ext cx="223570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gr.ChatInterface + exemples de questions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5980176" y="3861054"/>
            <a:ext cx="2482596" cy="500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Arial"/>
              <a:buNone/>
            </a:pPr>
            <a:r>
              <a:rPr b="1" i="0" lang="fr" sz="8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Limite actuelle : `history` est fourni par Gradio mais n’est pas encore réinjecté dans le prompt du modèle.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13 / 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8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9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i="0" lang="fr" sz="1800" u="none" cap="none" strike="noStrike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13. Démonstration : vérifier que le système fonctionne réellement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i="0" lang="fr" sz="700" u="none" cap="none" strike="noStrike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DÉMONSTRATION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562356" y="918972"/>
            <a:ext cx="2503170" cy="1385316"/>
          </a:xfrm>
          <a:prstGeom prst="roundRect">
            <a:avLst>
              <a:gd fmla="val 3960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562356" y="918972"/>
            <a:ext cx="48006" cy="1385316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713232" y="1042416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Test 1 — notion simple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713232" y="1303020"/>
            <a:ext cx="2269998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Qu’est-ce qu’un token en NLP ? »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À observer : définition claire, vocabulaire pédagogique, structure de réponse.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3305556" y="918972"/>
            <a:ext cx="2503170" cy="1385316"/>
          </a:xfrm>
          <a:prstGeom prst="roundRect">
            <a:avLst>
              <a:gd fmla="val 3960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3305556" y="918972"/>
            <a:ext cx="48006" cy="138531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3456432" y="1042416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Test 2 — notion centrale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3456432" y="1303020"/>
            <a:ext cx="2269998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Explique-moi simplement la self-attention. »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À observer : capacité à reformuler une notion Transformer.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6048756" y="918972"/>
            <a:ext cx="2503170" cy="1385316"/>
          </a:xfrm>
          <a:prstGeom prst="roundRect">
            <a:avLst>
              <a:gd fmla="val 3960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6048756" y="918972"/>
            <a:ext cx="48006" cy="138531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6199632" y="1042416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Test 3 — comparaison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9"/>
          <p:cNvSpPr/>
          <p:nvPr/>
        </p:nvSpPr>
        <p:spPr>
          <a:xfrm>
            <a:off x="6199632" y="1303020"/>
            <a:ext cx="2269998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« Quelle différence entre LoRA et QLoRA ? »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À observer : réponse plus exigeante qu’une simple définition.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9"/>
          <p:cNvSpPr/>
          <p:nvPr/>
        </p:nvSpPr>
        <p:spPr>
          <a:xfrm>
            <a:off x="589788" y="2640330"/>
            <a:ext cx="294894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Ce que je montre pendant la démonstration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9"/>
          <p:cNvSpPr/>
          <p:nvPr/>
        </p:nvSpPr>
        <p:spPr>
          <a:xfrm>
            <a:off x="651510" y="2983230"/>
            <a:ext cx="384048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l’interface répond avec le modèle adapté 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l’adaptateur est rechargé sans refaire l’entraînement 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les réponses sont cohérentes avec le rôle pédagogique ;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une réponse imparfaite est analysée comme une limite, pas masquée.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4800600" y="2708910"/>
            <a:ext cx="3689604" cy="1330452"/>
          </a:xfrm>
          <a:prstGeom prst="roundRect">
            <a:avLst>
              <a:gd fmla="val 4124" name="adj"/>
            </a:avLst>
          </a:prstGeom>
          <a:solidFill>
            <a:srgbClr val="FDECEC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4800600" y="2708910"/>
            <a:ext cx="48006" cy="13304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4951476" y="2832354"/>
            <a:ext cx="344957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Plan B de présentation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4951476" y="3092958"/>
            <a:ext cx="3456432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Si le lien Gradio ou le runtime Colab n’est plus disponible : montrer la capture de l’application et les résultats CSV déjà sauvegardés. La preuve expérimentale ne dépend donc pas d’un entraînement relancé en direct.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5040630" y="4224528"/>
            <a:ext cx="31546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ourier New"/>
              <a:buNone/>
            </a:pPr>
            <a:r>
              <a:rPr b="1" lang="fr" sz="800">
                <a:solidFill>
                  <a:srgbClr val="0D1B2A"/>
                </a:solidFill>
                <a:latin typeface="Courier New"/>
                <a:ea typeface="Courier New"/>
                <a:cs typeface="Courier New"/>
                <a:sym typeface="Courier New"/>
              </a:rPr>
              <a:t>Commande de lancement :  python app/app.py   ou   %run app/app.py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14 / 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0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lang="fr" sz="1800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14. Bilan : ce que le projet démontre — et ce qu’il ne démontre pas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lang="fr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Une expérimentation complète, mais avec des limites méthodologiques clairement identifiées.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0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lang="fr" sz="700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562356" y="925830"/>
            <a:ext cx="2503170" cy="1522476"/>
          </a:xfrm>
          <a:prstGeom prst="roundRect">
            <a:avLst>
              <a:gd fmla="val 3604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0"/>
          <p:cNvSpPr/>
          <p:nvPr/>
        </p:nvSpPr>
        <p:spPr>
          <a:xfrm>
            <a:off x="562356" y="925830"/>
            <a:ext cx="48006" cy="152247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0"/>
          <p:cNvSpPr/>
          <p:nvPr/>
        </p:nvSpPr>
        <p:spPr>
          <a:xfrm>
            <a:off x="713232" y="104927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Ce qui fonctionne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713232" y="1309878"/>
            <a:ext cx="226999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✓ pipeline complet du texte à l’application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✓ baseline reproductible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✓ fine-tuning QLoRA sur T4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✓ forte adaptation aux références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✓ interface Gradio opérationnelle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3305556" y="925830"/>
            <a:ext cx="2503170" cy="1522476"/>
          </a:xfrm>
          <a:prstGeom prst="roundRect">
            <a:avLst>
              <a:gd fmla="val 3604" name="adj"/>
            </a:avLst>
          </a:prstGeom>
          <a:solidFill>
            <a:srgbClr val="FDECEC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0"/>
          <p:cNvSpPr/>
          <p:nvPr/>
        </p:nvSpPr>
        <p:spPr>
          <a:xfrm>
            <a:off x="3305556" y="925830"/>
            <a:ext cx="48006" cy="152247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"/>
          <p:cNvSpPr/>
          <p:nvPr/>
        </p:nvSpPr>
        <p:spPr>
          <a:xfrm>
            <a:off x="3456432" y="104927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Limites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3456432" y="1309878"/>
            <a:ext cx="226999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dataset synthétique et petit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réponses de référence trop similaires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ROUGE-L favorisé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multi-tour incomplet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généralisation encore imparfaite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6048756" y="925830"/>
            <a:ext cx="2503170" cy="1522476"/>
          </a:xfrm>
          <a:prstGeom prst="roundRect">
            <a:avLst>
              <a:gd fmla="val 3604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6048756" y="925830"/>
            <a:ext cx="48006" cy="15224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0"/>
          <p:cNvSpPr/>
          <p:nvPr/>
        </p:nvSpPr>
        <p:spPr>
          <a:xfrm>
            <a:off x="6199632" y="1049274"/>
            <a:ext cx="22631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Améliorations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6199632" y="1309878"/>
            <a:ext cx="226999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réponses plus diverses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test réellement indépendant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questions hors périmètre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évaluation humaine structurée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• historique conversationnel limité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857250" y="2914650"/>
            <a:ext cx="7440930" cy="960120"/>
          </a:xfrm>
          <a:prstGeom prst="roundRect">
            <a:avLst>
              <a:gd fmla="val 5714" name="adj"/>
            </a:avLst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1131570" y="3106674"/>
            <a:ext cx="10287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2091690" y="3038094"/>
            <a:ext cx="579501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QLoRA a permis de spécialiser efficacement Qwen2.5-1.5B avec environ 1,18 % de paramètres entraînables. Les scores montrent une forte adaptation au dataset, tandis que le challenge rappelle qu’adaptation et généralisation ne sont pas la même chose.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"/>
          <p:cNvSpPr/>
          <p:nvPr/>
        </p:nvSpPr>
        <p:spPr>
          <a:xfrm>
            <a:off x="822960" y="4183380"/>
            <a:ext cx="75095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000"/>
              <a:buFont typeface="Arial"/>
              <a:buNone/>
            </a:pPr>
            <a:r>
              <a:rPr b="1" lang="fr" sz="10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 « Une bonne évaluation ne demande pas seulement si le modèle reproduit la référence, mais s’il répond correctement à une situation nouvelle. »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15 / 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1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lang="fr" sz="1800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Annexe A — Attention, Q/K/V et masque causal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1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lang="fr" sz="700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ANNEXE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562356" y="925830"/>
            <a:ext cx="2537460" cy="1371600"/>
          </a:xfrm>
          <a:prstGeom prst="roundRect">
            <a:avLst>
              <a:gd fmla="val 4000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1"/>
          <p:cNvSpPr/>
          <p:nvPr/>
        </p:nvSpPr>
        <p:spPr>
          <a:xfrm>
            <a:off x="562356" y="925830"/>
            <a:ext cx="48006" cy="13716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1"/>
          <p:cNvSpPr/>
          <p:nvPr/>
        </p:nvSpPr>
        <p:spPr>
          <a:xfrm>
            <a:off x="713232" y="1049274"/>
            <a:ext cx="22974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Query (Q)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713232" y="1309878"/>
            <a:ext cx="2304288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Ce que la position courante “cherche” dans le contexte.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3305556" y="925830"/>
            <a:ext cx="2537460" cy="1371600"/>
          </a:xfrm>
          <a:prstGeom prst="roundRect">
            <a:avLst>
              <a:gd fmla="val 4000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"/>
          <p:cNvSpPr/>
          <p:nvPr/>
        </p:nvSpPr>
        <p:spPr>
          <a:xfrm>
            <a:off x="3305556" y="925830"/>
            <a:ext cx="48006" cy="137160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1"/>
          <p:cNvSpPr/>
          <p:nvPr/>
        </p:nvSpPr>
        <p:spPr>
          <a:xfrm>
            <a:off x="3456432" y="1049274"/>
            <a:ext cx="22974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Key (K)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3456432" y="1309878"/>
            <a:ext cx="2304288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Ce qui sert à calculer la compatibilité entre positions.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6048756" y="925830"/>
            <a:ext cx="2537460" cy="1371600"/>
          </a:xfrm>
          <a:prstGeom prst="roundRect">
            <a:avLst>
              <a:gd fmla="val 4000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"/>
          <p:cNvSpPr/>
          <p:nvPr/>
        </p:nvSpPr>
        <p:spPr>
          <a:xfrm>
            <a:off x="6048756" y="925830"/>
            <a:ext cx="48006" cy="13716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6199632" y="1049274"/>
            <a:ext cx="22974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Value (V)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1"/>
          <p:cNvSpPr/>
          <p:nvPr/>
        </p:nvSpPr>
        <p:spPr>
          <a:xfrm>
            <a:off x="6199632" y="1309878"/>
            <a:ext cx="2304288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 contenu qui sera pondéré et agrégé après calcul des poids d’attention.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925830" y="260604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mbria Math"/>
              <a:buNone/>
            </a:pPr>
            <a:r>
              <a:rPr b="1" lang="fr" sz="1600">
                <a:solidFill>
                  <a:srgbClr val="0D1B2A"/>
                </a:solidFill>
                <a:latin typeface="Cambria Math"/>
                <a:ea typeface="Cambria Math"/>
                <a:cs typeface="Cambria Math"/>
                <a:sym typeface="Cambria Math"/>
              </a:rPr>
              <a:t>Attention(Q,K,V) = softmax(QKᵀ / √dₖ) V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925830" y="3188970"/>
            <a:ext cx="6858000" cy="946404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925830" y="3188970"/>
            <a:ext cx="48006" cy="946404"/>
          </a:xfrm>
          <a:prstGeom prst="rect">
            <a:avLst/>
          </a:prstGeom>
          <a:solidFill>
            <a:srgbClr val="6C5CE7"/>
          </a:solidFill>
          <a:ln cap="flat" cmpd="sng" w="12700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1076706" y="3312414"/>
            <a:ext cx="661797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Masque causal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1076706" y="3573018"/>
            <a:ext cx="6624828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Dans un modèle autoregressif, une position ne doit pas consulter les tokens futurs. Le masque causal préserve donc la logique “prédire le prochain token à partir du passé autorisé”.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16 / 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2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lang="fr" sz="1800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Annexe B — Hyperparamètres exacts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2"/>
          <p:cNvSpPr/>
          <p:nvPr/>
        </p:nvSpPr>
        <p:spPr>
          <a:xfrm>
            <a:off x="507492" y="589788"/>
            <a:ext cx="8058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lang="fr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Configuration utilisée pendant le fine-tuning.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2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2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lang="fr" sz="700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ANNEXE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9" name="Google Shape;569;p32"/>
          <p:cNvGraphicFramePr/>
          <p:nvPr/>
        </p:nvGraphicFramePr>
        <p:xfrm>
          <a:off x="630936" y="905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{353C24A7-5803-40AB-A72D-7B8C09617009}</a:tableStyleId>
              </a:tblPr>
              <a:tblGrid>
                <a:gridCol w="1988800"/>
                <a:gridCol w="1508750"/>
                <a:gridCol w="4354825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Paramètre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Valeur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Rôle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Quantification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4 bits NF4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réduire la mémoire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Double quantification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True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économie mémoire supplémentaire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LoRA r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16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capacité des adaptateurs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LoRA alpha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32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échelle LoRA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Dropout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0,05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régularisation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Epochs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nombre de passages sur le train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Batch GPU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limiter la VRAM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Gradient accumulation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8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batch effectif = 16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Learning rate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2e-4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taille des mises à jour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Max length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512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longueur maximale tokenisée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Optimizer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AdamW torch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939"/>
                        </a:buClr>
                        <a:buSzPts val="800"/>
                        <a:buFont typeface="Arial"/>
                        <a:buNone/>
                      </a:pPr>
                      <a:r>
                        <a:rPr lang="fr" sz="800" u="none" cap="none" strike="noStrike">
                          <a:solidFill>
                            <a:srgbClr val="1D2939"/>
                          </a:solidFill>
                        </a:rPr>
                        <a:t>mise à jour des paramètres</a:t>
                      </a:r>
                      <a:endParaRPr sz="800" u="none" cap="none" strike="noStrike"/>
                    </a:p>
                  </a:txBody>
                  <a:tcPr marT="41150" marB="41150" marR="41150" marL="41150">
                    <a:lnL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7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p32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2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3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lang="fr" sz="1800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Annexe C —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3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lang="fr" sz="700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ANNEXE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/>
          <p:nvPr/>
        </p:nvSpPr>
        <p:spPr>
          <a:xfrm>
            <a:off x="562356" y="925830"/>
            <a:ext cx="2571750" cy="994410"/>
          </a:xfrm>
          <a:prstGeom prst="roundRect">
            <a:avLst>
              <a:gd fmla="val 2759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3"/>
          <p:cNvSpPr/>
          <p:nvPr/>
        </p:nvSpPr>
        <p:spPr>
          <a:xfrm>
            <a:off x="685800" y="1028700"/>
            <a:ext cx="2324862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1. Tokenisation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encodage = tokenizer(texte, add_special_tokens=False)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token_ids = encodage["input_ids"]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3291840" y="925830"/>
            <a:ext cx="2571750" cy="994410"/>
          </a:xfrm>
          <a:prstGeom prst="roundRect">
            <a:avLst>
              <a:gd fmla="val 2759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3"/>
          <p:cNvSpPr/>
          <p:nvPr/>
        </p:nvSpPr>
        <p:spPr>
          <a:xfrm>
            <a:off x="3415284" y="1028700"/>
            <a:ext cx="2324862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2. Prochain token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next_logits = outputs.logits[0, -1]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next_probs = torch.softmax(next_logits.float(), dim=-1)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6021324" y="925830"/>
            <a:ext cx="2571750" cy="994410"/>
          </a:xfrm>
          <a:prstGeom prst="roundRect">
            <a:avLst>
              <a:gd fmla="val 2759" name="adj"/>
            </a:avLst>
          </a:prstGeom>
          <a:solidFill>
            <a:srgbClr val="101828"/>
          </a:solidFill>
          <a:ln cap="flat" cmpd="sng" w="12700">
            <a:solidFill>
              <a:srgbClr val="101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"/>
          <p:cNvSpPr/>
          <p:nvPr/>
        </p:nvSpPr>
        <p:spPr>
          <a:xfrm>
            <a:off x="6144768" y="1028700"/>
            <a:ext cx="2324862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# 3. Lancement Gradio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demo = gr.ChatInterface(fn=answer_question, ...)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7"/>
              </a:buClr>
              <a:buSzPts val="700"/>
              <a:buFont typeface="Courier New"/>
              <a:buNone/>
            </a:pPr>
            <a:r>
              <a:rPr lang="fr" sz="700">
                <a:solidFill>
                  <a:srgbClr val="F2F4F7"/>
                </a:solidFill>
                <a:latin typeface="Courier New"/>
                <a:ea typeface="Courier New"/>
                <a:cs typeface="Courier New"/>
                <a:sym typeface="Courier New"/>
              </a:rPr>
              <a:t>demo.launch(share=True, show_error=True)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3"/>
          <p:cNvSpPr/>
          <p:nvPr/>
        </p:nvSpPr>
        <p:spPr>
          <a:xfrm>
            <a:off x="562356" y="2228850"/>
            <a:ext cx="2571750" cy="1748790"/>
          </a:xfrm>
          <a:prstGeom prst="roundRect">
            <a:avLst>
              <a:gd fmla="val 3137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3"/>
          <p:cNvSpPr/>
          <p:nvPr/>
        </p:nvSpPr>
        <p:spPr>
          <a:xfrm>
            <a:off x="562356" y="2228850"/>
            <a:ext cx="48006" cy="174879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3"/>
          <p:cNvSpPr/>
          <p:nvPr/>
        </p:nvSpPr>
        <p:spPr>
          <a:xfrm>
            <a:off x="713232" y="2352294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expli</a:t>
            </a:r>
            <a:r>
              <a:rPr b="1" lang="fr" sz="1100">
                <a:solidFill>
                  <a:srgbClr val="0D1B2A"/>
                </a:solidFill>
              </a:rPr>
              <a:t>cation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3"/>
          <p:cNvSpPr/>
          <p:nvPr/>
        </p:nvSpPr>
        <p:spPr>
          <a:xfrm>
            <a:off x="713232" y="2612898"/>
            <a:ext cx="2338578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 tokenizer transforme le texte en IDs. Ce sont ces IDs que le réseau reçoit après passage par les embeddings.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3291840" y="2228850"/>
            <a:ext cx="2571750" cy="1748790"/>
          </a:xfrm>
          <a:prstGeom prst="roundRect">
            <a:avLst>
              <a:gd fmla="val 3137" name="adj"/>
            </a:avLst>
          </a:prstGeom>
          <a:solidFill>
            <a:srgbClr val="E8F7F5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3"/>
          <p:cNvSpPr/>
          <p:nvPr/>
        </p:nvSpPr>
        <p:spPr>
          <a:xfrm>
            <a:off x="3291840" y="2228850"/>
            <a:ext cx="48006" cy="1748790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3"/>
          <p:cNvSpPr/>
          <p:nvPr/>
        </p:nvSpPr>
        <p:spPr>
          <a:xfrm>
            <a:off x="3442716" y="2352294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expli</a:t>
            </a:r>
            <a:r>
              <a:rPr b="1" lang="fr" sz="1100">
                <a:solidFill>
                  <a:srgbClr val="0D1B2A"/>
                </a:solidFill>
              </a:rPr>
              <a:t>cation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3"/>
          <p:cNvSpPr/>
          <p:nvPr/>
        </p:nvSpPr>
        <p:spPr>
          <a:xfrm>
            <a:off x="3442716" y="2612898"/>
            <a:ext cx="2338578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La dernière position produit un score pour chaque token du vocabulaire. Softmax transforme ces scores en probabilités.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3"/>
          <p:cNvSpPr/>
          <p:nvPr/>
        </p:nvSpPr>
        <p:spPr>
          <a:xfrm>
            <a:off x="6021324" y="2228850"/>
            <a:ext cx="2571750" cy="1748790"/>
          </a:xfrm>
          <a:prstGeom prst="roundRect">
            <a:avLst>
              <a:gd fmla="val 3137" name="adj"/>
            </a:avLst>
          </a:prstGeom>
          <a:solidFill>
            <a:srgbClr val="FFF2E6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8C1CC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3"/>
          <p:cNvSpPr/>
          <p:nvPr/>
        </p:nvSpPr>
        <p:spPr>
          <a:xfrm>
            <a:off x="6021324" y="2228850"/>
            <a:ext cx="48006" cy="174879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3"/>
          <p:cNvSpPr/>
          <p:nvPr/>
        </p:nvSpPr>
        <p:spPr>
          <a:xfrm>
            <a:off x="6172200" y="2352294"/>
            <a:ext cx="23317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expli</a:t>
            </a:r>
            <a:r>
              <a:rPr b="1" lang="fr" sz="1100">
                <a:solidFill>
                  <a:srgbClr val="0D1B2A"/>
                </a:solidFill>
              </a:rPr>
              <a:t>cation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3"/>
          <p:cNvSpPr/>
          <p:nvPr/>
        </p:nvSpPr>
        <p:spPr>
          <a:xfrm>
            <a:off x="6172200" y="2612898"/>
            <a:ext cx="2338578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Gradio ne fait que fournir une interface. Le vrai travail est assuré par le modèle et la fonction de génération.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3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18 / 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4"/>
          <p:cNvSpPr/>
          <p:nvPr/>
        </p:nvSpPr>
        <p:spPr>
          <a:xfrm>
            <a:off x="493776" y="246888"/>
            <a:ext cx="816102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Play"/>
              <a:buNone/>
            </a:pPr>
            <a:r>
              <a:rPr b="1" lang="fr" sz="1800">
                <a:solidFill>
                  <a:srgbClr val="0D1B2A"/>
                </a:solidFill>
                <a:latin typeface="Play"/>
                <a:ea typeface="Play"/>
                <a:cs typeface="Play"/>
                <a:sym typeface="Play"/>
              </a:rPr>
              <a:t>Annexe D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7063740" y="267462"/>
            <a:ext cx="1543050" cy="233172"/>
          </a:xfrm>
          <a:prstGeom prst="roundRect">
            <a:avLst>
              <a:gd fmla="val 17647" name="adj"/>
            </a:avLst>
          </a:prstGeom>
          <a:solidFill>
            <a:srgbClr val="E8F7F5"/>
          </a:solidFill>
          <a:ln cap="flat" cmpd="sng" w="12700">
            <a:solidFill>
              <a:srgbClr val="E8F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4"/>
          <p:cNvSpPr/>
          <p:nvPr/>
        </p:nvSpPr>
        <p:spPr>
          <a:xfrm>
            <a:off x="7098030" y="315468"/>
            <a:ext cx="147447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700"/>
              <a:buFont typeface="Arial"/>
              <a:buNone/>
            </a:pPr>
            <a:r>
              <a:rPr b="1" lang="fr" sz="700">
                <a:solidFill>
                  <a:srgbClr val="0E7C7B"/>
                </a:solidFill>
                <a:latin typeface="Arial"/>
                <a:ea typeface="Arial"/>
                <a:cs typeface="Arial"/>
                <a:sym typeface="Arial"/>
              </a:rPr>
              <a:t>ANNEXE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562356" y="891540"/>
            <a:ext cx="3806190" cy="973836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562356" y="891540"/>
            <a:ext cx="48006" cy="973836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713232" y="101498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QLoRA 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4"/>
          <p:cNvSpPr/>
          <p:nvPr/>
        </p:nvSpPr>
        <p:spPr>
          <a:xfrm>
            <a:off x="713232" y="1275588"/>
            <a:ext cx="357301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Pour réduire la mémoire : modèle 4 bits + entraînement de petits adaptateurs LoRA au lieu de tous les poids.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4"/>
          <p:cNvSpPr/>
          <p:nvPr/>
        </p:nvSpPr>
        <p:spPr>
          <a:xfrm>
            <a:off x="4677156" y="891540"/>
            <a:ext cx="3806190" cy="973836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4677156" y="891540"/>
            <a:ext cx="48006" cy="97383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4"/>
          <p:cNvSpPr/>
          <p:nvPr/>
        </p:nvSpPr>
        <p:spPr>
          <a:xfrm>
            <a:off x="4828032" y="101498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une baseline 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4"/>
          <p:cNvSpPr/>
          <p:nvPr/>
        </p:nvSpPr>
        <p:spPr>
          <a:xfrm>
            <a:off x="4828032" y="1275588"/>
            <a:ext cx="357301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Pour mesurer l’apport réel du fine-tuning par rapport au modèle initial avec prompting.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4"/>
          <p:cNvSpPr/>
          <p:nvPr/>
        </p:nvSpPr>
        <p:spPr>
          <a:xfrm>
            <a:off x="562356" y="2057400"/>
            <a:ext cx="3806190" cy="973836"/>
          </a:xfrm>
          <a:prstGeom prst="roundRect">
            <a:avLst>
              <a:gd fmla="val 5634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4"/>
          <p:cNvSpPr/>
          <p:nvPr/>
        </p:nvSpPr>
        <p:spPr>
          <a:xfrm>
            <a:off x="562356" y="2057400"/>
            <a:ext cx="48006" cy="973836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4"/>
          <p:cNvSpPr/>
          <p:nvPr/>
        </p:nvSpPr>
        <p:spPr>
          <a:xfrm>
            <a:off x="713232" y="218084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2 epochs 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4"/>
          <p:cNvSpPr/>
          <p:nvPr/>
        </p:nvSpPr>
        <p:spPr>
          <a:xfrm>
            <a:off x="713232" y="2441448"/>
            <a:ext cx="357301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Petit dataset + spécialisation rapide ; augmenter davantage risquait d’accentuer la mémorisation.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4"/>
          <p:cNvSpPr/>
          <p:nvPr/>
        </p:nvSpPr>
        <p:spPr>
          <a:xfrm>
            <a:off x="4677156" y="2057400"/>
            <a:ext cx="3806190" cy="973836"/>
          </a:xfrm>
          <a:prstGeom prst="roundRect">
            <a:avLst>
              <a:gd fmla="val 5634" name="adj"/>
            </a:avLst>
          </a:prstGeom>
          <a:solidFill>
            <a:srgbClr val="EAF2F8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4"/>
          <p:cNvSpPr/>
          <p:nvPr/>
        </p:nvSpPr>
        <p:spPr>
          <a:xfrm>
            <a:off x="4677156" y="2057400"/>
            <a:ext cx="48006" cy="97383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4"/>
          <p:cNvSpPr/>
          <p:nvPr/>
        </p:nvSpPr>
        <p:spPr>
          <a:xfrm>
            <a:off x="4828032" y="218084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ROUGE-L = 1 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4"/>
          <p:cNvSpPr/>
          <p:nvPr/>
        </p:nvSpPr>
        <p:spPr>
          <a:xfrm>
            <a:off x="4828032" y="2441448"/>
            <a:ext cx="357301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Le modèle reproduit presque exactement les références sur ce test ; cela ne prouve pas une généralisation parfaite.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4"/>
          <p:cNvSpPr/>
          <p:nvPr/>
        </p:nvSpPr>
        <p:spPr>
          <a:xfrm>
            <a:off x="562356" y="3223260"/>
            <a:ext cx="3806190" cy="973836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4"/>
          <p:cNvSpPr/>
          <p:nvPr/>
        </p:nvSpPr>
        <p:spPr>
          <a:xfrm>
            <a:off x="562356" y="3223260"/>
            <a:ext cx="48006" cy="973836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4"/>
          <p:cNvSpPr/>
          <p:nvPr/>
        </p:nvSpPr>
        <p:spPr>
          <a:xfrm>
            <a:off x="713232" y="334670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un challenge 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713232" y="3607308"/>
            <a:ext cx="357301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Pour tester des formulations et raisonnements moins proches des templates du dataset.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4"/>
          <p:cNvSpPr/>
          <p:nvPr/>
        </p:nvSpPr>
        <p:spPr>
          <a:xfrm>
            <a:off x="4677156" y="3223260"/>
            <a:ext cx="3806190" cy="973836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4"/>
          <p:cNvSpPr/>
          <p:nvPr/>
        </p:nvSpPr>
        <p:spPr>
          <a:xfrm>
            <a:off x="4677156" y="3223260"/>
            <a:ext cx="48006" cy="973836"/>
          </a:xfrm>
          <a:prstGeom prst="rect">
            <a:avLst/>
          </a:prstGeom>
          <a:solidFill>
            <a:srgbClr val="19A7A0"/>
          </a:solidFill>
          <a:ln cap="flat" cmpd="sng" w="12700">
            <a:solidFill>
              <a:srgbClr val="19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4"/>
          <p:cNvSpPr/>
          <p:nvPr/>
        </p:nvSpPr>
        <p:spPr>
          <a:xfrm>
            <a:off x="4828032" y="3346704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Arial"/>
              <a:buNone/>
            </a:pPr>
            <a:r>
              <a:rPr b="1" lang="fr" sz="11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Pourquoi Gradio 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4"/>
          <p:cNvSpPr/>
          <p:nvPr/>
        </p:nvSpPr>
        <p:spPr>
          <a:xfrm>
            <a:off x="4828032" y="3607308"/>
            <a:ext cx="357301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900"/>
              <a:buFont typeface="Arial"/>
              <a:buNone/>
            </a:pPr>
            <a:r>
              <a:rPr lang="fr" sz="900">
                <a:solidFill>
                  <a:srgbClr val="1D2939"/>
                </a:solidFill>
                <a:latin typeface="Arial"/>
                <a:ea typeface="Arial"/>
                <a:cs typeface="Arial"/>
                <a:sym typeface="Arial"/>
              </a:rPr>
              <a:t>Pour valider que le modèle peut être utilisé comme application, pas seulement évalué dans un notebook.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4"/>
          <p:cNvSpPr/>
          <p:nvPr/>
        </p:nvSpPr>
        <p:spPr>
          <a:xfrm>
            <a:off x="7852410" y="4869180"/>
            <a:ext cx="7886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600"/>
              <a:buFont typeface="Arial"/>
              <a:buNone/>
            </a:pPr>
            <a:r>
              <a:rPr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19 / 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4"/>
          <p:cNvSpPr txBox="1"/>
          <p:nvPr>
            <p:ph idx="4294967295" type="sldNum"/>
          </p:nvPr>
        </p:nvSpPr>
        <p:spPr>
          <a:xfrm>
            <a:off x="8126730" y="4869180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6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66708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