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Play"/>
      <p:regular r:id="rId27"/>
      <p:bold r:id="rId28"/>
    </p:embeddedFont>
    <p:embeddedFont>
      <p:font typeface="Cambria Math"/>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FB188D-1BA0-467E-AC91-84E8B6F62E4A}">
  <a:tblStyle styleId="{0DFB188D-1BA0-467E-AC91-84E8B6F62E4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CambriaMath-regular.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486d533e99a3950a_3_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h486d533e99a3950a_3_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Bonjour. Je vais présenter NLP Tutor, un assistant pédagogique francophone spécialisé en NLP et Transformers. L'objectif du projet était de partir d'un petit modèle de langage déjà entraîné, Qwen2.5-1.5B-Instruct, d'abord comprendre son fonctionnement interne, puis construire une baseline uniquement avec du prompting, l'adapter avec QLoRA sur un dataset pédagogique, mesurer l'effet de cette adaptation, et enfin intégrer le modèle dans une application Gradio. Le fil conducteur de la présentation est donc : comprendre le modèle, construire une référence, spécialiser, évaluer, puis démontrer.</a:t>
            </a:r>
            <a:endParaRPr/>
          </a:p>
        </p:txBody>
      </p:sp>
      <p:sp>
        <p:nvSpPr>
          <p:cNvPr id="61" name="Google Shape;61;h486d533e99a3950a_3_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486d533e99a3950a_3_2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h486d533e99a3950a_3_2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Le cas d'usage est volontairement étroit : un assistant pédagogique en français sur le NLP. Cela permet d'évaluer concrètement le système. Je compare deux configurations. La baseline utilise le modèle pré-entraîné avec un prompt système, donc sans entraînement. La seconde utilise le même modèle, mais adapté par QLoRA. La question n'est donc pas simplement “est-ce que Qwen répond ?”, mais “qu'est-ce que l'adaptation QLoRA apporte par rapport au prompting seul, compte tenu d'un GPU T4 et d'un petit dataset ?”.</a:t>
            </a:r>
            <a:endParaRPr/>
          </a:p>
        </p:txBody>
      </p:sp>
      <p:sp>
        <p:nvSpPr>
          <p:cNvPr id="75" name="Google Shape;75;h486d533e99a3950a_3_2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486d533e99a3950a_3_5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h486d533e99a3950a_3_5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Avant l'expérience, il faut comprendre le pipeline. Un token est l'unité réellement manipulée par le modèle. Le tokenizer convertit le texte en IDs, puis les embeddings transforment ces IDs en vecteurs. Le Transformer contextualise ces représentations avec l'attention. En sortie, le modèle ne donne pas directement une phrase : il produit des logits, donc un score pour chaque token du vocabulaire. Une softmax transforme ces scores en probabilités. Une stratégie de décodage choisit ensuite le prochain token. Cette boucle est répétée jusqu'à produire toute la réponse.</a:t>
            </a:r>
            <a:endParaRPr/>
          </a:p>
        </p:txBody>
      </p:sp>
      <p:sp>
        <p:nvSpPr>
          <p:cNvPr id="105" name="Google Shape;105;h486d533e99a3950a_3_5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486d533e99a3950a_3_8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h486d533e99a3950a_3_8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Dans le notebook, j'ai reproduit ce pipeline sur une phrase courte. Je récupère les logits de la dernière position car ils servent à prédire le prochain token. Ensuite j'applique la softmax pour obtenir une distribution de probabilités, puis argmax permet de choisir le token le plus probable. Cette étape est importante parce qu'elle explique concrètement la génération : tout ce qui vient ensuite, notamment température, top-k et top-p, agit sur cette distribution ou sur la manière de sélectionner le token.</a:t>
            </a:r>
            <a:endParaRPr/>
          </a:p>
        </p:txBody>
      </p:sp>
      <p:sp>
        <p:nvSpPr>
          <p:cNvPr id="141" name="Google Shape;141;h486d533e99a3950a_3_8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486d533e99a3950a_3_1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h486d533e99a3950a_3_1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La baseline utilise uniquement un prompt système et les capacités déjà acquises par Qwen. Le prompt fixe le rôle, la langue, le niveau pédagogique et le format des réponses. J'ai aussi observé différentes stratégies de décodage : greedy, température, top-k et top-p. La baseline est indispensable méthodologiquement, car elle donne un point de comparaison avant toute modification du modèle. Si QLoRA obtient ensuite de meilleurs résultats sur exactement les mêmes requêtes, on peut mesurer l'effet de l'adaptation.</a:t>
            </a:r>
            <a:endParaRPr/>
          </a:p>
        </p:txBody>
      </p:sp>
      <p:sp>
        <p:nvSpPr>
          <p:cNvPr id="185" name="Google Shape;185;h486d533e99a3950a_3_1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486d533e99a3950a_3_16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h486d533e99a3950a_3_16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J'ai construit un dataset synthétique de 500 exemples. Il y a 25 concepts et, pour chacun, 20 formulations de question. Quatorze formulations vont dans le train, trois en validation et trois en test, ce qui donne 350, 75 et 75 exemples. Chaque ligne contient le concept, la question, une réponse de référence, des mots-clés, le prompt et la completion. La limite importante est que les formulations changent davantage que les réponses. Cela facilite l'apprentissage d'une réponse type par concept et explique pourquoi je devrai interpréter prudemment les très bons scores obtenus après QLoRA.</a:t>
            </a:r>
            <a:endParaRPr/>
          </a:p>
        </p:txBody>
      </p:sp>
      <p:sp>
        <p:nvSpPr>
          <p:cNvPr id="223" name="Google Shape;223;h486d533e99a3950a_3_16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h486d533e99a3950a_3_19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h486d533e99a3950a_3_19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J'ai ensuite structuré le projet comme un vrai petit package Python. config.py centralise le modèle, la graine et le prompt. model.py charge les différents états du modèle. generation.py évite de dupliquer la logique de génération. dataset.py fabrique les exemples et les splits. training.py contient toute la configuration QLoRA et le trainer. evaluation.py applique exactement les mêmes métriques aux deux modèles. app.py ne fait que l'inférence et l'interface. Enfin le notebook devient un orchestrateur : il appelle ces fonctions, affiche les sorties et raconte l'expérience. Cette séparation rend le projet beaucoup plus propre et reproductible.</a:t>
            </a:r>
            <a:endParaRPr/>
          </a:p>
        </p:txBody>
      </p:sp>
      <p:sp>
        <p:nvSpPr>
          <p:cNvPr id="257" name="Google Shape;257;h486d533e99a3950a_3_19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486d533e99a3950a_3_2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h486d533e99a3950a_3_2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Un fine-tuning complet serait plus coûteux parce qu'il faudrait optimiser tous les paramètres. J'ai donc utilisé QLoRA. Première composante : la quantification 4 bits réduit la mémoire occupée par le modèle de base. Deuxième composante : LoRA gèle les poids principaux et insère de petites matrices entraînables. Dans mon expérience, seulement environ 18,5 millions de paramètres sur 1,562 milliard étaient entraînables, soit environ 1,18 %. Le rang LoRA est 16, alpha vaut 32, le dropout 0,05, et j'adapte les projections de l'attention ainsi que certaines projections du MLP.</a:t>
            </a:r>
            <a:endParaRPr/>
          </a:p>
        </p:txBody>
      </p:sp>
      <p:sp>
        <p:nvSpPr>
          <p:cNvPr id="301" name="Google Shape;301;h486d533e99a3950a_3_2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h486d533e99a3950a_3_26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h486d533e99a3950a_3_26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L'entraînement est volontairement léger : deux epochs, batch de 2 et accumulation sur huit mini-batches, ce qui donne un batch effectif de 16. Le learning rate est 2e-4 et la longueur maximale 512 tokens. J'active le gradient checkpointing pour économiser de la mémoire. La loss porte uniquement sur la completion, donc sur la réponse à apprendre. Après entraînement, la validation est extrêmement faible en loss et la perplexité est proche de 1. C'est un signe que le modèle s'est très fortement adapté aux formulations proches du dataset, mais ce n'est pas encore une preuve de généralisation.</a:t>
            </a:r>
            <a:endParaRPr/>
          </a:p>
        </p:txBody>
      </p:sp>
      <p:sp>
        <p:nvSpPr>
          <p:cNvPr id="328" name="Google Shape;328;h486d533e99a3950a_3_26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h486d533e99a3950a_3_30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h486d533e99a3950a_3_30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Pour comparer proprement les modèles, je sélectionne 20 exemples du jeu de test avec une graine fixe, puis j'évalue la baseline et QLoRA exactement sur ces mêmes questions. J'utilise ROUGE-L pour mesurer la proximité textuelle et la couverture des mots-clés pour vérifier que les éléments essentiels sont présents. Mais ces métriques ne capturent pas tout : elles ne garantissent ni exactitude factuelle complète, ni raisonnement, ni généralisation. C'est pourquoi j'ai ajouté un challenge de 20 questions formulées différemment des templates du dataset.</a:t>
            </a:r>
            <a:endParaRPr/>
          </a:p>
        </p:txBody>
      </p:sp>
      <p:sp>
        <p:nvSpPr>
          <p:cNvPr id="370" name="Google Shape;370;h486d533e99a3950a_3_30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h486d533e99a3950a_3_33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h486d533e99a3950a_3_33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Voici le résultat principal. La baseline obtient environ 0,133 de ROUGE-L et 0,25 de couverture des mots-clés. Après QLoRA, le ROUGE-L atteint 1 et la couverture 0,8375. L'amélioration automatique est donc très forte. La bonne interprétation n'est pas “mon modèle est parfait”, mais “mon modèle est devenu extrêmement proche des réponses pédagogiques de référence du dataset”. Cette distinction est importante, car la structure du dataset rend possible une forme de mémorisation des réponses types.</a:t>
            </a:r>
            <a:endParaRPr/>
          </a:p>
        </p:txBody>
      </p:sp>
      <p:sp>
        <p:nvSpPr>
          <p:cNvPr id="400" name="Google Shape;400;h486d533e99a3950a_3_33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h486d533e99a3950a_3_36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h486d533e99a3950a_3_36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Le ROUGE-L parfait s'explique en partie par la construction des données. Les questions changent, mais la réponse cible d'un même concept reste très proche. J'ai donc ajouté un challenge avec des questions de comparaison et de justification. Sur ces formulations, on voit que QLoRA est souvent plus ciblé, mais qu'il peut aussi réciter une définition ou manquer une partie du raisonnement. C'est précisément ce qu'on appelle la généralisation : utiliser la connaissance dans un contexte nouveau. Cette analyse nuance donc le score automatique et évite de sur-vendre le modèle.</a:t>
            </a:r>
            <a:endParaRPr/>
          </a:p>
        </p:txBody>
      </p:sp>
      <p:sp>
        <p:nvSpPr>
          <p:cNvPr id="425" name="Google Shape;425;h486d533e99a3950a_3_36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h486d533e99a3950a_3_39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h486d533e99a3950a_3_39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Après l'entraînement, je sauvegarde l'adaptateur LoRA. L'application Gradio recharge le tokenizer, le modèle Qwen quantifié et cet adaptateur. Elle ne relance pas l'entraînement. Lorsqu'un utilisateur saisit une question, answer_question valide le message, appelle generate_tutor, puis affiche la réponse. Une limite importante est que l'historique fourni par Gradio n'est pas encore réellement réinjecté dans le modèle : l'interface ressemble à un chat, mais le comportement multi-tour complet reste une amélioration future.</a:t>
            </a:r>
            <a:endParaRPr/>
          </a:p>
        </p:txBody>
      </p:sp>
      <p:sp>
        <p:nvSpPr>
          <p:cNvPr id="455" name="Google Shape;455;h486d533e99a3950a_3_39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h486d533e99a3950a_3_41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h486d533e99a3950a_3_41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Pour la démonstration, je garde trois questions courtes. La première vérifie une notion simple, la deuxième une notion Transformer et la troisième une comparaison plus exigeante. Je montre surtout que l'application utilise bien le modèle final, sans réentraîner. Si une réponse est imparfaite, je ne la cache pas : au contraire, je peux expliquer que cela illustre les limites observées dans le challenge. Et si le runtime Colab ou le lien public Gradio tombe, j'ai une capture de l'interface et les CSV de résultats comme plan B.</a:t>
            </a:r>
            <a:endParaRPr/>
          </a:p>
        </p:txBody>
      </p:sp>
      <p:sp>
        <p:nvSpPr>
          <p:cNvPr id="480" name="Google Shape;480;h486d533e99a3950a_3_41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h486d533e99a3950a_3_44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h486d533e99a3950a_3_44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Pour conclure, le projet couvre toute la chaîne : compréhension du Transformer, baseline, dataset, QLoRA, entraînement, évaluation et application. QLoRA a permis de spécialiser le modèle avec environ 1,18 % des paramètres entraînables et les scores automatiques montrent une très forte adaptation. Mais le point méthodologique essentiel est que ce très bon score ne doit pas être confondu avec une généralisation parfaite. Les améliorations futures portent surtout sur la diversité des données, un test réellement indépendant, une évaluation humaine plus structurée et une vraie gestion de l'historique conversationnel.</a:t>
            </a:r>
            <a:endParaRPr/>
          </a:p>
        </p:txBody>
      </p:sp>
      <p:sp>
        <p:nvSpPr>
          <p:cNvPr id="510" name="Google Shape;510;h486d533e99a3950a_3_44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486d533e99a3950a_3_4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h486d533e99a3950a_3_4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h486d533e99a3950a_3_4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h486d533e99a3950a_3_49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h486d533e99a3950a_3_49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h486d533e99a3950a_3_49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h486d533e99a3950a_3_50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h486d533e99a3950a_3_50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h486d533e99a3950a_3_50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h486d533e99a3950a_3_5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h486d533e99a3950a_3_5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h486d533e99a3950a_3_5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9FC"/>
        </a:solidFill>
      </p:bgPr>
    </p:bg>
    <p:spTree>
      <p:nvGrpSpPr>
        <p:cNvPr id="53" name="Shape 53"/>
        <p:cNvGrpSpPr/>
        <p:nvPr/>
      </p:nvGrpSpPr>
      <p:grpSpPr>
        <a:xfrm>
          <a:off x="0" y="0"/>
          <a:ext cx="0" cy="0"/>
          <a:chOff x="0" y="0"/>
          <a:chExt cx="0" cy="0"/>
        </a:xfrm>
      </p:grpSpPr>
      <p:sp>
        <p:nvSpPr>
          <p:cNvPr id="54" name="Google Shape;54;p15"/>
          <p:cNvSpPr/>
          <p:nvPr/>
        </p:nvSpPr>
        <p:spPr>
          <a:xfrm>
            <a:off x="0" y="0"/>
            <a:ext cx="9143771" cy="75438"/>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55" name="Google Shape;55;p15"/>
          <p:cNvCxnSpPr/>
          <p:nvPr/>
        </p:nvCxnSpPr>
        <p:spPr>
          <a:xfrm>
            <a:off x="445770" y="4855464"/>
            <a:ext cx="8229600" cy="0"/>
          </a:xfrm>
          <a:prstGeom prst="straightConnector1">
            <a:avLst/>
          </a:prstGeom>
          <a:noFill/>
          <a:ln cap="flat" cmpd="sng" w="12700">
            <a:solidFill>
              <a:srgbClr val="D7DEE8"/>
            </a:solidFill>
            <a:prstDash val="solid"/>
            <a:round/>
            <a:headEnd len="sm" w="sm" type="none"/>
            <a:tailEnd len="sm" w="sm" type="none"/>
          </a:ln>
        </p:spPr>
      </p:cxnSp>
      <p:sp>
        <p:nvSpPr>
          <p:cNvPr id="56" name="Google Shape;56;p15"/>
          <p:cNvSpPr/>
          <p:nvPr/>
        </p:nvSpPr>
        <p:spPr>
          <a:xfrm>
            <a:off x="466344" y="4882896"/>
            <a:ext cx="493776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NLP Tutor • Qwen2.5-1.5B • QLoRA • Gradio</a:t>
            </a:r>
            <a:endParaRPr b="0" i="0" sz="600" u="none" cap="none" strike="noStrike">
              <a:solidFill>
                <a:schemeClr val="dk1"/>
              </a:solidFill>
              <a:latin typeface="Arial"/>
              <a:ea typeface="Arial"/>
              <a:cs typeface="Arial"/>
              <a:sym typeface="Arial"/>
            </a:endParaRPr>
          </a:p>
        </p:txBody>
      </p:sp>
      <p:sp>
        <p:nvSpPr>
          <p:cNvPr id="57" name="Google Shape;57;p15"/>
          <p:cNvSpPr txBox="1"/>
          <p:nvPr>
            <p:ph idx="12"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600" u="none" cap="none" strike="noStrike">
                <a:solidFill>
                  <a:srgbClr val="667085"/>
                </a:solidFill>
                <a:latin typeface="Arial"/>
                <a:ea typeface="Arial"/>
                <a:cs typeface="Arial"/>
                <a:sym typeface="Arial"/>
              </a:defRPr>
            </a:lvl1pPr>
            <a:lvl2pPr indent="0" lvl="1" marL="0" marR="0" algn="r">
              <a:spcBef>
                <a:spcPts val="0"/>
              </a:spcBef>
              <a:buNone/>
              <a:defRPr b="0" i="0" sz="600" u="none" cap="none" strike="noStrike">
                <a:solidFill>
                  <a:srgbClr val="667085"/>
                </a:solidFill>
                <a:latin typeface="Arial"/>
                <a:ea typeface="Arial"/>
                <a:cs typeface="Arial"/>
                <a:sym typeface="Arial"/>
              </a:defRPr>
            </a:lvl2pPr>
            <a:lvl3pPr indent="0" lvl="2" marL="0" marR="0" algn="r">
              <a:spcBef>
                <a:spcPts val="0"/>
              </a:spcBef>
              <a:buNone/>
              <a:defRPr b="0" i="0" sz="600" u="none" cap="none" strike="noStrike">
                <a:solidFill>
                  <a:srgbClr val="667085"/>
                </a:solidFill>
                <a:latin typeface="Arial"/>
                <a:ea typeface="Arial"/>
                <a:cs typeface="Arial"/>
                <a:sym typeface="Arial"/>
              </a:defRPr>
            </a:lvl3pPr>
            <a:lvl4pPr indent="0" lvl="3" marL="0" marR="0" algn="r">
              <a:spcBef>
                <a:spcPts val="0"/>
              </a:spcBef>
              <a:buNone/>
              <a:defRPr b="0" i="0" sz="600" u="none" cap="none" strike="noStrike">
                <a:solidFill>
                  <a:srgbClr val="667085"/>
                </a:solidFill>
                <a:latin typeface="Arial"/>
                <a:ea typeface="Arial"/>
                <a:cs typeface="Arial"/>
                <a:sym typeface="Arial"/>
              </a:defRPr>
            </a:lvl4pPr>
            <a:lvl5pPr indent="0" lvl="4" marL="0" marR="0" algn="r">
              <a:spcBef>
                <a:spcPts val="0"/>
              </a:spcBef>
              <a:buNone/>
              <a:defRPr b="0" i="0" sz="600" u="none" cap="none" strike="noStrike">
                <a:solidFill>
                  <a:srgbClr val="667085"/>
                </a:solidFill>
                <a:latin typeface="Arial"/>
                <a:ea typeface="Arial"/>
                <a:cs typeface="Arial"/>
                <a:sym typeface="Arial"/>
              </a:defRPr>
            </a:lvl5pPr>
            <a:lvl6pPr indent="0" lvl="5" marL="0" marR="0" algn="r">
              <a:spcBef>
                <a:spcPts val="0"/>
              </a:spcBef>
              <a:buNone/>
              <a:defRPr b="0" i="0" sz="600" u="none" cap="none" strike="noStrike">
                <a:solidFill>
                  <a:srgbClr val="667085"/>
                </a:solidFill>
                <a:latin typeface="Arial"/>
                <a:ea typeface="Arial"/>
                <a:cs typeface="Arial"/>
                <a:sym typeface="Arial"/>
              </a:defRPr>
            </a:lvl6pPr>
            <a:lvl7pPr indent="0" lvl="6" marL="0" marR="0" algn="r">
              <a:spcBef>
                <a:spcPts val="0"/>
              </a:spcBef>
              <a:buNone/>
              <a:defRPr b="0" i="0" sz="600" u="none" cap="none" strike="noStrike">
                <a:solidFill>
                  <a:srgbClr val="667085"/>
                </a:solidFill>
                <a:latin typeface="Arial"/>
                <a:ea typeface="Arial"/>
                <a:cs typeface="Arial"/>
                <a:sym typeface="Arial"/>
              </a:defRPr>
            </a:lvl7pPr>
            <a:lvl8pPr indent="0" lvl="7" marL="0" marR="0" algn="r">
              <a:spcBef>
                <a:spcPts val="0"/>
              </a:spcBef>
              <a:buNone/>
              <a:defRPr b="0" i="0" sz="600" u="none" cap="none" strike="noStrike">
                <a:solidFill>
                  <a:srgbClr val="667085"/>
                </a:solidFill>
                <a:latin typeface="Arial"/>
                <a:ea typeface="Arial"/>
                <a:cs typeface="Arial"/>
                <a:sym typeface="Arial"/>
              </a:defRPr>
            </a:lvl8pPr>
            <a:lvl9pPr indent="0" lvl="8" marL="0" marR="0" algn="r">
              <a:spcBef>
                <a:spcPts val="0"/>
              </a:spcBef>
              <a:buNone/>
              <a:defRPr b="0" i="0" sz="600" u="none" cap="none" strike="noStrike">
                <a:solidFill>
                  <a:srgbClr val="66708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600" u="none" cap="none" strike="noStrike">
                <a:solidFill>
                  <a:srgbClr val="667085"/>
                </a:solidFill>
                <a:latin typeface="Arial"/>
                <a:ea typeface="Arial"/>
                <a:cs typeface="Arial"/>
                <a:sym typeface="Arial"/>
              </a:defRPr>
            </a:lvl1pPr>
            <a:lvl2pPr indent="0" lvl="1" marL="0" marR="0" rtl="0" algn="r">
              <a:spcBef>
                <a:spcPts val="0"/>
              </a:spcBef>
              <a:buNone/>
              <a:defRPr b="0" i="0" sz="600" u="none" cap="none" strike="noStrike">
                <a:solidFill>
                  <a:srgbClr val="667085"/>
                </a:solidFill>
                <a:latin typeface="Arial"/>
                <a:ea typeface="Arial"/>
                <a:cs typeface="Arial"/>
                <a:sym typeface="Arial"/>
              </a:defRPr>
            </a:lvl2pPr>
            <a:lvl3pPr indent="0" lvl="2" marL="0" marR="0" rtl="0" algn="r">
              <a:spcBef>
                <a:spcPts val="0"/>
              </a:spcBef>
              <a:buNone/>
              <a:defRPr b="0" i="0" sz="600" u="none" cap="none" strike="noStrike">
                <a:solidFill>
                  <a:srgbClr val="667085"/>
                </a:solidFill>
                <a:latin typeface="Arial"/>
                <a:ea typeface="Arial"/>
                <a:cs typeface="Arial"/>
                <a:sym typeface="Arial"/>
              </a:defRPr>
            </a:lvl3pPr>
            <a:lvl4pPr indent="0" lvl="3" marL="0" marR="0" rtl="0" algn="r">
              <a:spcBef>
                <a:spcPts val="0"/>
              </a:spcBef>
              <a:buNone/>
              <a:defRPr b="0" i="0" sz="600" u="none" cap="none" strike="noStrike">
                <a:solidFill>
                  <a:srgbClr val="667085"/>
                </a:solidFill>
                <a:latin typeface="Arial"/>
                <a:ea typeface="Arial"/>
                <a:cs typeface="Arial"/>
                <a:sym typeface="Arial"/>
              </a:defRPr>
            </a:lvl4pPr>
            <a:lvl5pPr indent="0" lvl="4" marL="0" marR="0" rtl="0" algn="r">
              <a:spcBef>
                <a:spcPts val="0"/>
              </a:spcBef>
              <a:buNone/>
              <a:defRPr b="0" i="0" sz="600" u="none" cap="none" strike="noStrike">
                <a:solidFill>
                  <a:srgbClr val="667085"/>
                </a:solidFill>
                <a:latin typeface="Arial"/>
                <a:ea typeface="Arial"/>
                <a:cs typeface="Arial"/>
                <a:sym typeface="Arial"/>
              </a:defRPr>
            </a:lvl5pPr>
            <a:lvl6pPr indent="0" lvl="5" marL="0" marR="0" rtl="0" algn="r">
              <a:spcBef>
                <a:spcPts val="0"/>
              </a:spcBef>
              <a:buNone/>
              <a:defRPr b="0" i="0" sz="600" u="none" cap="none" strike="noStrike">
                <a:solidFill>
                  <a:srgbClr val="667085"/>
                </a:solidFill>
                <a:latin typeface="Arial"/>
                <a:ea typeface="Arial"/>
                <a:cs typeface="Arial"/>
                <a:sym typeface="Arial"/>
              </a:defRPr>
            </a:lvl6pPr>
            <a:lvl7pPr indent="0" lvl="6" marL="0" marR="0" rtl="0" algn="r">
              <a:spcBef>
                <a:spcPts val="0"/>
              </a:spcBef>
              <a:buNone/>
              <a:defRPr b="0" i="0" sz="600" u="none" cap="none" strike="noStrike">
                <a:solidFill>
                  <a:srgbClr val="667085"/>
                </a:solidFill>
                <a:latin typeface="Arial"/>
                <a:ea typeface="Arial"/>
                <a:cs typeface="Arial"/>
                <a:sym typeface="Arial"/>
              </a:defRPr>
            </a:lvl7pPr>
            <a:lvl8pPr indent="0" lvl="7" marL="0" marR="0" rtl="0" algn="r">
              <a:spcBef>
                <a:spcPts val="0"/>
              </a:spcBef>
              <a:buNone/>
              <a:defRPr b="0" i="0" sz="600" u="none" cap="none" strike="noStrike">
                <a:solidFill>
                  <a:srgbClr val="667085"/>
                </a:solidFill>
                <a:latin typeface="Arial"/>
                <a:ea typeface="Arial"/>
                <a:cs typeface="Arial"/>
                <a:sym typeface="Arial"/>
              </a:defRPr>
            </a:lvl8pPr>
            <a:lvl9pPr indent="0" lvl="8" marL="0" marR="0" rtl="0" algn="r">
              <a:spcBef>
                <a:spcPts val="0"/>
              </a:spcBef>
              <a:buNone/>
              <a:defRPr b="0" i="0" sz="600" u="none" cap="none" strike="noStrike">
                <a:solidFill>
                  <a:srgbClr val="66708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62" name="Shape 62"/>
        <p:cNvGrpSpPr/>
        <p:nvPr/>
      </p:nvGrpSpPr>
      <p:grpSpPr>
        <a:xfrm>
          <a:off x="0" y="0"/>
          <a:ext cx="0" cy="0"/>
          <a:chOff x="0" y="0"/>
          <a:chExt cx="0" cy="0"/>
        </a:xfrm>
      </p:grpSpPr>
      <p:sp>
        <p:nvSpPr>
          <p:cNvPr id="63" name="Google Shape;63;p16"/>
          <p:cNvSpPr/>
          <p:nvPr/>
        </p:nvSpPr>
        <p:spPr>
          <a:xfrm>
            <a:off x="0" y="0"/>
            <a:ext cx="9143771" cy="82296"/>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 name="Google Shape;64;p16"/>
          <p:cNvSpPr/>
          <p:nvPr/>
        </p:nvSpPr>
        <p:spPr>
          <a:xfrm>
            <a:off x="534924" y="788670"/>
            <a:ext cx="390906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i="0" lang="fr" sz="2700" u="none" cap="none" strike="noStrike">
                <a:solidFill>
                  <a:srgbClr val="FFFFFF"/>
                </a:solidFill>
                <a:latin typeface="Play"/>
                <a:ea typeface="Play"/>
                <a:cs typeface="Play"/>
                <a:sym typeface="Play"/>
              </a:rPr>
              <a:t>NLP Tutor</a:t>
            </a:r>
            <a:endParaRPr b="0" i="0" sz="2700" u="none" cap="none" strike="noStrike">
              <a:solidFill>
                <a:schemeClr val="dk1"/>
              </a:solidFill>
              <a:latin typeface="Arial"/>
              <a:ea typeface="Arial"/>
              <a:cs typeface="Arial"/>
              <a:sym typeface="Arial"/>
            </a:endParaRPr>
          </a:p>
        </p:txBody>
      </p:sp>
      <p:sp>
        <p:nvSpPr>
          <p:cNvPr id="65" name="Google Shape;65;p16"/>
          <p:cNvSpPr/>
          <p:nvPr/>
        </p:nvSpPr>
        <p:spPr>
          <a:xfrm>
            <a:off x="562356" y="1385316"/>
            <a:ext cx="493776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E7F3"/>
              </a:buClr>
              <a:buSzPts val="1500"/>
              <a:buFont typeface="Arial"/>
              <a:buNone/>
            </a:pPr>
            <a:r>
              <a:rPr b="0" i="0" lang="fr" sz="1500" u="none" cap="none" strike="noStrike">
                <a:solidFill>
                  <a:srgbClr val="D8E7F3"/>
                </a:solidFill>
                <a:latin typeface="Arial"/>
                <a:ea typeface="Arial"/>
                <a:cs typeface="Arial"/>
                <a:sym typeface="Arial"/>
              </a:rPr>
              <a:t>Du Transformer pré-entraîné à un assistant pédagogique spécialisé</a:t>
            </a:r>
            <a:endParaRPr b="0" i="0" sz="1500" u="none" cap="none" strike="noStrike">
              <a:solidFill>
                <a:schemeClr val="dk1"/>
              </a:solidFill>
              <a:latin typeface="Arial"/>
              <a:ea typeface="Arial"/>
              <a:cs typeface="Arial"/>
              <a:sym typeface="Arial"/>
            </a:endParaRPr>
          </a:p>
        </p:txBody>
      </p:sp>
      <p:sp>
        <p:nvSpPr>
          <p:cNvPr id="66" name="Google Shape;66;p16"/>
          <p:cNvSpPr/>
          <p:nvPr/>
        </p:nvSpPr>
        <p:spPr>
          <a:xfrm>
            <a:off x="562356" y="2002536"/>
            <a:ext cx="582930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7D9"/>
              </a:buClr>
              <a:buSzPts val="1000"/>
              <a:buFont typeface="Arial"/>
              <a:buNone/>
            </a:pPr>
            <a:r>
              <a:rPr b="0" i="0" lang="fr" sz="1000" u="none" cap="none" strike="noStrike">
                <a:solidFill>
                  <a:srgbClr val="B8C7D9"/>
                </a:solidFill>
                <a:latin typeface="Arial"/>
                <a:ea typeface="Arial"/>
                <a:cs typeface="Arial"/>
                <a:sym typeface="Arial"/>
              </a:rPr>
              <a:t>Qwen2.5-1.5B-Instruct • Prompting • QLoRA 4 bits • Évaluation • Gradio</a:t>
            </a:r>
            <a:endParaRPr b="0" i="0" sz="1000" u="none" cap="none" strike="noStrike">
              <a:solidFill>
                <a:schemeClr val="dk1"/>
              </a:solidFill>
              <a:latin typeface="Arial"/>
              <a:ea typeface="Arial"/>
              <a:cs typeface="Arial"/>
              <a:sym typeface="Arial"/>
            </a:endParaRPr>
          </a:p>
        </p:txBody>
      </p:sp>
      <p:sp>
        <p:nvSpPr>
          <p:cNvPr id="67" name="Google Shape;67;p16"/>
          <p:cNvSpPr/>
          <p:nvPr/>
        </p:nvSpPr>
        <p:spPr>
          <a:xfrm>
            <a:off x="6117336" y="836676"/>
            <a:ext cx="2366010" cy="2983230"/>
          </a:xfrm>
          <a:prstGeom prst="roundRect">
            <a:avLst>
              <a:gd fmla="val 2319" name="adj"/>
            </a:avLst>
          </a:prstGeom>
          <a:solidFill>
            <a:srgbClr val="13283D"/>
          </a:solidFill>
          <a:ln cap="flat" cmpd="sng" w="13950">
            <a:solidFill>
              <a:srgbClr val="2B4C6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 name="Google Shape;68;p16"/>
          <p:cNvSpPr/>
          <p:nvPr/>
        </p:nvSpPr>
        <p:spPr>
          <a:xfrm>
            <a:off x="6412230" y="1131570"/>
            <a:ext cx="1748790" cy="23660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Question</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Tokenizer</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Transformer</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Logits → Softmax</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Décodage</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fr" sz="1300" u="none" cap="none" strike="noStrike">
                <a:solidFill>
                  <a:srgbClr val="FFFFFF"/>
                </a:solidFill>
                <a:latin typeface="Arial"/>
                <a:ea typeface="Arial"/>
                <a:cs typeface="Arial"/>
                <a:sym typeface="Arial"/>
              </a:rPr>
              <a:t>Réponse</a:t>
            </a:r>
            <a:endParaRPr b="0" i="0" sz="1300" u="none" cap="none" strike="noStrike">
              <a:solidFill>
                <a:schemeClr val="dk1"/>
              </a:solidFill>
              <a:latin typeface="Arial"/>
              <a:ea typeface="Arial"/>
              <a:cs typeface="Arial"/>
              <a:sym typeface="Arial"/>
            </a:endParaRPr>
          </a:p>
        </p:txBody>
      </p:sp>
      <p:sp>
        <p:nvSpPr>
          <p:cNvPr id="69" name="Google Shape;69;p16"/>
          <p:cNvSpPr/>
          <p:nvPr/>
        </p:nvSpPr>
        <p:spPr>
          <a:xfrm>
            <a:off x="562356" y="4011930"/>
            <a:ext cx="3977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fr" sz="1000" u="none" cap="none" strike="noStrike">
                <a:solidFill>
                  <a:srgbClr val="FFFFFF"/>
                </a:solidFill>
                <a:latin typeface="Arial"/>
                <a:ea typeface="Arial"/>
                <a:cs typeface="Arial"/>
                <a:sym typeface="Arial"/>
              </a:rPr>
              <a:t>Wendpêgré Hugues Anselme KABORE</a:t>
            </a:r>
            <a:endParaRPr b="0" i="0" sz="1000" u="none" cap="none" strike="noStrike">
              <a:solidFill>
                <a:schemeClr val="dk1"/>
              </a:solidFill>
              <a:latin typeface="Arial"/>
              <a:ea typeface="Arial"/>
              <a:cs typeface="Arial"/>
              <a:sym typeface="Arial"/>
            </a:endParaRPr>
          </a:p>
        </p:txBody>
      </p:sp>
      <p:sp>
        <p:nvSpPr>
          <p:cNvPr id="70" name="Google Shape;70;p16"/>
          <p:cNvSpPr/>
          <p:nvPr/>
        </p:nvSpPr>
        <p:spPr>
          <a:xfrm>
            <a:off x="562356" y="4286250"/>
            <a:ext cx="438912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7D9"/>
              </a:buClr>
              <a:buSzPts val="900"/>
              <a:buFont typeface="Arial"/>
              <a:buNone/>
            </a:pPr>
            <a:r>
              <a:rPr b="0" i="0" lang="fr" sz="900" u="none" cap="none" strike="noStrike">
                <a:solidFill>
                  <a:srgbClr val="B8C7D9"/>
                </a:solidFill>
                <a:latin typeface="Arial"/>
                <a:ea typeface="Arial"/>
                <a:cs typeface="Arial"/>
                <a:sym typeface="Arial"/>
              </a:rPr>
              <a:t>CY Tech • Traitement automatique du langage</a:t>
            </a:r>
            <a:endParaRPr b="0" i="0" sz="900" u="none" cap="none" strike="noStrike">
              <a:solidFill>
                <a:schemeClr val="dk1"/>
              </a:solidFill>
              <a:latin typeface="Arial"/>
              <a:ea typeface="Arial"/>
              <a:cs typeface="Arial"/>
              <a:sym typeface="Arial"/>
            </a:endParaRPr>
          </a:p>
        </p:txBody>
      </p:sp>
      <p:sp>
        <p:nvSpPr>
          <p:cNvPr id="71" name="Google Shape;71;p16"/>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1 / 20</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1. Problème, objectif et périmètre</a:t>
            </a:r>
            <a:endParaRPr b="0" i="0" sz="1800" u="none" cap="none" strike="noStrike">
              <a:solidFill>
                <a:schemeClr val="dk1"/>
              </a:solidFill>
              <a:latin typeface="Arial"/>
              <a:ea typeface="Arial"/>
              <a:cs typeface="Arial"/>
              <a:sym typeface="Arial"/>
            </a:endParaRPr>
          </a:p>
        </p:txBody>
      </p:sp>
      <p:sp>
        <p:nvSpPr>
          <p:cNvPr id="78" name="Google Shape;78;p17"/>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Construire un assistant spécialisé, mesurable et compatible avec des ressources limitées.</a:t>
            </a:r>
            <a:endParaRPr b="0" i="0" sz="900" u="none" cap="none" strike="noStrike">
              <a:solidFill>
                <a:schemeClr val="dk1"/>
              </a:solidFill>
              <a:latin typeface="Arial"/>
              <a:ea typeface="Arial"/>
              <a:cs typeface="Arial"/>
              <a:sym typeface="Arial"/>
            </a:endParaRPr>
          </a:p>
        </p:txBody>
      </p:sp>
      <p:sp>
        <p:nvSpPr>
          <p:cNvPr id="79" name="Google Shape;79;p17"/>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17"/>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CADRAGE</a:t>
            </a:r>
            <a:endParaRPr b="0" i="0" sz="700" u="none" cap="none" strike="noStrike">
              <a:solidFill>
                <a:schemeClr val="dk1"/>
              </a:solidFill>
              <a:latin typeface="Arial"/>
              <a:ea typeface="Arial"/>
              <a:cs typeface="Arial"/>
              <a:sym typeface="Arial"/>
            </a:endParaRPr>
          </a:p>
        </p:txBody>
      </p:sp>
      <p:sp>
        <p:nvSpPr>
          <p:cNvPr id="81" name="Google Shape;81;p17"/>
          <p:cNvSpPr/>
          <p:nvPr/>
        </p:nvSpPr>
        <p:spPr>
          <a:xfrm>
            <a:off x="534924" y="925830"/>
            <a:ext cx="2537460" cy="1508760"/>
          </a:xfrm>
          <a:prstGeom prst="roundRect">
            <a:avLst>
              <a:gd fmla="val 3636"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7"/>
          <p:cNvSpPr/>
          <p:nvPr/>
        </p:nvSpPr>
        <p:spPr>
          <a:xfrm>
            <a:off x="534924" y="925830"/>
            <a:ext cx="48006" cy="150876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7"/>
          <p:cNvSpPr/>
          <p:nvPr/>
        </p:nvSpPr>
        <p:spPr>
          <a:xfrm>
            <a:off x="685800" y="1049274"/>
            <a:ext cx="22974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Cas d’usage</a:t>
            </a:r>
            <a:endParaRPr b="0" i="0" sz="1100" u="none" cap="none" strike="noStrike">
              <a:solidFill>
                <a:schemeClr val="dk1"/>
              </a:solidFill>
              <a:latin typeface="Arial"/>
              <a:ea typeface="Arial"/>
              <a:cs typeface="Arial"/>
              <a:sym typeface="Arial"/>
            </a:endParaRPr>
          </a:p>
        </p:txBody>
      </p:sp>
      <p:sp>
        <p:nvSpPr>
          <p:cNvPr id="84" name="Google Shape;84;p17"/>
          <p:cNvSpPr/>
          <p:nvPr/>
        </p:nvSpPr>
        <p:spPr>
          <a:xfrm>
            <a:off x="685800" y="1309878"/>
            <a:ext cx="2304288" cy="10287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Un étudiant pose des questions sur les notions fondamentales du NLP et des Transformers. Le système doit répondre en français, de manière pédagogique et structurée.</a:t>
            </a:r>
            <a:endParaRPr b="0" i="0" sz="900" u="none" cap="none" strike="noStrike">
              <a:solidFill>
                <a:schemeClr val="dk1"/>
              </a:solidFill>
              <a:latin typeface="Arial"/>
              <a:ea typeface="Arial"/>
              <a:cs typeface="Arial"/>
              <a:sym typeface="Arial"/>
            </a:endParaRPr>
          </a:p>
        </p:txBody>
      </p:sp>
      <p:sp>
        <p:nvSpPr>
          <p:cNvPr id="85" name="Google Shape;85;p17"/>
          <p:cNvSpPr/>
          <p:nvPr/>
        </p:nvSpPr>
        <p:spPr>
          <a:xfrm>
            <a:off x="3312414" y="925830"/>
            <a:ext cx="2537460" cy="1508760"/>
          </a:xfrm>
          <a:prstGeom prst="roundRect">
            <a:avLst>
              <a:gd fmla="val 3636"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17"/>
          <p:cNvSpPr/>
          <p:nvPr/>
        </p:nvSpPr>
        <p:spPr>
          <a:xfrm>
            <a:off x="3312414" y="925830"/>
            <a:ext cx="48006" cy="150876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7" name="Google Shape;87;p17"/>
          <p:cNvSpPr/>
          <p:nvPr/>
        </p:nvSpPr>
        <p:spPr>
          <a:xfrm>
            <a:off x="3463290" y="1049274"/>
            <a:ext cx="22974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Question expérimentale</a:t>
            </a:r>
            <a:endParaRPr b="0" i="0" sz="1100" u="none" cap="none" strike="noStrike">
              <a:solidFill>
                <a:schemeClr val="dk1"/>
              </a:solidFill>
              <a:latin typeface="Arial"/>
              <a:ea typeface="Arial"/>
              <a:cs typeface="Arial"/>
              <a:sym typeface="Arial"/>
            </a:endParaRPr>
          </a:p>
        </p:txBody>
      </p:sp>
      <p:sp>
        <p:nvSpPr>
          <p:cNvPr id="88" name="Google Shape;88;p17"/>
          <p:cNvSpPr/>
          <p:nvPr/>
        </p:nvSpPr>
        <p:spPr>
          <a:xfrm>
            <a:off x="3463290" y="1309878"/>
            <a:ext cx="2304288" cy="10287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Est-ce qu’une adaptation QLoRA améliore réellement le comportement pédagogique d’un petit modèle par rapport à une simple baseline avec prompting ?</a:t>
            </a:r>
            <a:endParaRPr b="0" i="0" sz="900" u="none" cap="none" strike="noStrike">
              <a:solidFill>
                <a:schemeClr val="dk1"/>
              </a:solidFill>
              <a:latin typeface="Arial"/>
              <a:ea typeface="Arial"/>
              <a:cs typeface="Arial"/>
              <a:sym typeface="Arial"/>
            </a:endParaRPr>
          </a:p>
        </p:txBody>
      </p:sp>
      <p:sp>
        <p:nvSpPr>
          <p:cNvPr id="89" name="Google Shape;89;p17"/>
          <p:cNvSpPr/>
          <p:nvPr/>
        </p:nvSpPr>
        <p:spPr>
          <a:xfrm>
            <a:off x="6089904" y="925830"/>
            <a:ext cx="2537460" cy="1508760"/>
          </a:xfrm>
          <a:prstGeom prst="roundRect">
            <a:avLst>
              <a:gd fmla="val 3636"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7"/>
          <p:cNvSpPr/>
          <p:nvPr/>
        </p:nvSpPr>
        <p:spPr>
          <a:xfrm>
            <a:off x="6089904" y="925830"/>
            <a:ext cx="48006" cy="150876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7"/>
          <p:cNvSpPr/>
          <p:nvPr/>
        </p:nvSpPr>
        <p:spPr>
          <a:xfrm>
            <a:off x="6240780" y="1049274"/>
            <a:ext cx="22974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Contraintes</a:t>
            </a:r>
            <a:endParaRPr b="0" i="0" sz="1100" u="none" cap="none" strike="noStrike">
              <a:solidFill>
                <a:schemeClr val="dk1"/>
              </a:solidFill>
              <a:latin typeface="Arial"/>
              <a:ea typeface="Arial"/>
              <a:cs typeface="Arial"/>
              <a:sym typeface="Arial"/>
            </a:endParaRPr>
          </a:p>
        </p:txBody>
      </p:sp>
      <p:sp>
        <p:nvSpPr>
          <p:cNvPr id="92" name="Google Shape;92;p17"/>
          <p:cNvSpPr/>
          <p:nvPr/>
        </p:nvSpPr>
        <p:spPr>
          <a:xfrm>
            <a:off x="6240780" y="1309878"/>
            <a:ext cx="2304288" cy="10287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GPU Tesla T4, modèle compact, entraînement léger, dataset limité, résultats reproductibles et interface de démonstration.</a:t>
            </a:r>
            <a:endParaRPr b="0" i="0" sz="900" u="none" cap="none" strike="noStrike">
              <a:solidFill>
                <a:schemeClr val="dk1"/>
              </a:solidFill>
              <a:latin typeface="Arial"/>
              <a:ea typeface="Arial"/>
              <a:cs typeface="Arial"/>
              <a:sym typeface="Arial"/>
            </a:endParaRPr>
          </a:p>
        </p:txBody>
      </p:sp>
      <p:sp>
        <p:nvSpPr>
          <p:cNvPr id="93" name="Google Shape;93;p17"/>
          <p:cNvSpPr/>
          <p:nvPr/>
        </p:nvSpPr>
        <p:spPr>
          <a:xfrm>
            <a:off x="548640" y="2777490"/>
            <a:ext cx="219456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Deux configurations comparées</a:t>
            </a:r>
            <a:endParaRPr b="0" i="0" sz="1200" u="none" cap="none" strike="noStrike">
              <a:solidFill>
                <a:schemeClr val="dk1"/>
              </a:solidFill>
              <a:latin typeface="Arial"/>
              <a:ea typeface="Arial"/>
              <a:cs typeface="Arial"/>
              <a:sym typeface="Arial"/>
            </a:endParaRPr>
          </a:p>
        </p:txBody>
      </p:sp>
      <p:sp>
        <p:nvSpPr>
          <p:cNvPr id="94" name="Google Shape;94;p17"/>
          <p:cNvSpPr/>
          <p:nvPr/>
        </p:nvSpPr>
        <p:spPr>
          <a:xfrm>
            <a:off x="562356" y="3099816"/>
            <a:ext cx="3634740" cy="925830"/>
          </a:xfrm>
          <a:prstGeom prst="roundRect">
            <a:avLst>
              <a:gd fmla="val 5926"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7"/>
          <p:cNvSpPr/>
          <p:nvPr/>
        </p:nvSpPr>
        <p:spPr>
          <a:xfrm>
            <a:off x="720090" y="3236976"/>
            <a:ext cx="10972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100"/>
              <a:buFont typeface="Arial"/>
              <a:buNone/>
            </a:pPr>
            <a:r>
              <a:rPr b="1" i="0" lang="fr" sz="1100" u="none" cap="none" strike="noStrike">
                <a:solidFill>
                  <a:srgbClr val="1F4E79"/>
                </a:solidFill>
                <a:latin typeface="Arial"/>
                <a:ea typeface="Arial"/>
                <a:cs typeface="Arial"/>
                <a:sym typeface="Arial"/>
              </a:rPr>
              <a:t>BASELINE</a:t>
            </a:r>
            <a:endParaRPr b="0" i="0" sz="1100" u="none" cap="none" strike="noStrike">
              <a:solidFill>
                <a:schemeClr val="dk1"/>
              </a:solidFill>
              <a:latin typeface="Arial"/>
              <a:ea typeface="Arial"/>
              <a:cs typeface="Arial"/>
              <a:sym typeface="Arial"/>
            </a:endParaRPr>
          </a:p>
        </p:txBody>
      </p:sp>
      <p:sp>
        <p:nvSpPr>
          <p:cNvPr id="96" name="Google Shape;96;p17"/>
          <p:cNvSpPr/>
          <p:nvPr/>
        </p:nvSpPr>
        <p:spPr>
          <a:xfrm>
            <a:off x="720090" y="3463290"/>
            <a:ext cx="312039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Qwen2.5-1.5B-Instruct + prompt système</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aucun poids modifié</a:t>
            </a:r>
            <a:endParaRPr b="0" i="0" sz="900" u="none" cap="none" strike="noStrike">
              <a:solidFill>
                <a:schemeClr val="dk1"/>
              </a:solidFill>
              <a:latin typeface="Arial"/>
              <a:ea typeface="Arial"/>
              <a:cs typeface="Arial"/>
              <a:sym typeface="Arial"/>
            </a:endParaRPr>
          </a:p>
        </p:txBody>
      </p:sp>
      <p:sp>
        <p:nvSpPr>
          <p:cNvPr id="97" name="Google Shape;97;p17"/>
          <p:cNvSpPr/>
          <p:nvPr/>
        </p:nvSpPr>
        <p:spPr>
          <a:xfrm>
            <a:off x="4354830" y="3099816"/>
            <a:ext cx="3634740" cy="925830"/>
          </a:xfrm>
          <a:prstGeom prst="roundRect">
            <a:avLst>
              <a:gd fmla="val 5926"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7"/>
          <p:cNvSpPr/>
          <p:nvPr/>
        </p:nvSpPr>
        <p:spPr>
          <a:xfrm>
            <a:off x="4512564" y="3236976"/>
            <a:ext cx="14401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7B"/>
              </a:buClr>
              <a:buSzPts val="1100"/>
              <a:buFont typeface="Arial"/>
              <a:buNone/>
            </a:pPr>
            <a:r>
              <a:rPr b="1" i="0" lang="fr" sz="1100" u="none" cap="none" strike="noStrike">
                <a:solidFill>
                  <a:srgbClr val="0E7C7B"/>
                </a:solidFill>
                <a:latin typeface="Arial"/>
                <a:ea typeface="Arial"/>
                <a:cs typeface="Arial"/>
                <a:sym typeface="Arial"/>
              </a:rPr>
              <a:t>APRÈS QLoRA</a:t>
            </a:r>
            <a:endParaRPr b="0" i="0" sz="1100" u="none" cap="none" strike="noStrike">
              <a:solidFill>
                <a:schemeClr val="dk1"/>
              </a:solidFill>
              <a:latin typeface="Arial"/>
              <a:ea typeface="Arial"/>
              <a:cs typeface="Arial"/>
              <a:sym typeface="Arial"/>
            </a:endParaRPr>
          </a:p>
        </p:txBody>
      </p:sp>
      <p:sp>
        <p:nvSpPr>
          <p:cNvPr id="99" name="Google Shape;99;p17"/>
          <p:cNvSpPr/>
          <p:nvPr/>
        </p:nvSpPr>
        <p:spPr>
          <a:xfrm>
            <a:off x="4512564" y="3463290"/>
            <a:ext cx="312039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Même Qwen + quantification 4 bits + adaptateurs LoRA</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environ 1,18 % des paramètres entraînables</a:t>
            </a:r>
            <a:endParaRPr b="0" i="0" sz="900" u="none" cap="none" strike="noStrike">
              <a:solidFill>
                <a:schemeClr val="dk1"/>
              </a:solidFill>
              <a:latin typeface="Arial"/>
              <a:ea typeface="Arial"/>
              <a:cs typeface="Arial"/>
              <a:sym typeface="Arial"/>
            </a:endParaRPr>
          </a:p>
        </p:txBody>
      </p:sp>
      <p:sp>
        <p:nvSpPr>
          <p:cNvPr id="100" name="Google Shape;100;p17"/>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2 / 20</a:t>
            </a:r>
            <a:endParaRPr b="0" i="0" sz="600" u="none" cap="none" strike="noStrike">
              <a:solidFill>
                <a:schemeClr val="dk1"/>
              </a:solidFill>
              <a:latin typeface="Arial"/>
              <a:ea typeface="Arial"/>
              <a:cs typeface="Arial"/>
              <a:sym typeface="Arial"/>
            </a:endParaRPr>
          </a:p>
        </p:txBody>
      </p:sp>
      <p:sp>
        <p:nvSpPr>
          <p:cNvPr id="101" name="Google Shape;101;p17"/>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2. Les briques à comprendre avant l’entraînement</a:t>
            </a:r>
            <a:endParaRPr b="0" i="0" sz="1800" u="none" cap="none" strike="noStrike">
              <a:solidFill>
                <a:schemeClr val="dk1"/>
              </a:solidFill>
              <a:latin typeface="Arial"/>
              <a:ea typeface="Arial"/>
              <a:cs typeface="Arial"/>
              <a:sym typeface="Arial"/>
            </a:endParaRPr>
          </a:p>
        </p:txBody>
      </p:sp>
      <p:sp>
        <p:nvSpPr>
          <p:cNvPr id="108" name="Google Shape;108;p18"/>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Le modèle génère du texte en répétant une prédiction de prochain token.</a:t>
            </a:r>
            <a:endParaRPr b="0" i="0" sz="900" u="none" cap="none" strike="noStrike">
              <a:solidFill>
                <a:schemeClr val="dk1"/>
              </a:solidFill>
              <a:latin typeface="Arial"/>
              <a:ea typeface="Arial"/>
              <a:cs typeface="Arial"/>
              <a:sym typeface="Arial"/>
            </a:endParaRPr>
          </a:p>
        </p:txBody>
      </p:sp>
      <p:sp>
        <p:nvSpPr>
          <p:cNvPr id="109" name="Google Shape;109;p18"/>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18"/>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FONDAMENTAUX</a:t>
            </a:r>
            <a:endParaRPr b="0" i="0" sz="700" u="none" cap="none" strike="noStrike">
              <a:solidFill>
                <a:schemeClr val="dk1"/>
              </a:solidFill>
              <a:latin typeface="Arial"/>
              <a:ea typeface="Arial"/>
              <a:cs typeface="Arial"/>
              <a:sym typeface="Arial"/>
            </a:endParaRPr>
          </a:p>
        </p:txBody>
      </p:sp>
      <p:sp>
        <p:nvSpPr>
          <p:cNvPr id="111" name="Google Shape;111;p18"/>
          <p:cNvSpPr/>
          <p:nvPr/>
        </p:nvSpPr>
        <p:spPr>
          <a:xfrm>
            <a:off x="562356" y="925830"/>
            <a:ext cx="3806190" cy="857250"/>
          </a:xfrm>
          <a:prstGeom prst="roundRect">
            <a:avLst>
              <a:gd fmla="val 6400" name="adj"/>
            </a:avLst>
          </a:prstGeom>
          <a:solidFill>
            <a:srgbClr val="EAF2F8"/>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8"/>
          <p:cNvSpPr/>
          <p:nvPr/>
        </p:nvSpPr>
        <p:spPr>
          <a:xfrm>
            <a:off x="562356" y="925830"/>
            <a:ext cx="48006" cy="85725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18"/>
          <p:cNvSpPr/>
          <p:nvPr/>
        </p:nvSpPr>
        <p:spPr>
          <a:xfrm>
            <a:off x="713232" y="104927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Token</a:t>
            </a:r>
            <a:endParaRPr b="0" i="0" sz="1100" u="none" cap="none" strike="noStrike">
              <a:solidFill>
                <a:schemeClr val="dk1"/>
              </a:solidFill>
              <a:latin typeface="Arial"/>
              <a:ea typeface="Arial"/>
              <a:cs typeface="Arial"/>
              <a:sym typeface="Arial"/>
            </a:endParaRPr>
          </a:p>
        </p:txBody>
      </p:sp>
      <p:sp>
        <p:nvSpPr>
          <p:cNvPr id="114" name="Google Shape;114;p18"/>
          <p:cNvSpPr/>
          <p:nvPr/>
        </p:nvSpPr>
        <p:spPr>
          <a:xfrm>
            <a:off x="713232" y="1309878"/>
            <a:ext cx="3573018" cy="3771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Unité manipulée par le modèle : mot, sous-mot, ponctuation…</a:t>
            </a:r>
            <a:endParaRPr b="0" i="0" sz="900" u="none" cap="none" strike="noStrike">
              <a:solidFill>
                <a:schemeClr val="dk1"/>
              </a:solidFill>
              <a:latin typeface="Arial"/>
              <a:ea typeface="Arial"/>
              <a:cs typeface="Arial"/>
              <a:sym typeface="Arial"/>
            </a:endParaRPr>
          </a:p>
        </p:txBody>
      </p:sp>
      <p:sp>
        <p:nvSpPr>
          <p:cNvPr id="115" name="Google Shape;115;p18"/>
          <p:cNvSpPr/>
          <p:nvPr/>
        </p:nvSpPr>
        <p:spPr>
          <a:xfrm>
            <a:off x="4677156" y="925830"/>
            <a:ext cx="3806190" cy="857250"/>
          </a:xfrm>
          <a:prstGeom prst="roundRect">
            <a:avLst>
              <a:gd fmla="val 6400" name="adj"/>
            </a:avLst>
          </a:prstGeom>
          <a:solidFill>
            <a:srgbClr val="E8F7F5"/>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8"/>
          <p:cNvSpPr/>
          <p:nvPr/>
        </p:nvSpPr>
        <p:spPr>
          <a:xfrm>
            <a:off x="4677156" y="925830"/>
            <a:ext cx="48006" cy="857250"/>
          </a:xfrm>
          <a:prstGeom prst="rect">
            <a:avLst/>
          </a:prstGeom>
          <a:solidFill>
            <a:srgbClr val="0E7C7B"/>
          </a:solidFill>
          <a:ln cap="flat" cmpd="sng" w="12700">
            <a:solidFill>
              <a:srgbClr val="0E7C7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18"/>
          <p:cNvSpPr/>
          <p:nvPr/>
        </p:nvSpPr>
        <p:spPr>
          <a:xfrm>
            <a:off x="4828032" y="104927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Tokenizer</a:t>
            </a:r>
            <a:endParaRPr b="0" i="0" sz="1100" u="none" cap="none" strike="noStrike">
              <a:solidFill>
                <a:schemeClr val="dk1"/>
              </a:solidFill>
              <a:latin typeface="Arial"/>
              <a:ea typeface="Arial"/>
              <a:cs typeface="Arial"/>
              <a:sym typeface="Arial"/>
            </a:endParaRPr>
          </a:p>
        </p:txBody>
      </p:sp>
      <p:sp>
        <p:nvSpPr>
          <p:cNvPr id="118" name="Google Shape;118;p18"/>
          <p:cNvSpPr/>
          <p:nvPr/>
        </p:nvSpPr>
        <p:spPr>
          <a:xfrm>
            <a:off x="4828032" y="1309878"/>
            <a:ext cx="3573018" cy="3771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Convertit le texte en identifiants numériques puis permet le décodage inverse.</a:t>
            </a:r>
            <a:endParaRPr b="0" i="0" sz="900" u="none" cap="none" strike="noStrike">
              <a:solidFill>
                <a:schemeClr val="dk1"/>
              </a:solidFill>
              <a:latin typeface="Arial"/>
              <a:ea typeface="Arial"/>
              <a:cs typeface="Arial"/>
              <a:sym typeface="Arial"/>
            </a:endParaRPr>
          </a:p>
        </p:txBody>
      </p:sp>
      <p:sp>
        <p:nvSpPr>
          <p:cNvPr id="119" name="Google Shape;119;p18"/>
          <p:cNvSpPr/>
          <p:nvPr/>
        </p:nvSpPr>
        <p:spPr>
          <a:xfrm>
            <a:off x="562356" y="1988820"/>
            <a:ext cx="3806190" cy="857250"/>
          </a:xfrm>
          <a:prstGeom prst="roundRect">
            <a:avLst>
              <a:gd fmla="val 6400" name="adj"/>
            </a:avLst>
          </a:prstGeom>
          <a:solidFill>
            <a:srgbClr val="F0ED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8"/>
          <p:cNvSpPr/>
          <p:nvPr/>
        </p:nvSpPr>
        <p:spPr>
          <a:xfrm>
            <a:off x="562356" y="1988820"/>
            <a:ext cx="48006" cy="857250"/>
          </a:xfrm>
          <a:prstGeom prst="rect">
            <a:avLst/>
          </a:prstGeom>
          <a:solidFill>
            <a:srgbClr val="6C5CE7"/>
          </a:solidFill>
          <a:ln cap="flat" cmpd="sng" w="12700">
            <a:solidFill>
              <a:srgbClr val="6C5CE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 name="Google Shape;121;p18"/>
          <p:cNvSpPr/>
          <p:nvPr/>
        </p:nvSpPr>
        <p:spPr>
          <a:xfrm>
            <a:off x="713232" y="211226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Embedding</a:t>
            </a:r>
            <a:endParaRPr b="0" i="0" sz="1100" u="none" cap="none" strike="noStrike">
              <a:solidFill>
                <a:schemeClr val="dk1"/>
              </a:solidFill>
              <a:latin typeface="Arial"/>
              <a:ea typeface="Arial"/>
              <a:cs typeface="Arial"/>
              <a:sym typeface="Arial"/>
            </a:endParaRPr>
          </a:p>
        </p:txBody>
      </p:sp>
      <p:sp>
        <p:nvSpPr>
          <p:cNvPr id="122" name="Google Shape;122;p18"/>
          <p:cNvSpPr/>
          <p:nvPr/>
        </p:nvSpPr>
        <p:spPr>
          <a:xfrm>
            <a:off x="713232" y="2372868"/>
            <a:ext cx="3573018" cy="3771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Transforme un identifiant de token en vecteur numérique exploitable par le réseau.</a:t>
            </a:r>
            <a:endParaRPr b="0" i="0" sz="900" u="none" cap="none" strike="noStrike">
              <a:solidFill>
                <a:schemeClr val="dk1"/>
              </a:solidFill>
              <a:latin typeface="Arial"/>
              <a:ea typeface="Arial"/>
              <a:cs typeface="Arial"/>
              <a:sym typeface="Arial"/>
            </a:endParaRPr>
          </a:p>
        </p:txBody>
      </p:sp>
      <p:sp>
        <p:nvSpPr>
          <p:cNvPr id="123" name="Google Shape;123;p18"/>
          <p:cNvSpPr/>
          <p:nvPr/>
        </p:nvSpPr>
        <p:spPr>
          <a:xfrm>
            <a:off x="4677156" y="1988820"/>
            <a:ext cx="3806190" cy="857250"/>
          </a:xfrm>
          <a:prstGeom prst="roundRect">
            <a:avLst>
              <a:gd fmla="val 6400" name="adj"/>
            </a:avLst>
          </a:prstGeom>
          <a:solidFill>
            <a:srgbClr val="FFF2E6"/>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8"/>
          <p:cNvSpPr/>
          <p:nvPr/>
        </p:nvSpPr>
        <p:spPr>
          <a:xfrm>
            <a:off x="4677156" y="1988820"/>
            <a:ext cx="48006" cy="85725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18"/>
          <p:cNvSpPr/>
          <p:nvPr/>
        </p:nvSpPr>
        <p:spPr>
          <a:xfrm>
            <a:off x="4828032" y="211226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Transformer</a:t>
            </a:r>
            <a:endParaRPr b="0" i="0" sz="1100" u="none" cap="none" strike="noStrike">
              <a:solidFill>
                <a:schemeClr val="dk1"/>
              </a:solidFill>
              <a:latin typeface="Arial"/>
              <a:ea typeface="Arial"/>
              <a:cs typeface="Arial"/>
              <a:sym typeface="Arial"/>
            </a:endParaRPr>
          </a:p>
        </p:txBody>
      </p:sp>
      <p:sp>
        <p:nvSpPr>
          <p:cNvPr id="126" name="Google Shape;126;p18"/>
          <p:cNvSpPr/>
          <p:nvPr/>
        </p:nvSpPr>
        <p:spPr>
          <a:xfrm>
            <a:off x="4828032" y="2372868"/>
            <a:ext cx="3573018" cy="3771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Architecture fondée notamment sur l’attention pour contextualiser les représentations.</a:t>
            </a:r>
            <a:endParaRPr b="0" i="0" sz="900" u="none" cap="none" strike="noStrike">
              <a:solidFill>
                <a:schemeClr val="dk1"/>
              </a:solidFill>
              <a:latin typeface="Arial"/>
              <a:ea typeface="Arial"/>
              <a:cs typeface="Arial"/>
              <a:sym typeface="Arial"/>
            </a:endParaRPr>
          </a:p>
        </p:txBody>
      </p:sp>
      <p:sp>
        <p:nvSpPr>
          <p:cNvPr id="127" name="Google Shape;127;p18"/>
          <p:cNvSpPr/>
          <p:nvPr/>
        </p:nvSpPr>
        <p:spPr>
          <a:xfrm>
            <a:off x="562356" y="3051810"/>
            <a:ext cx="3806190" cy="857250"/>
          </a:xfrm>
          <a:prstGeom prst="roundRect">
            <a:avLst>
              <a:gd fmla="val 6400" name="adj"/>
            </a:avLst>
          </a:prstGeom>
          <a:solidFill>
            <a:srgbClr val="FDECEC"/>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8"/>
          <p:cNvSpPr/>
          <p:nvPr/>
        </p:nvSpPr>
        <p:spPr>
          <a:xfrm>
            <a:off x="562356" y="3051810"/>
            <a:ext cx="48006" cy="85725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9" name="Google Shape;129;p18"/>
          <p:cNvSpPr/>
          <p:nvPr/>
        </p:nvSpPr>
        <p:spPr>
          <a:xfrm>
            <a:off x="713232" y="317525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Logits</a:t>
            </a:r>
            <a:endParaRPr b="0" i="0" sz="1100" u="none" cap="none" strike="noStrike">
              <a:solidFill>
                <a:schemeClr val="dk1"/>
              </a:solidFill>
              <a:latin typeface="Arial"/>
              <a:ea typeface="Arial"/>
              <a:cs typeface="Arial"/>
              <a:sym typeface="Arial"/>
            </a:endParaRPr>
          </a:p>
        </p:txBody>
      </p:sp>
      <p:sp>
        <p:nvSpPr>
          <p:cNvPr id="130" name="Google Shape;130;p18"/>
          <p:cNvSpPr/>
          <p:nvPr/>
        </p:nvSpPr>
        <p:spPr>
          <a:xfrm>
            <a:off x="713232" y="3435858"/>
            <a:ext cx="3573018" cy="3771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Scores bruts produits pour chaque prochain token possible.</a:t>
            </a:r>
            <a:endParaRPr b="0" i="0" sz="900" u="none" cap="none" strike="noStrike">
              <a:solidFill>
                <a:schemeClr val="dk1"/>
              </a:solidFill>
              <a:latin typeface="Arial"/>
              <a:ea typeface="Arial"/>
              <a:cs typeface="Arial"/>
              <a:sym typeface="Arial"/>
            </a:endParaRPr>
          </a:p>
        </p:txBody>
      </p:sp>
      <p:sp>
        <p:nvSpPr>
          <p:cNvPr id="131" name="Google Shape;131;p18"/>
          <p:cNvSpPr/>
          <p:nvPr/>
        </p:nvSpPr>
        <p:spPr>
          <a:xfrm>
            <a:off x="4677156" y="3051810"/>
            <a:ext cx="3806190" cy="857250"/>
          </a:xfrm>
          <a:prstGeom prst="roundRect">
            <a:avLst>
              <a:gd fmla="val 6400" name="adj"/>
            </a:avLst>
          </a:prstGeom>
          <a:solidFill>
            <a:srgbClr val="EAF2F8"/>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8"/>
          <p:cNvSpPr/>
          <p:nvPr/>
        </p:nvSpPr>
        <p:spPr>
          <a:xfrm>
            <a:off x="4677156" y="3051810"/>
            <a:ext cx="48006" cy="85725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18"/>
          <p:cNvSpPr/>
          <p:nvPr/>
        </p:nvSpPr>
        <p:spPr>
          <a:xfrm>
            <a:off x="4828032" y="317525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Softmax</a:t>
            </a:r>
            <a:endParaRPr b="0" i="0" sz="1100" u="none" cap="none" strike="noStrike">
              <a:solidFill>
                <a:schemeClr val="dk1"/>
              </a:solidFill>
              <a:latin typeface="Arial"/>
              <a:ea typeface="Arial"/>
              <a:cs typeface="Arial"/>
              <a:sym typeface="Arial"/>
            </a:endParaRPr>
          </a:p>
        </p:txBody>
      </p:sp>
      <p:sp>
        <p:nvSpPr>
          <p:cNvPr id="134" name="Google Shape;134;p18"/>
          <p:cNvSpPr/>
          <p:nvPr/>
        </p:nvSpPr>
        <p:spPr>
          <a:xfrm>
            <a:off x="4828032" y="3435858"/>
            <a:ext cx="3573018" cy="3771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Transforme les logits en probabilités positives dont la somme vaut 1.</a:t>
            </a:r>
            <a:endParaRPr b="0" i="0" sz="900" u="none" cap="none" strike="noStrike">
              <a:solidFill>
                <a:schemeClr val="dk1"/>
              </a:solidFill>
              <a:latin typeface="Arial"/>
              <a:ea typeface="Arial"/>
              <a:cs typeface="Arial"/>
              <a:sym typeface="Arial"/>
            </a:endParaRPr>
          </a:p>
        </p:txBody>
      </p:sp>
      <p:sp>
        <p:nvSpPr>
          <p:cNvPr id="135" name="Google Shape;135;p18"/>
          <p:cNvSpPr/>
          <p:nvPr/>
        </p:nvSpPr>
        <p:spPr>
          <a:xfrm>
            <a:off x="617220" y="4217670"/>
            <a:ext cx="78867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Idée clé : le LLM ne “choisit pas une phrase entière”. Il choisit un token, l’ajoute au contexte, puis recommence.</a:t>
            </a:r>
            <a:endParaRPr b="0" i="0" sz="1100" u="none" cap="none" strike="noStrike">
              <a:solidFill>
                <a:schemeClr val="dk1"/>
              </a:solidFill>
              <a:latin typeface="Arial"/>
              <a:ea typeface="Arial"/>
              <a:cs typeface="Arial"/>
              <a:sym typeface="Arial"/>
            </a:endParaRPr>
          </a:p>
        </p:txBody>
      </p:sp>
      <p:sp>
        <p:nvSpPr>
          <p:cNvPr id="136" name="Google Shape;136;p18"/>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3 / 20</a:t>
            </a:r>
            <a:endParaRPr b="0" i="0" sz="600" u="none" cap="none" strike="noStrike">
              <a:solidFill>
                <a:schemeClr val="dk1"/>
              </a:solidFill>
              <a:latin typeface="Arial"/>
              <a:ea typeface="Arial"/>
              <a:cs typeface="Arial"/>
              <a:sym typeface="Arial"/>
            </a:endParaRPr>
          </a:p>
        </p:txBody>
      </p:sp>
      <p:sp>
        <p:nvSpPr>
          <p:cNvPr id="137" name="Google Shape;137;p18"/>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3. Pipeline de génération : du texte au prochain token</a:t>
            </a:r>
            <a:endParaRPr b="0" i="0" sz="1800" u="none" cap="none" strike="noStrike">
              <a:solidFill>
                <a:schemeClr val="dk1"/>
              </a:solidFill>
              <a:latin typeface="Arial"/>
              <a:ea typeface="Arial"/>
              <a:cs typeface="Arial"/>
              <a:sym typeface="Arial"/>
            </a:endParaRPr>
          </a:p>
        </p:txBody>
      </p:sp>
      <p:sp>
        <p:nvSpPr>
          <p:cNvPr id="144" name="Google Shape;144;p19"/>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Exemple simplifié du mécanisme étudié dans le notebook.</a:t>
            </a:r>
            <a:endParaRPr b="0" i="0" sz="900" u="none" cap="none" strike="noStrike">
              <a:solidFill>
                <a:schemeClr val="dk1"/>
              </a:solidFill>
              <a:latin typeface="Arial"/>
              <a:ea typeface="Arial"/>
              <a:cs typeface="Arial"/>
              <a:sym typeface="Arial"/>
            </a:endParaRPr>
          </a:p>
        </p:txBody>
      </p:sp>
      <p:sp>
        <p:nvSpPr>
          <p:cNvPr id="145" name="Google Shape;145;p19"/>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19"/>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FONDAMENTAUX</a:t>
            </a:r>
            <a:endParaRPr b="0" i="0" sz="700" u="none" cap="none" strike="noStrike">
              <a:solidFill>
                <a:schemeClr val="dk1"/>
              </a:solidFill>
              <a:latin typeface="Arial"/>
              <a:ea typeface="Arial"/>
              <a:cs typeface="Arial"/>
              <a:sym typeface="Arial"/>
            </a:endParaRPr>
          </a:p>
        </p:txBody>
      </p:sp>
      <p:sp>
        <p:nvSpPr>
          <p:cNvPr id="147" name="Google Shape;147;p19"/>
          <p:cNvSpPr/>
          <p:nvPr/>
        </p:nvSpPr>
        <p:spPr>
          <a:xfrm>
            <a:off x="377190" y="1405890"/>
            <a:ext cx="1062990" cy="788670"/>
          </a:xfrm>
          <a:prstGeom prst="roundRect">
            <a:avLst>
              <a:gd fmla="val 5217"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19"/>
          <p:cNvSpPr/>
          <p:nvPr/>
        </p:nvSpPr>
        <p:spPr>
          <a:xfrm>
            <a:off x="432054" y="1563624"/>
            <a:ext cx="953262" cy="1783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Texte</a:t>
            </a:r>
            <a:endParaRPr b="0" i="0" sz="1000" u="none" cap="none" strike="noStrike">
              <a:solidFill>
                <a:schemeClr val="dk1"/>
              </a:solidFill>
              <a:latin typeface="Arial"/>
              <a:ea typeface="Arial"/>
              <a:cs typeface="Arial"/>
              <a:sym typeface="Arial"/>
            </a:endParaRPr>
          </a:p>
        </p:txBody>
      </p:sp>
      <p:sp>
        <p:nvSpPr>
          <p:cNvPr id="149" name="Google Shape;149;p19"/>
          <p:cNvSpPr/>
          <p:nvPr/>
        </p:nvSpPr>
        <p:spPr>
          <a:xfrm>
            <a:off x="432054" y="1803654"/>
            <a:ext cx="953262"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 Le NLP est… »</a:t>
            </a:r>
            <a:endParaRPr b="0" i="0" sz="800" u="none" cap="none" strike="noStrike">
              <a:solidFill>
                <a:schemeClr val="dk1"/>
              </a:solidFill>
              <a:latin typeface="Arial"/>
              <a:ea typeface="Arial"/>
              <a:cs typeface="Arial"/>
              <a:sym typeface="Arial"/>
            </a:endParaRPr>
          </a:p>
        </p:txBody>
      </p:sp>
      <p:sp>
        <p:nvSpPr>
          <p:cNvPr id="150" name="Google Shape;150;p19"/>
          <p:cNvSpPr/>
          <p:nvPr/>
        </p:nvSpPr>
        <p:spPr>
          <a:xfrm>
            <a:off x="1460754" y="1625346"/>
            <a:ext cx="233172" cy="288036"/>
          </a:xfrm>
          <a:prstGeom prst="chevron">
            <a:avLst>
              <a:gd fmla="val 50000" name="adj"/>
            </a:avLst>
          </a:prstGeom>
          <a:solidFill>
            <a:srgbClr val="B8C1CC"/>
          </a:solidFill>
          <a:ln cap="flat" cmpd="sng" w="12700">
            <a:solidFill>
              <a:srgbClr val="B8C1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19"/>
          <p:cNvSpPr/>
          <p:nvPr/>
        </p:nvSpPr>
        <p:spPr>
          <a:xfrm>
            <a:off x="1611630" y="1405890"/>
            <a:ext cx="1062990" cy="788670"/>
          </a:xfrm>
          <a:prstGeom prst="roundRect">
            <a:avLst>
              <a:gd fmla="val 5217"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19"/>
          <p:cNvSpPr/>
          <p:nvPr/>
        </p:nvSpPr>
        <p:spPr>
          <a:xfrm>
            <a:off x="1666494" y="1563624"/>
            <a:ext cx="953262" cy="1783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Tokens</a:t>
            </a:r>
            <a:endParaRPr b="0" i="0" sz="1000" u="none" cap="none" strike="noStrike">
              <a:solidFill>
                <a:schemeClr val="dk1"/>
              </a:solidFill>
              <a:latin typeface="Arial"/>
              <a:ea typeface="Arial"/>
              <a:cs typeface="Arial"/>
              <a:sym typeface="Arial"/>
            </a:endParaRPr>
          </a:p>
        </p:txBody>
      </p:sp>
      <p:sp>
        <p:nvSpPr>
          <p:cNvPr id="153" name="Google Shape;153;p19"/>
          <p:cNvSpPr/>
          <p:nvPr/>
        </p:nvSpPr>
        <p:spPr>
          <a:xfrm>
            <a:off x="1666494" y="1803654"/>
            <a:ext cx="953262"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IDs numériques</a:t>
            </a:r>
            <a:endParaRPr b="0" i="0" sz="800" u="none" cap="none" strike="noStrike">
              <a:solidFill>
                <a:schemeClr val="dk1"/>
              </a:solidFill>
              <a:latin typeface="Arial"/>
              <a:ea typeface="Arial"/>
              <a:cs typeface="Arial"/>
              <a:sym typeface="Arial"/>
            </a:endParaRPr>
          </a:p>
        </p:txBody>
      </p:sp>
      <p:sp>
        <p:nvSpPr>
          <p:cNvPr id="154" name="Google Shape;154;p19"/>
          <p:cNvSpPr/>
          <p:nvPr/>
        </p:nvSpPr>
        <p:spPr>
          <a:xfrm>
            <a:off x="2695194" y="1625346"/>
            <a:ext cx="233172" cy="288036"/>
          </a:xfrm>
          <a:prstGeom prst="chevron">
            <a:avLst>
              <a:gd fmla="val 50000" name="adj"/>
            </a:avLst>
          </a:prstGeom>
          <a:solidFill>
            <a:srgbClr val="B8C1CC"/>
          </a:solidFill>
          <a:ln cap="flat" cmpd="sng" w="12700">
            <a:solidFill>
              <a:srgbClr val="B8C1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19"/>
          <p:cNvSpPr/>
          <p:nvPr/>
        </p:nvSpPr>
        <p:spPr>
          <a:xfrm>
            <a:off x="2846070" y="1405890"/>
            <a:ext cx="1062990" cy="788670"/>
          </a:xfrm>
          <a:prstGeom prst="roundRect">
            <a:avLst>
              <a:gd fmla="val 5217"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19"/>
          <p:cNvSpPr/>
          <p:nvPr/>
        </p:nvSpPr>
        <p:spPr>
          <a:xfrm>
            <a:off x="2900934" y="1563624"/>
            <a:ext cx="953262" cy="1783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Embeddings</a:t>
            </a:r>
            <a:endParaRPr b="0" i="0" sz="1000" u="none" cap="none" strike="noStrike">
              <a:solidFill>
                <a:schemeClr val="dk1"/>
              </a:solidFill>
              <a:latin typeface="Arial"/>
              <a:ea typeface="Arial"/>
              <a:cs typeface="Arial"/>
              <a:sym typeface="Arial"/>
            </a:endParaRPr>
          </a:p>
        </p:txBody>
      </p:sp>
      <p:sp>
        <p:nvSpPr>
          <p:cNvPr id="157" name="Google Shape;157;p19"/>
          <p:cNvSpPr/>
          <p:nvPr/>
        </p:nvSpPr>
        <p:spPr>
          <a:xfrm>
            <a:off x="2900934" y="1803654"/>
            <a:ext cx="953262"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vecteurs</a:t>
            </a:r>
            <a:endParaRPr b="0" i="0" sz="800" u="none" cap="none" strike="noStrike">
              <a:solidFill>
                <a:schemeClr val="dk1"/>
              </a:solidFill>
              <a:latin typeface="Arial"/>
              <a:ea typeface="Arial"/>
              <a:cs typeface="Arial"/>
              <a:sym typeface="Arial"/>
            </a:endParaRPr>
          </a:p>
        </p:txBody>
      </p:sp>
      <p:sp>
        <p:nvSpPr>
          <p:cNvPr id="158" name="Google Shape;158;p19"/>
          <p:cNvSpPr/>
          <p:nvPr/>
        </p:nvSpPr>
        <p:spPr>
          <a:xfrm>
            <a:off x="3929634" y="1625346"/>
            <a:ext cx="233172" cy="288036"/>
          </a:xfrm>
          <a:prstGeom prst="chevron">
            <a:avLst>
              <a:gd fmla="val 50000" name="adj"/>
            </a:avLst>
          </a:prstGeom>
          <a:solidFill>
            <a:srgbClr val="B8C1CC"/>
          </a:solidFill>
          <a:ln cap="flat" cmpd="sng" w="12700">
            <a:solidFill>
              <a:srgbClr val="B8C1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 name="Google Shape;159;p19"/>
          <p:cNvSpPr/>
          <p:nvPr/>
        </p:nvSpPr>
        <p:spPr>
          <a:xfrm>
            <a:off x="4080510" y="1405890"/>
            <a:ext cx="1062990" cy="788670"/>
          </a:xfrm>
          <a:prstGeom prst="roundRect">
            <a:avLst>
              <a:gd fmla="val 5217"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19"/>
          <p:cNvSpPr/>
          <p:nvPr/>
        </p:nvSpPr>
        <p:spPr>
          <a:xfrm>
            <a:off x="4135374" y="1563624"/>
            <a:ext cx="953262" cy="1783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Transformer</a:t>
            </a:r>
            <a:endParaRPr b="0" i="0" sz="1000" u="none" cap="none" strike="noStrike">
              <a:solidFill>
                <a:schemeClr val="dk1"/>
              </a:solidFill>
              <a:latin typeface="Arial"/>
              <a:ea typeface="Arial"/>
              <a:cs typeface="Arial"/>
              <a:sym typeface="Arial"/>
            </a:endParaRPr>
          </a:p>
        </p:txBody>
      </p:sp>
      <p:sp>
        <p:nvSpPr>
          <p:cNvPr id="161" name="Google Shape;161;p19"/>
          <p:cNvSpPr/>
          <p:nvPr/>
        </p:nvSpPr>
        <p:spPr>
          <a:xfrm>
            <a:off x="4135374" y="1803654"/>
            <a:ext cx="953262"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attention + MLP</a:t>
            </a:r>
            <a:endParaRPr b="0" i="0" sz="800" u="none" cap="none" strike="noStrike">
              <a:solidFill>
                <a:schemeClr val="dk1"/>
              </a:solidFill>
              <a:latin typeface="Arial"/>
              <a:ea typeface="Arial"/>
              <a:cs typeface="Arial"/>
              <a:sym typeface="Arial"/>
            </a:endParaRPr>
          </a:p>
        </p:txBody>
      </p:sp>
      <p:sp>
        <p:nvSpPr>
          <p:cNvPr id="162" name="Google Shape;162;p19"/>
          <p:cNvSpPr/>
          <p:nvPr/>
        </p:nvSpPr>
        <p:spPr>
          <a:xfrm>
            <a:off x="5164074" y="1625346"/>
            <a:ext cx="233172" cy="288036"/>
          </a:xfrm>
          <a:prstGeom prst="chevron">
            <a:avLst>
              <a:gd fmla="val 50000" name="adj"/>
            </a:avLst>
          </a:prstGeom>
          <a:solidFill>
            <a:srgbClr val="B8C1CC"/>
          </a:solidFill>
          <a:ln cap="flat" cmpd="sng" w="12700">
            <a:solidFill>
              <a:srgbClr val="B8C1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19"/>
          <p:cNvSpPr/>
          <p:nvPr/>
        </p:nvSpPr>
        <p:spPr>
          <a:xfrm>
            <a:off x="5314950" y="1405890"/>
            <a:ext cx="1062990" cy="788670"/>
          </a:xfrm>
          <a:prstGeom prst="roundRect">
            <a:avLst>
              <a:gd fmla="val 5217"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19"/>
          <p:cNvSpPr/>
          <p:nvPr/>
        </p:nvSpPr>
        <p:spPr>
          <a:xfrm>
            <a:off x="5369814" y="1563624"/>
            <a:ext cx="953262" cy="1783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Logits</a:t>
            </a:r>
            <a:endParaRPr b="0" i="0" sz="1000" u="none" cap="none" strike="noStrike">
              <a:solidFill>
                <a:schemeClr val="dk1"/>
              </a:solidFill>
              <a:latin typeface="Arial"/>
              <a:ea typeface="Arial"/>
              <a:cs typeface="Arial"/>
              <a:sym typeface="Arial"/>
            </a:endParaRPr>
          </a:p>
        </p:txBody>
      </p:sp>
      <p:sp>
        <p:nvSpPr>
          <p:cNvPr id="165" name="Google Shape;165;p19"/>
          <p:cNvSpPr/>
          <p:nvPr/>
        </p:nvSpPr>
        <p:spPr>
          <a:xfrm>
            <a:off x="5369814" y="1803654"/>
            <a:ext cx="953262"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scores bruts</a:t>
            </a:r>
            <a:endParaRPr b="0" i="0" sz="800" u="none" cap="none" strike="noStrike">
              <a:solidFill>
                <a:schemeClr val="dk1"/>
              </a:solidFill>
              <a:latin typeface="Arial"/>
              <a:ea typeface="Arial"/>
              <a:cs typeface="Arial"/>
              <a:sym typeface="Arial"/>
            </a:endParaRPr>
          </a:p>
        </p:txBody>
      </p:sp>
      <p:sp>
        <p:nvSpPr>
          <p:cNvPr id="166" name="Google Shape;166;p19"/>
          <p:cNvSpPr/>
          <p:nvPr/>
        </p:nvSpPr>
        <p:spPr>
          <a:xfrm>
            <a:off x="6398514" y="1625346"/>
            <a:ext cx="233172" cy="288036"/>
          </a:xfrm>
          <a:prstGeom prst="chevron">
            <a:avLst>
              <a:gd fmla="val 50000" name="adj"/>
            </a:avLst>
          </a:prstGeom>
          <a:solidFill>
            <a:srgbClr val="B8C1CC"/>
          </a:solidFill>
          <a:ln cap="flat" cmpd="sng" w="12700">
            <a:solidFill>
              <a:srgbClr val="B8C1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19"/>
          <p:cNvSpPr/>
          <p:nvPr/>
        </p:nvSpPr>
        <p:spPr>
          <a:xfrm>
            <a:off x="6549390" y="1405890"/>
            <a:ext cx="1062990" cy="788670"/>
          </a:xfrm>
          <a:prstGeom prst="roundRect">
            <a:avLst>
              <a:gd fmla="val 5217"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19"/>
          <p:cNvSpPr/>
          <p:nvPr/>
        </p:nvSpPr>
        <p:spPr>
          <a:xfrm>
            <a:off x="6604254" y="1563624"/>
            <a:ext cx="953262" cy="1783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Softmax</a:t>
            </a:r>
            <a:endParaRPr b="0" i="0" sz="1000" u="none" cap="none" strike="noStrike">
              <a:solidFill>
                <a:schemeClr val="dk1"/>
              </a:solidFill>
              <a:latin typeface="Arial"/>
              <a:ea typeface="Arial"/>
              <a:cs typeface="Arial"/>
              <a:sym typeface="Arial"/>
            </a:endParaRPr>
          </a:p>
        </p:txBody>
      </p:sp>
      <p:sp>
        <p:nvSpPr>
          <p:cNvPr id="169" name="Google Shape;169;p19"/>
          <p:cNvSpPr/>
          <p:nvPr/>
        </p:nvSpPr>
        <p:spPr>
          <a:xfrm>
            <a:off x="6604254" y="1803654"/>
            <a:ext cx="953262"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probabilités</a:t>
            </a:r>
            <a:endParaRPr b="0" i="0" sz="800" u="none" cap="none" strike="noStrike">
              <a:solidFill>
                <a:schemeClr val="dk1"/>
              </a:solidFill>
              <a:latin typeface="Arial"/>
              <a:ea typeface="Arial"/>
              <a:cs typeface="Arial"/>
              <a:sym typeface="Arial"/>
            </a:endParaRPr>
          </a:p>
        </p:txBody>
      </p:sp>
      <p:sp>
        <p:nvSpPr>
          <p:cNvPr id="170" name="Google Shape;170;p19"/>
          <p:cNvSpPr/>
          <p:nvPr/>
        </p:nvSpPr>
        <p:spPr>
          <a:xfrm>
            <a:off x="7632954" y="1625346"/>
            <a:ext cx="233172" cy="288036"/>
          </a:xfrm>
          <a:prstGeom prst="chevron">
            <a:avLst>
              <a:gd fmla="val 50000" name="adj"/>
            </a:avLst>
          </a:prstGeom>
          <a:solidFill>
            <a:srgbClr val="B8C1CC"/>
          </a:solidFill>
          <a:ln cap="flat" cmpd="sng" w="12700">
            <a:solidFill>
              <a:srgbClr val="B8C1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19"/>
          <p:cNvSpPr/>
          <p:nvPr/>
        </p:nvSpPr>
        <p:spPr>
          <a:xfrm>
            <a:off x="7783830" y="1405890"/>
            <a:ext cx="1062990" cy="788670"/>
          </a:xfrm>
          <a:prstGeom prst="roundRect">
            <a:avLst>
              <a:gd fmla="val 5217"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19"/>
          <p:cNvSpPr/>
          <p:nvPr/>
        </p:nvSpPr>
        <p:spPr>
          <a:xfrm>
            <a:off x="7838694" y="1563624"/>
            <a:ext cx="953262" cy="1783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Décodage</a:t>
            </a:r>
            <a:endParaRPr b="0" i="0" sz="1000" u="none" cap="none" strike="noStrike">
              <a:solidFill>
                <a:schemeClr val="dk1"/>
              </a:solidFill>
              <a:latin typeface="Arial"/>
              <a:ea typeface="Arial"/>
              <a:cs typeface="Arial"/>
              <a:sym typeface="Arial"/>
            </a:endParaRPr>
          </a:p>
        </p:txBody>
      </p:sp>
      <p:sp>
        <p:nvSpPr>
          <p:cNvPr id="173" name="Google Shape;173;p19"/>
          <p:cNvSpPr/>
          <p:nvPr/>
        </p:nvSpPr>
        <p:spPr>
          <a:xfrm>
            <a:off x="7838694" y="1803654"/>
            <a:ext cx="953262"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token choisi</a:t>
            </a:r>
            <a:endParaRPr b="0" i="0" sz="800" u="none" cap="none" strike="noStrike">
              <a:solidFill>
                <a:schemeClr val="dk1"/>
              </a:solidFill>
              <a:latin typeface="Arial"/>
              <a:ea typeface="Arial"/>
              <a:cs typeface="Arial"/>
              <a:sym typeface="Arial"/>
            </a:endParaRPr>
          </a:p>
        </p:txBody>
      </p:sp>
      <p:sp>
        <p:nvSpPr>
          <p:cNvPr id="174" name="Google Shape;174;p19"/>
          <p:cNvSpPr/>
          <p:nvPr/>
        </p:nvSpPr>
        <p:spPr>
          <a:xfrm>
            <a:off x="562356" y="2777490"/>
            <a:ext cx="3737610" cy="1220724"/>
          </a:xfrm>
          <a:prstGeom prst="roundRect">
            <a:avLst>
              <a:gd fmla="val 2247" name="adj"/>
            </a:avLst>
          </a:prstGeom>
          <a:solidFill>
            <a:srgbClr val="101828"/>
          </a:solidFill>
          <a:ln cap="flat" cmpd="sng" w="12700">
            <a:solidFill>
              <a:srgbClr val="1018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 name="Google Shape;175;p19"/>
          <p:cNvSpPr/>
          <p:nvPr/>
        </p:nvSpPr>
        <p:spPr>
          <a:xfrm>
            <a:off x="685800" y="2880360"/>
            <a:ext cx="3490722" cy="10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with torch.inference_mode():</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outputs = model(**inputs)</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next_logits = outputs.logits[0, -1]</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next_probs = torch.softmax(next_logits.float(), dim=-1)</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next_id = torch.argmax(next_probs).item()</a:t>
            </a:r>
            <a:endParaRPr b="0" i="0" sz="800" u="none" cap="none" strike="noStrike">
              <a:solidFill>
                <a:schemeClr val="dk1"/>
              </a:solidFill>
              <a:latin typeface="Arial"/>
              <a:ea typeface="Arial"/>
              <a:cs typeface="Arial"/>
              <a:sym typeface="Arial"/>
            </a:endParaRPr>
          </a:p>
        </p:txBody>
      </p:sp>
      <p:sp>
        <p:nvSpPr>
          <p:cNvPr id="176" name="Google Shape;176;p19"/>
          <p:cNvSpPr/>
          <p:nvPr/>
        </p:nvSpPr>
        <p:spPr>
          <a:xfrm>
            <a:off x="4608576" y="2777490"/>
            <a:ext cx="3909060" cy="1220724"/>
          </a:xfrm>
          <a:prstGeom prst="roundRect">
            <a:avLst>
              <a:gd fmla="val 4494" name="adj"/>
            </a:avLst>
          </a:prstGeom>
          <a:solidFill>
            <a:srgbClr val="FFFFFF"/>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19"/>
          <p:cNvSpPr/>
          <p:nvPr/>
        </p:nvSpPr>
        <p:spPr>
          <a:xfrm>
            <a:off x="4608576" y="2777490"/>
            <a:ext cx="48006" cy="1220724"/>
          </a:xfrm>
          <a:prstGeom prst="rect">
            <a:avLst/>
          </a:prstGeom>
          <a:solidFill>
            <a:srgbClr val="6C5CE7"/>
          </a:solidFill>
          <a:ln cap="flat" cmpd="sng" w="12700">
            <a:solidFill>
              <a:srgbClr val="6C5CE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19"/>
          <p:cNvSpPr/>
          <p:nvPr/>
        </p:nvSpPr>
        <p:spPr>
          <a:xfrm>
            <a:off x="4759452" y="2900934"/>
            <a:ext cx="36690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Pourquoi cette étape dans le projet ?</a:t>
            </a:r>
            <a:endParaRPr b="0" i="0" sz="1100" u="none" cap="none" strike="noStrike">
              <a:solidFill>
                <a:schemeClr val="dk1"/>
              </a:solidFill>
              <a:latin typeface="Arial"/>
              <a:ea typeface="Arial"/>
              <a:cs typeface="Arial"/>
              <a:sym typeface="Arial"/>
            </a:endParaRPr>
          </a:p>
        </p:txBody>
      </p:sp>
      <p:sp>
        <p:nvSpPr>
          <p:cNvPr id="179" name="Google Shape;179;p19"/>
          <p:cNvSpPr/>
          <p:nvPr/>
        </p:nvSpPr>
        <p:spPr>
          <a:xfrm>
            <a:off x="4759452" y="3161538"/>
            <a:ext cx="3675888" cy="74066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La consigne demandait d’observer le tokenizer, la forme des logits, la softmax et le choix du prochain token. Cela permet de comprendre ce que font ensuite température, top-k et top-p au lieu de traiter le LLM comme une boîte noire.</a:t>
            </a:r>
            <a:endParaRPr b="0" i="0" sz="900" u="none" cap="none" strike="noStrike">
              <a:solidFill>
                <a:schemeClr val="dk1"/>
              </a:solidFill>
              <a:latin typeface="Arial"/>
              <a:ea typeface="Arial"/>
              <a:cs typeface="Arial"/>
              <a:sym typeface="Arial"/>
            </a:endParaRPr>
          </a:p>
        </p:txBody>
      </p:sp>
      <p:sp>
        <p:nvSpPr>
          <p:cNvPr id="180" name="Google Shape;180;p19"/>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4 / 20</a:t>
            </a:r>
            <a:endParaRPr b="0" i="0" sz="600" u="none" cap="none" strike="noStrike">
              <a:solidFill>
                <a:schemeClr val="dk1"/>
              </a:solidFill>
              <a:latin typeface="Arial"/>
              <a:ea typeface="Arial"/>
              <a:cs typeface="Arial"/>
              <a:sym typeface="Arial"/>
            </a:endParaRPr>
          </a:p>
        </p:txBody>
      </p:sp>
      <p:sp>
        <p:nvSpPr>
          <p:cNvPr id="181" name="Google Shape;181;p19"/>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4. Baseline : guider le modèle sans l’entraîner</a:t>
            </a:r>
            <a:endParaRPr b="0" i="0" sz="1800" u="none" cap="none" strike="noStrike">
              <a:solidFill>
                <a:schemeClr val="dk1"/>
              </a:solidFill>
              <a:latin typeface="Arial"/>
              <a:ea typeface="Arial"/>
              <a:cs typeface="Arial"/>
              <a:sym typeface="Arial"/>
            </a:endParaRPr>
          </a:p>
        </p:txBody>
      </p:sp>
      <p:sp>
        <p:nvSpPr>
          <p:cNvPr id="188" name="Google Shape;188;p20"/>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Le prompting agit sur le contexte ; il ne modifie pas les poids du modèle.</a:t>
            </a:r>
            <a:endParaRPr b="0" i="0" sz="900" u="none" cap="none" strike="noStrike">
              <a:solidFill>
                <a:schemeClr val="dk1"/>
              </a:solidFill>
              <a:latin typeface="Arial"/>
              <a:ea typeface="Arial"/>
              <a:cs typeface="Arial"/>
              <a:sym typeface="Arial"/>
            </a:endParaRPr>
          </a:p>
        </p:txBody>
      </p:sp>
      <p:sp>
        <p:nvSpPr>
          <p:cNvPr id="189" name="Google Shape;189;p20"/>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20"/>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BASELINE</a:t>
            </a:r>
            <a:endParaRPr b="0" i="0" sz="700" u="none" cap="none" strike="noStrike">
              <a:solidFill>
                <a:schemeClr val="dk1"/>
              </a:solidFill>
              <a:latin typeface="Arial"/>
              <a:ea typeface="Arial"/>
              <a:cs typeface="Arial"/>
              <a:sym typeface="Arial"/>
            </a:endParaRPr>
          </a:p>
        </p:txBody>
      </p:sp>
      <p:sp>
        <p:nvSpPr>
          <p:cNvPr id="191" name="Google Shape;191;p20"/>
          <p:cNvSpPr/>
          <p:nvPr/>
        </p:nvSpPr>
        <p:spPr>
          <a:xfrm>
            <a:off x="562356" y="925830"/>
            <a:ext cx="3566160" cy="1453896"/>
          </a:xfrm>
          <a:prstGeom prst="roundRect">
            <a:avLst>
              <a:gd fmla="val 3774"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20"/>
          <p:cNvSpPr/>
          <p:nvPr/>
        </p:nvSpPr>
        <p:spPr>
          <a:xfrm>
            <a:off x="562356" y="925830"/>
            <a:ext cx="48006" cy="1453896"/>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20"/>
          <p:cNvSpPr/>
          <p:nvPr/>
        </p:nvSpPr>
        <p:spPr>
          <a:xfrm>
            <a:off x="713232" y="1049274"/>
            <a:ext cx="33261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Prompt système</a:t>
            </a:r>
            <a:endParaRPr b="0" i="0" sz="1100" u="none" cap="none" strike="noStrike">
              <a:solidFill>
                <a:schemeClr val="dk1"/>
              </a:solidFill>
              <a:latin typeface="Arial"/>
              <a:ea typeface="Arial"/>
              <a:cs typeface="Arial"/>
              <a:sym typeface="Arial"/>
            </a:endParaRPr>
          </a:p>
        </p:txBody>
      </p:sp>
      <p:sp>
        <p:nvSpPr>
          <p:cNvPr id="194" name="Google Shape;194;p20"/>
          <p:cNvSpPr/>
          <p:nvPr/>
        </p:nvSpPr>
        <p:spPr>
          <a:xfrm>
            <a:off x="713232" y="1309878"/>
            <a:ext cx="3332988" cy="97383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Tu es NLP Tutor… réponds en français, commence par une définition claire, explique progressivement, donne un exemple quand c’est pertinent et termine par “À retenir”. »</a:t>
            </a:r>
            <a:endParaRPr b="0" i="0" sz="900" u="none" cap="none" strike="noStrike">
              <a:solidFill>
                <a:schemeClr val="dk1"/>
              </a:solidFill>
              <a:latin typeface="Arial"/>
              <a:ea typeface="Arial"/>
              <a:cs typeface="Arial"/>
              <a:sym typeface="Arial"/>
            </a:endParaRPr>
          </a:p>
        </p:txBody>
      </p:sp>
      <p:sp>
        <p:nvSpPr>
          <p:cNvPr id="195" name="Google Shape;195;p20"/>
          <p:cNvSpPr/>
          <p:nvPr/>
        </p:nvSpPr>
        <p:spPr>
          <a:xfrm>
            <a:off x="4423410" y="925830"/>
            <a:ext cx="164592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Décodage testé</a:t>
            </a:r>
            <a:endParaRPr b="0" i="0" sz="1200" u="none" cap="none" strike="noStrike">
              <a:solidFill>
                <a:schemeClr val="dk1"/>
              </a:solidFill>
              <a:latin typeface="Arial"/>
              <a:ea typeface="Arial"/>
              <a:cs typeface="Arial"/>
              <a:sym typeface="Arial"/>
            </a:endParaRPr>
          </a:p>
        </p:txBody>
      </p:sp>
      <p:sp>
        <p:nvSpPr>
          <p:cNvPr id="196" name="Google Shape;196;p20"/>
          <p:cNvSpPr/>
          <p:nvPr/>
        </p:nvSpPr>
        <p:spPr>
          <a:xfrm>
            <a:off x="4423410" y="1248156"/>
            <a:ext cx="1817370" cy="754380"/>
          </a:xfrm>
          <a:prstGeom prst="roundRect">
            <a:avLst>
              <a:gd fmla="val 7273" name="adj"/>
            </a:avLst>
          </a:prstGeom>
          <a:solidFill>
            <a:srgbClr val="E8F7F5"/>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20"/>
          <p:cNvSpPr/>
          <p:nvPr/>
        </p:nvSpPr>
        <p:spPr>
          <a:xfrm>
            <a:off x="4423410" y="1248156"/>
            <a:ext cx="48006" cy="75438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20"/>
          <p:cNvSpPr/>
          <p:nvPr/>
        </p:nvSpPr>
        <p:spPr>
          <a:xfrm>
            <a:off x="4574286" y="1371600"/>
            <a:ext cx="15773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Greedy</a:t>
            </a:r>
            <a:endParaRPr b="0" i="0" sz="1100" u="none" cap="none" strike="noStrike">
              <a:solidFill>
                <a:schemeClr val="dk1"/>
              </a:solidFill>
              <a:latin typeface="Arial"/>
              <a:ea typeface="Arial"/>
              <a:cs typeface="Arial"/>
              <a:sym typeface="Arial"/>
            </a:endParaRPr>
          </a:p>
        </p:txBody>
      </p:sp>
      <p:sp>
        <p:nvSpPr>
          <p:cNvPr id="199" name="Google Shape;199;p20"/>
          <p:cNvSpPr/>
          <p:nvPr/>
        </p:nvSpPr>
        <p:spPr>
          <a:xfrm>
            <a:off x="4574286" y="1632204"/>
            <a:ext cx="1584198" cy="27432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toujours le token le plus probable</a:t>
            </a:r>
            <a:endParaRPr b="0" i="0" sz="900" u="none" cap="none" strike="noStrike">
              <a:solidFill>
                <a:schemeClr val="dk1"/>
              </a:solidFill>
              <a:latin typeface="Arial"/>
              <a:ea typeface="Arial"/>
              <a:cs typeface="Arial"/>
              <a:sym typeface="Arial"/>
            </a:endParaRPr>
          </a:p>
        </p:txBody>
      </p:sp>
      <p:sp>
        <p:nvSpPr>
          <p:cNvPr id="200" name="Google Shape;200;p20"/>
          <p:cNvSpPr/>
          <p:nvPr/>
        </p:nvSpPr>
        <p:spPr>
          <a:xfrm>
            <a:off x="6446520" y="1248156"/>
            <a:ext cx="1817370" cy="754380"/>
          </a:xfrm>
          <a:prstGeom prst="roundRect">
            <a:avLst>
              <a:gd fmla="val 7273"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20"/>
          <p:cNvSpPr/>
          <p:nvPr/>
        </p:nvSpPr>
        <p:spPr>
          <a:xfrm>
            <a:off x="6446520" y="1248156"/>
            <a:ext cx="48006" cy="75438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20"/>
          <p:cNvSpPr/>
          <p:nvPr/>
        </p:nvSpPr>
        <p:spPr>
          <a:xfrm>
            <a:off x="6597396" y="1371600"/>
            <a:ext cx="15773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Température</a:t>
            </a:r>
            <a:endParaRPr b="0" i="0" sz="1100" u="none" cap="none" strike="noStrike">
              <a:solidFill>
                <a:schemeClr val="dk1"/>
              </a:solidFill>
              <a:latin typeface="Arial"/>
              <a:ea typeface="Arial"/>
              <a:cs typeface="Arial"/>
              <a:sym typeface="Arial"/>
            </a:endParaRPr>
          </a:p>
        </p:txBody>
      </p:sp>
      <p:sp>
        <p:nvSpPr>
          <p:cNvPr id="203" name="Google Shape;203;p20"/>
          <p:cNvSpPr/>
          <p:nvPr/>
        </p:nvSpPr>
        <p:spPr>
          <a:xfrm>
            <a:off x="6597396" y="1632204"/>
            <a:ext cx="1584198" cy="27432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contrôle le caractère plus ou moins aléatoire</a:t>
            </a:r>
            <a:endParaRPr b="0" i="0" sz="900" u="none" cap="none" strike="noStrike">
              <a:solidFill>
                <a:schemeClr val="dk1"/>
              </a:solidFill>
              <a:latin typeface="Arial"/>
              <a:ea typeface="Arial"/>
              <a:cs typeface="Arial"/>
              <a:sym typeface="Arial"/>
            </a:endParaRPr>
          </a:p>
        </p:txBody>
      </p:sp>
      <p:sp>
        <p:nvSpPr>
          <p:cNvPr id="204" name="Google Shape;204;p20"/>
          <p:cNvSpPr/>
          <p:nvPr/>
        </p:nvSpPr>
        <p:spPr>
          <a:xfrm>
            <a:off x="4423410" y="2173986"/>
            <a:ext cx="1817370" cy="754380"/>
          </a:xfrm>
          <a:prstGeom prst="roundRect">
            <a:avLst>
              <a:gd fmla="val 7273" name="adj"/>
            </a:avLst>
          </a:prstGeom>
          <a:solidFill>
            <a:srgbClr val="E8F7F5"/>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20"/>
          <p:cNvSpPr/>
          <p:nvPr/>
        </p:nvSpPr>
        <p:spPr>
          <a:xfrm>
            <a:off x="4423410" y="2173986"/>
            <a:ext cx="48006" cy="75438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6" name="Google Shape;206;p20"/>
          <p:cNvSpPr/>
          <p:nvPr/>
        </p:nvSpPr>
        <p:spPr>
          <a:xfrm>
            <a:off x="4574286" y="2297430"/>
            <a:ext cx="15773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Top-k</a:t>
            </a:r>
            <a:endParaRPr b="0" i="0" sz="1100" u="none" cap="none" strike="noStrike">
              <a:solidFill>
                <a:schemeClr val="dk1"/>
              </a:solidFill>
              <a:latin typeface="Arial"/>
              <a:ea typeface="Arial"/>
              <a:cs typeface="Arial"/>
              <a:sym typeface="Arial"/>
            </a:endParaRPr>
          </a:p>
        </p:txBody>
      </p:sp>
      <p:sp>
        <p:nvSpPr>
          <p:cNvPr id="207" name="Google Shape;207;p20"/>
          <p:cNvSpPr/>
          <p:nvPr/>
        </p:nvSpPr>
        <p:spPr>
          <a:xfrm>
            <a:off x="4574286" y="2558034"/>
            <a:ext cx="1584198" cy="27432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limite aux k meilleurs candidats</a:t>
            </a:r>
            <a:endParaRPr b="0" i="0" sz="900" u="none" cap="none" strike="noStrike">
              <a:solidFill>
                <a:schemeClr val="dk1"/>
              </a:solidFill>
              <a:latin typeface="Arial"/>
              <a:ea typeface="Arial"/>
              <a:cs typeface="Arial"/>
              <a:sym typeface="Arial"/>
            </a:endParaRPr>
          </a:p>
        </p:txBody>
      </p:sp>
      <p:sp>
        <p:nvSpPr>
          <p:cNvPr id="208" name="Google Shape;208;p20"/>
          <p:cNvSpPr/>
          <p:nvPr/>
        </p:nvSpPr>
        <p:spPr>
          <a:xfrm>
            <a:off x="6446520" y="2173986"/>
            <a:ext cx="1817370" cy="754380"/>
          </a:xfrm>
          <a:prstGeom prst="roundRect">
            <a:avLst>
              <a:gd fmla="val 7273"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20"/>
          <p:cNvSpPr/>
          <p:nvPr/>
        </p:nvSpPr>
        <p:spPr>
          <a:xfrm>
            <a:off x="6446520" y="2173986"/>
            <a:ext cx="48006" cy="75438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0"/>
          <p:cNvSpPr/>
          <p:nvPr/>
        </p:nvSpPr>
        <p:spPr>
          <a:xfrm>
            <a:off x="6597396" y="2297430"/>
            <a:ext cx="15773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Top-p</a:t>
            </a:r>
            <a:endParaRPr b="0" i="0" sz="1100" u="none" cap="none" strike="noStrike">
              <a:solidFill>
                <a:schemeClr val="dk1"/>
              </a:solidFill>
              <a:latin typeface="Arial"/>
              <a:ea typeface="Arial"/>
              <a:cs typeface="Arial"/>
              <a:sym typeface="Arial"/>
            </a:endParaRPr>
          </a:p>
        </p:txBody>
      </p:sp>
      <p:sp>
        <p:nvSpPr>
          <p:cNvPr id="211" name="Google Shape;211;p20"/>
          <p:cNvSpPr/>
          <p:nvPr/>
        </p:nvSpPr>
        <p:spPr>
          <a:xfrm>
            <a:off x="6597396" y="2558034"/>
            <a:ext cx="1584198" cy="27432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garde une masse cumulée de probabilité</a:t>
            </a:r>
            <a:endParaRPr b="0" i="0" sz="900" u="none" cap="none" strike="noStrike">
              <a:solidFill>
                <a:schemeClr val="dk1"/>
              </a:solidFill>
              <a:latin typeface="Arial"/>
              <a:ea typeface="Arial"/>
              <a:cs typeface="Arial"/>
              <a:sym typeface="Arial"/>
            </a:endParaRPr>
          </a:p>
        </p:txBody>
      </p:sp>
      <p:sp>
        <p:nvSpPr>
          <p:cNvPr id="212" name="Google Shape;212;p20"/>
          <p:cNvSpPr/>
          <p:nvPr/>
        </p:nvSpPr>
        <p:spPr>
          <a:xfrm>
            <a:off x="562356" y="2798064"/>
            <a:ext cx="3785616" cy="1371600"/>
          </a:xfrm>
          <a:prstGeom prst="roundRect">
            <a:avLst>
              <a:gd fmla="val 2000" name="adj"/>
            </a:avLst>
          </a:prstGeom>
          <a:solidFill>
            <a:srgbClr val="101828"/>
          </a:solidFill>
          <a:ln cap="flat" cmpd="sng" w="12700">
            <a:solidFill>
              <a:srgbClr val="1018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0"/>
          <p:cNvSpPr/>
          <p:nvPr/>
        </p:nvSpPr>
        <p:spPr>
          <a:xfrm>
            <a:off x="685800" y="2900934"/>
            <a:ext cx="3538728" cy="11795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F4F7"/>
              </a:buClr>
              <a:buSzPts val="700"/>
              <a:buFont typeface="Courier New"/>
              <a:buNone/>
            </a:pPr>
            <a:r>
              <a:rPr b="0" i="0" lang="fr" sz="700" u="none" cap="none" strike="noStrike">
                <a:solidFill>
                  <a:srgbClr val="F2F4F7"/>
                </a:solidFill>
                <a:latin typeface="Courier New"/>
                <a:ea typeface="Courier New"/>
                <a:cs typeface="Courier New"/>
                <a:sym typeface="Courier New"/>
              </a:rPr>
              <a:t>messages = [</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b="0" i="0" lang="fr" sz="700" u="none" cap="none" strike="noStrike">
                <a:solidFill>
                  <a:srgbClr val="F2F4F7"/>
                </a:solidFill>
                <a:latin typeface="Courier New"/>
                <a:ea typeface="Courier New"/>
                <a:cs typeface="Courier New"/>
                <a:sym typeface="Courier New"/>
              </a:rPr>
              <a:t>  {"role": "system", "content": SYSTEM_PROMPT},</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b="0" i="0" lang="fr" sz="700" u="none" cap="none" strike="noStrike">
                <a:solidFill>
                  <a:srgbClr val="F2F4F7"/>
                </a:solidFill>
                <a:latin typeface="Courier New"/>
                <a:ea typeface="Courier New"/>
                <a:cs typeface="Courier New"/>
                <a:sym typeface="Courier New"/>
              </a:rPr>
              <a:t>  {"role": "user",   "content": question},</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b="0" i="0" lang="fr" sz="700" u="none" cap="none" strike="noStrike">
                <a:solidFill>
                  <a:srgbClr val="F2F4F7"/>
                </a:solidFill>
                <a:latin typeface="Courier New"/>
                <a:ea typeface="Courier New"/>
                <a:cs typeface="Courier New"/>
                <a:sym typeface="Courier New"/>
              </a:rPr>
              <a:t>]</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b="0" i="0" lang="fr" sz="700" u="none" cap="none" strike="noStrike">
                <a:solidFill>
                  <a:srgbClr val="F2F4F7"/>
                </a:solidFill>
                <a:latin typeface="Courier New"/>
                <a:ea typeface="Courier New"/>
                <a:cs typeface="Courier New"/>
                <a:sym typeface="Courier New"/>
              </a:rPr>
              <a:t>model_inputs = tokenizer.apply_chat_template(</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b="0" i="0" lang="fr" sz="700" u="none" cap="none" strike="noStrike">
                <a:solidFill>
                  <a:srgbClr val="F2F4F7"/>
                </a:solidFill>
                <a:latin typeface="Courier New"/>
                <a:ea typeface="Courier New"/>
                <a:cs typeface="Courier New"/>
                <a:sym typeface="Courier New"/>
              </a:rPr>
              <a:t>    messages, add_generation_prompt=True,</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b="0" i="0" lang="fr" sz="700" u="none" cap="none" strike="noStrike">
                <a:solidFill>
                  <a:srgbClr val="F2F4F7"/>
                </a:solidFill>
                <a:latin typeface="Courier New"/>
                <a:ea typeface="Courier New"/>
                <a:cs typeface="Courier New"/>
                <a:sym typeface="Courier New"/>
              </a:rPr>
              <a:t>    return_tensors="pt"</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b="0" i="0" lang="fr" sz="700" u="none" cap="none" strike="noStrike">
                <a:solidFill>
                  <a:srgbClr val="F2F4F7"/>
                </a:solidFill>
                <a:latin typeface="Courier New"/>
                <a:ea typeface="Courier New"/>
                <a:cs typeface="Courier New"/>
                <a:sym typeface="Courier New"/>
              </a:rPr>
              <a:t>)</a:t>
            </a:r>
            <a:endParaRPr b="0" i="0" sz="700" u="none" cap="none" strike="noStrike">
              <a:solidFill>
                <a:schemeClr val="dk1"/>
              </a:solidFill>
              <a:latin typeface="Arial"/>
              <a:ea typeface="Arial"/>
              <a:cs typeface="Arial"/>
              <a:sym typeface="Arial"/>
            </a:endParaRPr>
          </a:p>
        </p:txBody>
      </p:sp>
      <p:sp>
        <p:nvSpPr>
          <p:cNvPr id="214" name="Google Shape;214;p20"/>
          <p:cNvSpPr/>
          <p:nvPr/>
        </p:nvSpPr>
        <p:spPr>
          <a:xfrm>
            <a:off x="4608576" y="2798064"/>
            <a:ext cx="3895344" cy="1371600"/>
          </a:xfrm>
          <a:prstGeom prst="roundRect">
            <a:avLst>
              <a:gd fmla="val 4000"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0"/>
          <p:cNvSpPr/>
          <p:nvPr/>
        </p:nvSpPr>
        <p:spPr>
          <a:xfrm>
            <a:off x="4608576" y="2798064"/>
            <a:ext cx="48006" cy="137160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0"/>
          <p:cNvSpPr/>
          <p:nvPr/>
        </p:nvSpPr>
        <p:spPr>
          <a:xfrm>
            <a:off x="4759452" y="2921508"/>
            <a:ext cx="365531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Pourquoi conserver cette baseline ?</a:t>
            </a:r>
            <a:endParaRPr b="0" i="0" sz="1100" u="none" cap="none" strike="noStrike">
              <a:solidFill>
                <a:schemeClr val="dk1"/>
              </a:solidFill>
              <a:latin typeface="Arial"/>
              <a:ea typeface="Arial"/>
              <a:cs typeface="Arial"/>
              <a:sym typeface="Arial"/>
            </a:endParaRPr>
          </a:p>
        </p:txBody>
      </p:sp>
      <p:sp>
        <p:nvSpPr>
          <p:cNvPr id="217" name="Google Shape;217;p20"/>
          <p:cNvSpPr/>
          <p:nvPr/>
        </p:nvSpPr>
        <p:spPr>
          <a:xfrm>
            <a:off x="4759452" y="3182112"/>
            <a:ext cx="3662172" cy="8915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Elle sert de référence. Sans elle, un bon score après QLoRA ne permettrait pas de savoir si l’amélioration vient réellement du fine-tuning ou si Qwen était déjà suffisamment performant.</a:t>
            </a:r>
            <a:endParaRPr b="0" i="0" sz="900" u="none" cap="none" strike="noStrike">
              <a:solidFill>
                <a:schemeClr val="dk1"/>
              </a:solidFill>
              <a:latin typeface="Arial"/>
              <a:ea typeface="Arial"/>
              <a:cs typeface="Arial"/>
              <a:sym typeface="Arial"/>
            </a:endParaRPr>
          </a:p>
        </p:txBody>
      </p:sp>
      <p:sp>
        <p:nvSpPr>
          <p:cNvPr id="218" name="Google Shape;218;p20"/>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5 / 20</a:t>
            </a:r>
            <a:endParaRPr b="0" i="0" sz="600" u="none" cap="none" strike="noStrike">
              <a:solidFill>
                <a:schemeClr val="dk1"/>
              </a:solidFill>
              <a:latin typeface="Arial"/>
              <a:ea typeface="Arial"/>
              <a:cs typeface="Arial"/>
              <a:sym typeface="Arial"/>
            </a:endParaRPr>
          </a:p>
        </p:txBody>
      </p:sp>
      <p:sp>
        <p:nvSpPr>
          <p:cNvPr id="219" name="Google Shape;219;p20"/>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1"/>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5. Dataset pédagogique : 500 exemples contrôlés</a:t>
            </a:r>
            <a:endParaRPr b="0" i="0" sz="1800" u="none" cap="none" strike="noStrike">
              <a:solidFill>
                <a:schemeClr val="dk1"/>
              </a:solidFill>
              <a:latin typeface="Arial"/>
              <a:ea typeface="Arial"/>
              <a:cs typeface="Arial"/>
              <a:sym typeface="Arial"/>
            </a:endParaRPr>
          </a:p>
        </p:txBody>
      </p:sp>
      <p:sp>
        <p:nvSpPr>
          <p:cNvPr id="226" name="Google Shape;226;p21"/>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25 notions × 20 formulations de question, avec séparation train / validation / test.</a:t>
            </a:r>
            <a:endParaRPr b="0" i="0" sz="900" u="none" cap="none" strike="noStrike">
              <a:solidFill>
                <a:schemeClr val="dk1"/>
              </a:solidFill>
              <a:latin typeface="Arial"/>
              <a:ea typeface="Arial"/>
              <a:cs typeface="Arial"/>
              <a:sym typeface="Arial"/>
            </a:endParaRPr>
          </a:p>
        </p:txBody>
      </p:sp>
      <p:sp>
        <p:nvSpPr>
          <p:cNvPr id="227" name="Google Shape;227;p21"/>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21"/>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DONNÉES</a:t>
            </a:r>
            <a:endParaRPr b="0" i="0" sz="700" u="none" cap="none" strike="noStrike">
              <a:solidFill>
                <a:schemeClr val="dk1"/>
              </a:solidFill>
              <a:latin typeface="Arial"/>
              <a:ea typeface="Arial"/>
              <a:cs typeface="Arial"/>
              <a:sym typeface="Arial"/>
            </a:endParaRPr>
          </a:p>
        </p:txBody>
      </p:sp>
      <p:sp>
        <p:nvSpPr>
          <p:cNvPr id="229" name="Google Shape;229;p21"/>
          <p:cNvSpPr/>
          <p:nvPr/>
        </p:nvSpPr>
        <p:spPr>
          <a:xfrm>
            <a:off x="562356" y="925830"/>
            <a:ext cx="2228850" cy="1577340"/>
          </a:xfrm>
          <a:prstGeom prst="roundRect">
            <a:avLst>
              <a:gd fmla="val 3043"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21"/>
          <p:cNvSpPr/>
          <p:nvPr/>
        </p:nvSpPr>
        <p:spPr>
          <a:xfrm>
            <a:off x="788670" y="1179576"/>
            <a:ext cx="1783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800"/>
              <a:buFont typeface="Arial"/>
              <a:buNone/>
            </a:pPr>
            <a:r>
              <a:rPr b="1" i="0" lang="fr" sz="1800" u="none" cap="none" strike="noStrike">
                <a:solidFill>
                  <a:srgbClr val="1F4E79"/>
                </a:solidFill>
                <a:latin typeface="Arial"/>
                <a:ea typeface="Arial"/>
                <a:cs typeface="Arial"/>
                <a:sym typeface="Arial"/>
              </a:rPr>
              <a:t>25 concepts</a:t>
            </a:r>
            <a:endParaRPr b="0" i="0" sz="1800" u="none" cap="none" strike="noStrike">
              <a:solidFill>
                <a:schemeClr val="dk1"/>
              </a:solidFill>
              <a:latin typeface="Arial"/>
              <a:ea typeface="Arial"/>
              <a:cs typeface="Arial"/>
              <a:sym typeface="Arial"/>
            </a:endParaRPr>
          </a:p>
        </p:txBody>
      </p:sp>
      <p:sp>
        <p:nvSpPr>
          <p:cNvPr id="231" name="Google Shape;231;p21"/>
          <p:cNvSpPr/>
          <p:nvPr/>
        </p:nvSpPr>
        <p:spPr>
          <a:xfrm>
            <a:off x="720090" y="1563624"/>
            <a:ext cx="1920240" cy="6309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token • softmax • attention • Q/K/V • LoRA • QLoRA • quantification • surapprentissage…</a:t>
            </a:r>
            <a:endParaRPr b="0" i="0" sz="800" u="none" cap="none" strike="noStrike">
              <a:solidFill>
                <a:schemeClr val="dk1"/>
              </a:solidFill>
              <a:latin typeface="Arial"/>
              <a:ea typeface="Arial"/>
              <a:cs typeface="Arial"/>
              <a:sym typeface="Arial"/>
            </a:endParaRPr>
          </a:p>
        </p:txBody>
      </p:sp>
      <p:sp>
        <p:nvSpPr>
          <p:cNvPr id="232" name="Google Shape;232;p21"/>
          <p:cNvSpPr/>
          <p:nvPr/>
        </p:nvSpPr>
        <p:spPr>
          <a:xfrm>
            <a:off x="2928366" y="1474470"/>
            <a:ext cx="356616" cy="397764"/>
          </a:xfrm>
          <a:prstGeom prst="chevron">
            <a:avLst>
              <a:gd fmla="val 50000" name="adj"/>
            </a:avLst>
          </a:prstGeom>
          <a:solidFill>
            <a:srgbClr val="B8C1CC"/>
          </a:solidFill>
          <a:ln cap="flat" cmpd="sng" w="12700">
            <a:solidFill>
              <a:srgbClr val="B8C1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3" name="Google Shape;233;p21"/>
          <p:cNvSpPr/>
          <p:nvPr/>
        </p:nvSpPr>
        <p:spPr>
          <a:xfrm>
            <a:off x="3415284" y="925830"/>
            <a:ext cx="2228850" cy="1577340"/>
          </a:xfrm>
          <a:prstGeom prst="roundRect">
            <a:avLst>
              <a:gd fmla="val 3043"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21"/>
          <p:cNvSpPr/>
          <p:nvPr/>
        </p:nvSpPr>
        <p:spPr>
          <a:xfrm>
            <a:off x="3634740" y="1179576"/>
            <a:ext cx="1783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1800"/>
              <a:buFont typeface="Arial"/>
              <a:buNone/>
            </a:pPr>
            <a:r>
              <a:rPr b="1" i="0" lang="fr" sz="1800" u="none" cap="none" strike="noStrike">
                <a:solidFill>
                  <a:srgbClr val="0E7C7B"/>
                </a:solidFill>
                <a:latin typeface="Arial"/>
                <a:ea typeface="Arial"/>
                <a:cs typeface="Arial"/>
                <a:sym typeface="Arial"/>
              </a:rPr>
              <a:t>20 formulations</a:t>
            </a:r>
            <a:endParaRPr b="0" i="0" sz="1800" u="none" cap="none" strike="noStrike">
              <a:solidFill>
                <a:schemeClr val="dk1"/>
              </a:solidFill>
              <a:latin typeface="Arial"/>
              <a:ea typeface="Arial"/>
              <a:cs typeface="Arial"/>
              <a:sym typeface="Arial"/>
            </a:endParaRPr>
          </a:p>
        </p:txBody>
      </p:sp>
      <p:sp>
        <p:nvSpPr>
          <p:cNvPr id="235" name="Google Shape;235;p21"/>
          <p:cNvSpPr/>
          <p:nvPr/>
        </p:nvSpPr>
        <p:spPr>
          <a:xfrm>
            <a:off x="3634740" y="1556766"/>
            <a:ext cx="1783080" cy="6446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 Explique… »</a:t>
            </a:r>
            <a:endParaRPr b="0" i="0" sz="8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 À quoi sert… »</a:t>
            </a:r>
            <a:endParaRPr b="0" i="0" sz="8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 Donne un exemple… »</a:t>
            </a:r>
            <a:endParaRPr b="0" i="0" sz="8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 Fais une fiche de révision… »</a:t>
            </a:r>
            <a:endParaRPr b="0" i="0" sz="800" u="none" cap="none" strike="noStrike">
              <a:solidFill>
                <a:schemeClr val="dk1"/>
              </a:solidFill>
              <a:latin typeface="Arial"/>
              <a:ea typeface="Arial"/>
              <a:cs typeface="Arial"/>
              <a:sym typeface="Arial"/>
            </a:endParaRPr>
          </a:p>
        </p:txBody>
      </p:sp>
      <p:sp>
        <p:nvSpPr>
          <p:cNvPr id="236" name="Google Shape;236;p21"/>
          <p:cNvSpPr/>
          <p:nvPr/>
        </p:nvSpPr>
        <p:spPr>
          <a:xfrm>
            <a:off x="5795010" y="1474470"/>
            <a:ext cx="356616" cy="397764"/>
          </a:xfrm>
          <a:prstGeom prst="chevron">
            <a:avLst>
              <a:gd fmla="val 50000" name="adj"/>
            </a:avLst>
          </a:prstGeom>
          <a:solidFill>
            <a:srgbClr val="B8C1CC"/>
          </a:solidFill>
          <a:ln cap="flat" cmpd="sng" w="12700">
            <a:solidFill>
              <a:srgbClr val="B8C1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1"/>
          <p:cNvSpPr/>
          <p:nvPr/>
        </p:nvSpPr>
        <p:spPr>
          <a:xfrm>
            <a:off x="6275070" y="925830"/>
            <a:ext cx="2228850" cy="1577340"/>
          </a:xfrm>
          <a:prstGeom prst="roundRect">
            <a:avLst>
              <a:gd fmla="val 3043" name="adj"/>
            </a:avLst>
          </a:prstGeom>
          <a:solidFill>
            <a:srgbClr val="FFF2E6"/>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p21"/>
          <p:cNvSpPr/>
          <p:nvPr/>
        </p:nvSpPr>
        <p:spPr>
          <a:xfrm>
            <a:off x="6480810" y="1179576"/>
            <a:ext cx="181737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7E22"/>
              </a:buClr>
              <a:buSzPts val="1800"/>
              <a:buFont typeface="Arial"/>
              <a:buNone/>
            </a:pPr>
            <a:r>
              <a:rPr b="1" i="0" lang="fr" sz="1800" u="none" cap="none" strike="noStrike">
                <a:solidFill>
                  <a:srgbClr val="E67E22"/>
                </a:solidFill>
                <a:latin typeface="Arial"/>
                <a:ea typeface="Arial"/>
                <a:cs typeface="Arial"/>
                <a:sym typeface="Arial"/>
              </a:rPr>
              <a:t>500 exemples</a:t>
            </a:r>
            <a:endParaRPr b="0" i="0" sz="1800" u="none" cap="none" strike="noStrike">
              <a:solidFill>
                <a:schemeClr val="dk1"/>
              </a:solidFill>
              <a:latin typeface="Arial"/>
              <a:ea typeface="Arial"/>
              <a:cs typeface="Arial"/>
              <a:sym typeface="Arial"/>
            </a:endParaRPr>
          </a:p>
        </p:txBody>
      </p:sp>
      <p:sp>
        <p:nvSpPr>
          <p:cNvPr id="239" name="Google Shape;239;p21"/>
          <p:cNvSpPr/>
          <p:nvPr/>
        </p:nvSpPr>
        <p:spPr>
          <a:xfrm>
            <a:off x="6480810" y="1632204"/>
            <a:ext cx="181737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939"/>
              </a:buClr>
              <a:buSzPts val="800"/>
              <a:buFont typeface="Arial"/>
              <a:buNone/>
            </a:pPr>
            <a:r>
              <a:rPr b="0" i="0" lang="fr" sz="800" u="none" cap="none" strike="noStrike">
                <a:solidFill>
                  <a:srgbClr val="1D2939"/>
                </a:solidFill>
                <a:latin typeface="Arial"/>
                <a:ea typeface="Arial"/>
                <a:cs typeface="Arial"/>
                <a:sym typeface="Arial"/>
              </a:rPr>
              <a:t>question + référence + mots-clés + prompt + completion</a:t>
            </a:r>
            <a:endParaRPr b="0" i="0" sz="800" u="none" cap="none" strike="noStrike">
              <a:solidFill>
                <a:schemeClr val="dk1"/>
              </a:solidFill>
              <a:latin typeface="Arial"/>
              <a:ea typeface="Arial"/>
              <a:cs typeface="Arial"/>
              <a:sym typeface="Arial"/>
            </a:endParaRPr>
          </a:p>
        </p:txBody>
      </p:sp>
      <p:sp>
        <p:nvSpPr>
          <p:cNvPr id="240" name="Google Shape;240;p21"/>
          <p:cNvSpPr/>
          <p:nvPr/>
        </p:nvSpPr>
        <p:spPr>
          <a:xfrm>
            <a:off x="582930" y="2777490"/>
            <a:ext cx="13030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Répartition</a:t>
            </a:r>
            <a:endParaRPr b="0" i="0" sz="1200" u="none" cap="none" strike="noStrike">
              <a:solidFill>
                <a:schemeClr val="dk1"/>
              </a:solidFill>
              <a:latin typeface="Arial"/>
              <a:ea typeface="Arial"/>
              <a:cs typeface="Arial"/>
              <a:sym typeface="Arial"/>
            </a:endParaRPr>
          </a:p>
        </p:txBody>
      </p:sp>
      <p:sp>
        <p:nvSpPr>
          <p:cNvPr id="241" name="Google Shape;241;p21"/>
          <p:cNvSpPr/>
          <p:nvPr/>
        </p:nvSpPr>
        <p:spPr>
          <a:xfrm>
            <a:off x="589788" y="3120390"/>
            <a:ext cx="1474470" cy="260604"/>
          </a:xfrm>
          <a:prstGeom prst="roundRect">
            <a:avLst>
              <a:gd fmla="val 21053" name="adj"/>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2" name="Google Shape;242;p21"/>
          <p:cNvSpPr/>
          <p:nvPr/>
        </p:nvSpPr>
        <p:spPr>
          <a:xfrm>
            <a:off x="617220" y="3182112"/>
            <a:ext cx="141960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fr" sz="800" u="none" cap="none" strike="noStrike">
                <a:solidFill>
                  <a:srgbClr val="FFFFFF"/>
                </a:solidFill>
                <a:latin typeface="Arial"/>
                <a:ea typeface="Arial"/>
                <a:cs typeface="Arial"/>
                <a:sym typeface="Arial"/>
              </a:rPr>
              <a:t>TRAIN 350</a:t>
            </a:r>
            <a:endParaRPr b="0" i="0" sz="800" u="none" cap="none" strike="noStrike">
              <a:solidFill>
                <a:schemeClr val="dk1"/>
              </a:solidFill>
              <a:latin typeface="Arial"/>
              <a:ea typeface="Arial"/>
              <a:cs typeface="Arial"/>
              <a:sym typeface="Arial"/>
            </a:endParaRPr>
          </a:p>
        </p:txBody>
      </p:sp>
      <p:sp>
        <p:nvSpPr>
          <p:cNvPr id="243" name="Google Shape;243;p21"/>
          <p:cNvSpPr/>
          <p:nvPr/>
        </p:nvSpPr>
        <p:spPr>
          <a:xfrm>
            <a:off x="2208276" y="3120390"/>
            <a:ext cx="1611630" cy="260604"/>
          </a:xfrm>
          <a:prstGeom prst="roundRect">
            <a:avLst>
              <a:gd fmla="val 21053" name="adj"/>
            </a:avLst>
          </a:prstGeom>
          <a:solidFill>
            <a:srgbClr val="0E7C7B"/>
          </a:solidFill>
          <a:ln cap="flat" cmpd="sng" w="12700">
            <a:solidFill>
              <a:srgbClr val="0E7C7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1"/>
          <p:cNvSpPr/>
          <p:nvPr/>
        </p:nvSpPr>
        <p:spPr>
          <a:xfrm>
            <a:off x="2235708" y="3182112"/>
            <a:ext cx="155676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fr" sz="800" u="none" cap="none" strike="noStrike">
                <a:solidFill>
                  <a:srgbClr val="FFFFFF"/>
                </a:solidFill>
                <a:latin typeface="Arial"/>
                <a:ea typeface="Arial"/>
                <a:cs typeface="Arial"/>
                <a:sym typeface="Arial"/>
              </a:rPr>
              <a:t>VALIDATION 75</a:t>
            </a:r>
            <a:endParaRPr b="0" i="0" sz="800" u="none" cap="none" strike="noStrike">
              <a:solidFill>
                <a:schemeClr val="dk1"/>
              </a:solidFill>
              <a:latin typeface="Arial"/>
              <a:ea typeface="Arial"/>
              <a:cs typeface="Arial"/>
              <a:sym typeface="Arial"/>
            </a:endParaRPr>
          </a:p>
        </p:txBody>
      </p:sp>
      <p:sp>
        <p:nvSpPr>
          <p:cNvPr id="245" name="Google Shape;245;p21"/>
          <p:cNvSpPr/>
          <p:nvPr/>
        </p:nvSpPr>
        <p:spPr>
          <a:xfrm>
            <a:off x="3963924" y="3120390"/>
            <a:ext cx="1371600" cy="260604"/>
          </a:xfrm>
          <a:prstGeom prst="roundRect">
            <a:avLst>
              <a:gd fmla="val 21053" name="adj"/>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6" name="Google Shape;246;p21"/>
          <p:cNvSpPr/>
          <p:nvPr/>
        </p:nvSpPr>
        <p:spPr>
          <a:xfrm>
            <a:off x="3991356" y="3182112"/>
            <a:ext cx="131673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fr" sz="800" u="none" cap="none" strike="noStrike">
                <a:solidFill>
                  <a:srgbClr val="FFFFFF"/>
                </a:solidFill>
                <a:latin typeface="Arial"/>
                <a:ea typeface="Arial"/>
                <a:cs typeface="Arial"/>
                <a:sym typeface="Arial"/>
              </a:rPr>
              <a:t>TEST 75</a:t>
            </a:r>
            <a:endParaRPr b="0" i="0" sz="800" u="none" cap="none" strike="noStrike">
              <a:solidFill>
                <a:schemeClr val="dk1"/>
              </a:solidFill>
              <a:latin typeface="Arial"/>
              <a:ea typeface="Arial"/>
              <a:cs typeface="Arial"/>
              <a:sym typeface="Arial"/>
            </a:endParaRPr>
          </a:p>
        </p:txBody>
      </p:sp>
      <p:sp>
        <p:nvSpPr>
          <p:cNvPr id="247" name="Google Shape;247;p21"/>
          <p:cNvSpPr/>
          <p:nvPr/>
        </p:nvSpPr>
        <p:spPr>
          <a:xfrm>
            <a:off x="5657850" y="2825496"/>
            <a:ext cx="2846070" cy="1110996"/>
          </a:xfrm>
          <a:prstGeom prst="roundRect">
            <a:avLst>
              <a:gd fmla="val 4938" name="adj"/>
            </a:avLst>
          </a:prstGeom>
          <a:solidFill>
            <a:srgbClr val="FDECEC"/>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21"/>
          <p:cNvSpPr/>
          <p:nvPr/>
        </p:nvSpPr>
        <p:spPr>
          <a:xfrm>
            <a:off x="5657850" y="2825496"/>
            <a:ext cx="48006" cy="111099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p21"/>
          <p:cNvSpPr/>
          <p:nvPr/>
        </p:nvSpPr>
        <p:spPr>
          <a:xfrm>
            <a:off x="5808726" y="2948940"/>
            <a:ext cx="26060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Limite méthodologique importante</a:t>
            </a:r>
            <a:endParaRPr b="0" i="0" sz="1100" u="none" cap="none" strike="noStrike">
              <a:solidFill>
                <a:schemeClr val="dk1"/>
              </a:solidFill>
              <a:latin typeface="Arial"/>
              <a:ea typeface="Arial"/>
              <a:cs typeface="Arial"/>
              <a:sym typeface="Arial"/>
            </a:endParaRPr>
          </a:p>
        </p:txBody>
      </p:sp>
      <p:sp>
        <p:nvSpPr>
          <p:cNvPr id="250" name="Google Shape;250;p21"/>
          <p:cNvSpPr/>
          <p:nvPr/>
        </p:nvSpPr>
        <p:spPr>
          <a:xfrm>
            <a:off x="5808726" y="3209544"/>
            <a:ext cx="2612898" cy="63093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Les questions varient, mais la réponse de référence d’un même concept reste souvent presque identique. Le test standard mesure donc fortement l’adaptation au dataset et peut surestimer la généralisation.</a:t>
            </a:r>
            <a:endParaRPr b="0" i="0" sz="900" u="none" cap="none" strike="noStrike">
              <a:solidFill>
                <a:schemeClr val="dk1"/>
              </a:solidFill>
              <a:latin typeface="Arial"/>
              <a:ea typeface="Arial"/>
              <a:cs typeface="Arial"/>
              <a:sym typeface="Arial"/>
            </a:endParaRPr>
          </a:p>
        </p:txBody>
      </p:sp>
      <p:sp>
        <p:nvSpPr>
          <p:cNvPr id="251" name="Google Shape;251;p21"/>
          <p:cNvSpPr/>
          <p:nvPr/>
        </p:nvSpPr>
        <p:spPr>
          <a:xfrm>
            <a:off x="617220" y="3737610"/>
            <a:ext cx="486918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Rôle des splits : train = apprendre • validation = surveiller/choisir • test = mesurer sans apprendre dessus</a:t>
            </a:r>
            <a:endParaRPr b="0" i="0" sz="900" u="none" cap="none" strike="noStrike">
              <a:solidFill>
                <a:schemeClr val="dk1"/>
              </a:solidFill>
              <a:latin typeface="Arial"/>
              <a:ea typeface="Arial"/>
              <a:cs typeface="Arial"/>
              <a:sym typeface="Arial"/>
            </a:endParaRPr>
          </a:p>
        </p:txBody>
      </p:sp>
      <p:sp>
        <p:nvSpPr>
          <p:cNvPr id="252" name="Google Shape;252;p21"/>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6 / 20</a:t>
            </a:r>
            <a:endParaRPr b="0" i="0" sz="600" u="none" cap="none" strike="noStrike">
              <a:solidFill>
                <a:schemeClr val="dk1"/>
              </a:solidFill>
              <a:latin typeface="Arial"/>
              <a:ea typeface="Arial"/>
              <a:cs typeface="Arial"/>
              <a:sym typeface="Arial"/>
            </a:endParaRPr>
          </a:p>
        </p:txBody>
      </p:sp>
      <p:sp>
        <p:nvSpPr>
          <p:cNvPr id="253" name="Google Shape;253;p21"/>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2"/>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6. Architecture logicielle : ce qui a été mis dans chaque fichier</a:t>
            </a:r>
            <a:endParaRPr b="0" i="0" sz="1800" u="none" cap="none" strike="noStrike">
              <a:solidFill>
                <a:schemeClr val="dk1"/>
              </a:solidFill>
              <a:latin typeface="Arial"/>
              <a:ea typeface="Arial"/>
              <a:cs typeface="Arial"/>
              <a:sym typeface="Arial"/>
            </a:endParaRPr>
          </a:p>
        </p:txBody>
      </p:sp>
      <p:sp>
        <p:nvSpPr>
          <p:cNvPr id="260" name="Google Shape;260;p22"/>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Le notebook orchestre l’expérience ; les fonctions réutilisables sont placées dans src/nlp_tutor/.</a:t>
            </a:r>
            <a:endParaRPr b="0" i="0" sz="900" u="none" cap="none" strike="noStrike">
              <a:solidFill>
                <a:schemeClr val="dk1"/>
              </a:solidFill>
              <a:latin typeface="Arial"/>
              <a:ea typeface="Arial"/>
              <a:cs typeface="Arial"/>
              <a:sym typeface="Arial"/>
            </a:endParaRPr>
          </a:p>
        </p:txBody>
      </p:sp>
      <p:sp>
        <p:nvSpPr>
          <p:cNvPr id="261" name="Google Shape;261;p22"/>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22"/>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CODE</a:t>
            </a:r>
            <a:endParaRPr b="0" i="0" sz="700" u="none" cap="none" strike="noStrike">
              <a:solidFill>
                <a:schemeClr val="dk1"/>
              </a:solidFill>
              <a:latin typeface="Arial"/>
              <a:ea typeface="Arial"/>
              <a:cs typeface="Arial"/>
              <a:sym typeface="Arial"/>
            </a:endParaRPr>
          </a:p>
        </p:txBody>
      </p:sp>
      <p:sp>
        <p:nvSpPr>
          <p:cNvPr id="263" name="Google Shape;263;p22"/>
          <p:cNvSpPr/>
          <p:nvPr/>
        </p:nvSpPr>
        <p:spPr>
          <a:xfrm>
            <a:off x="562356" y="905256"/>
            <a:ext cx="3806190" cy="706374"/>
          </a:xfrm>
          <a:prstGeom prst="roundRect">
            <a:avLst>
              <a:gd fmla="val 7767"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4" name="Google Shape;264;p22"/>
          <p:cNvSpPr/>
          <p:nvPr/>
        </p:nvSpPr>
        <p:spPr>
          <a:xfrm>
            <a:off x="562356" y="905256"/>
            <a:ext cx="48006" cy="706374"/>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2"/>
          <p:cNvSpPr/>
          <p:nvPr/>
        </p:nvSpPr>
        <p:spPr>
          <a:xfrm>
            <a:off x="713232" y="1028700"/>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config.py</a:t>
            </a:r>
            <a:endParaRPr b="0" i="0" sz="1100" u="none" cap="none" strike="noStrike">
              <a:solidFill>
                <a:schemeClr val="dk1"/>
              </a:solidFill>
              <a:latin typeface="Arial"/>
              <a:ea typeface="Arial"/>
              <a:cs typeface="Arial"/>
              <a:sym typeface="Arial"/>
            </a:endParaRPr>
          </a:p>
        </p:txBody>
      </p:sp>
      <p:sp>
        <p:nvSpPr>
          <p:cNvPr id="266" name="Google Shape;266;p22"/>
          <p:cNvSpPr/>
          <p:nvPr/>
        </p:nvSpPr>
        <p:spPr>
          <a:xfrm>
            <a:off x="713232" y="1289304"/>
            <a:ext cx="3573018" cy="22631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MODEL_ID, SEED, SYSTEM_PROMPT</a:t>
            </a:r>
            <a:endParaRPr b="0" i="0" sz="900" u="none" cap="none" strike="noStrike">
              <a:solidFill>
                <a:schemeClr val="dk1"/>
              </a:solidFill>
              <a:latin typeface="Arial"/>
              <a:ea typeface="Arial"/>
              <a:cs typeface="Arial"/>
              <a:sym typeface="Arial"/>
            </a:endParaRPr>
          </a:p>
        </p:txBody>
      </p:sp>
      <p:sp>
        <p:nvSpPr>
          <p:cNvPr id="267" name="Google Shape;267;p22"/>
          <p:cNvSpPr/>
          <p:nvPr/>
        </p:nvSpPr>
        <p:spPr>
          <a:xfrm>
            <a:off x="4677156" y="905256"/>
            <a:ext cx="3806190" cy="706374"/>
          </a:xfrm>
          <a:prstGeom prst="roundRect">
            <a:avLst>
              <a:gd fmla="val 7767"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2"/>
          <p:cNvSpPr/>
          <p:nvPr/>
        </p:nvSpPr>
        <p:spPr>
          <a:xfrm>
            <a:off x="4677156" y="905256"/>
            <a:ext cx="48006" cy="706374"/>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22"/>
          <p:cNvSpPr/>
          <p:nvPr/>
        </p:nvSpPr>
        <p:spPr>
          <a:xfrm>
            <a:off x="4828032" y="1028700"/>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model.py</a:t>
            </a:r>
            <a:endParaRPr b="0" i="0" sz="1100" u="none" cap="none" strike="noStrike">
              <a:solidFill>
                <a:schemeClr val="dk1"/>
              </a:solidFill>
              <a:latin typeface="Arial"/>
              <a:ea typeface="Arial"/>
              <a:cs typeface="Arial"/>
              <a:sym typeface="Arial"/>
            </a:endParaRPr>
          </a:p>
        </p:txBody>
      </p:sp>
      <p:sp>
        <p:nvSpPr>
          <p:cNvPr id="270" name="Google Shape;270;p22"/>
          <p:cNvSpPr/>
          <p:nvPr/>
        </p:nvSpPr>
        <p:spPr>
          <a:xfrm>
            <a:off x="4828032" y="1289304"/>
            <a:ext cx="3573018" cy="22631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tokenizer, modèle de base, QLoRA, adaptateur</a:t>
            </a:r>
            <a:endParaRPr b="0" i="0" sz="900" u="none" cap="none" strike="noStrike">
              <a:solidFill>
                <a:schemeClr val="dk1"/>
              </a:solidFill>
              <a:latin typeface="Arial"/>
              <a:ea typeface="Arial"/>
              <a:cs typeface="Arial"/>
              <a:sym typeface="Arial"/>
            </a:endParaRPr>
          </a:p>
        </p:txBody>
      </p:sp>
      <p:sp>
        <p:nvSpPr>
          <p:cNvPr id="271" name="Google Shape;271;p22"/>
          <p:cNvSpPr/>
          <p:nvPr/>
        </p:nvSpPr>
        <p:spPr>
          <a:xfrm>
            <a:off x="562356" y="1789938"/>
            <a:ext cx="3806190" cy="706374"/>
          </a:xfrm>
          <a:prstGeom prst="roundRect">
            <a:avLst>
              <a:gd fmla="val 7767" name="adj"/>
            </a:avLst>
          </a:prstGeom>
          <a:solidFill>
            <a:srgbClr val="EAF2F8"/>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2" name="Google Shape;272;p22"/>
          <p:cNvSpPr/>
          <p:nvPr/>
        </p:nvSpPr>
        <p:spPr>
          <a:xfrm>
            <a:off x="562356" y="1789938"/>
            <a:ext cx="48006" cy="706374"/>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22"/>
          <p:cNvSpPr/>
          <p:nvPr/>
        </p:nvSpPr>
        <p:spPr>
          <a:xfrm>
            <a:off x="713232" y="1913382"/>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generation.py</a:t>
            </a:r>
            <a:endParaRPr b="0" i="0" sz="1100" u="none" cap="none" strike="noStrike">
              <a:solidFill>
                <a:schemeClr val="dk1"/>
              </a:solidFill>
              <a:latin typeface="Arial"/>
              <a:ea typeface="Arial"/>
              <a:cs typeface="Arial"/>
              <a:sym typeface="Arial"/>
            </a:endParaRPr>
          </a:p>
        </p:txBody>
      </p:sp>
      <p:sp>
        <p:nvSpPr>
          <p:cNvPr id="274" name="Google Shape;274;p22"/>
          <p:cNvSpPr/>
          <p:nvPr/>
        </p:nvSpPr>
        <p:spPr>
          <a:xfrm>
            <a:off x="713232" y="2173986"/>
            <a:ext cx="3573018" cy="22631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chat template, generate(), stratégies de décodage</a:t>
            </a:r>
            <a:endParaRPr b="0" i="0" sz="900" u="none" cap="none" strike="noStrike">
              <a:solidFill>
                <a:schemeClr val="dk1"/>
              </a:solidFill>
              <a:latin typeface="Arial"/>
              <a:ea typeface="Arial"/>
              <a:cs typeface="Arial"/>
              <a:sym typeface="Arial"/>
            </a:endParaRPr>
          </a:p>
        </p:txBody>
      </p:sp>
      <p:sp>
        <p:nvSpPr>
          <p:cNvPr id="275" name="Google Shape;275;p22"/>
          <p:cNvSpPr/>
          <p:nvPr/>
        </p:nvSpPr>
        <p:spPr>
          <a:xfrm>
            <a:off x="4677156" y="1789938"/>
            <a:ext cx="3806190" cy="706374"/>
          </a:xfrm>
          <a:prstGeom prst="roundRect">
            <a:avLst>
              <a:gd fmla="val 7767" name="adj"/>
            </a:avLst>
          </a:prstGeom>
          <a:solidFill>
            <a:srgbClr val="EAF2F8"/>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22"/>
          <p:cNvSpPr/>
          <p:nvPr/>
        </p:nvSpPr>
        <p:spPr>
          <a:xfrm>
            <a:off x="4677156" y="1789938"/>
            <a:ext cx="48006" cy="706374"/>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22"/>
          <p:cNvSpPr/>
          <p:nvPr/>
        </p:nvSpPr>
        <p:spPr>
          <a:xfrm>
            <a:off x="4828032" y="1913382"/>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dataset.py</a:t>
            </a:r>
            <a:endParaRPr b="0" i="0" sz="1100" u="none" cap="none" strike="noStrike">
              <a:solidFill>
                <a:schemeClr val="dk1"/>
              </a:solidFill>
              <a:latin typeface="Arial"/>
              <a:ea typeface="Arial"/>
              <a:cs typeface="Arial"/>
              <a:sym typeface="Arial"/>
            </a:endParaRPr>
          </a:p>
        </p:txBody>
      </p:sp>
      <p:sp>
        <p:nvSpPr>
          <p:cNvPr id="278" name="Google Shape;278;p22"/>
          <p:cNvSpPr/>
          <p:nvPr/>
        </p:nvSpPr>
        <p:spPr>
          <a:xfrm>
            <a:off x="4828032" y="2173986"/>
            <a:ext cx="3573018" cy="22631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concepts, templates, splits 350/75/75</a:t>
            </a:r>
            <a:endParaRPr b="0" i="0" sz="900" u="none" cap="none" strike="noStrike">
              <a:solidFill>
                <a:schemeClr val="dk1"/>
              </a:solidFill>
              <a:latin typeface="Arial"/>
              <a:ea typeface="Arial"/>
              <a:cs typeface="Arial"/>
              <a:sym typeface="Arial"/>
            </a:endParaRPr>
          </a:p>
        </p:txBody>
      </p:sp>
      <p:sp>
        <p:nvSpPr>
          <p:cNvPr id="279" name="Google Shape;279;p22"/>
          <p:cNvSpPr/>
          <p:nvPr/>
        </p:nvSpPr>
        <p:spPr>
          <a:xfrm>
            <a:off x="562356" y="2674620"/>
            <a:ext cx="3806190" cy="706374"/>
          </a:xfrm>
          <a:prstGeom prst="roundRect">
            <a:avLst>
              <a:gd fmla="val 7767"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2"/>
          <p:cNvSpPr/>
          <p:nvPr/>
        </p:nvSpPr>
        <p:spPr>
          <a:xfrm>
            <a:off x="562356" y="2674620"/>
            <a:ext cx="48006" cy="706374"/>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22"/>
          <p:cNvSpPr/>
          <p:nvPr/>
        </p:nvSpPr>
        <p:spPr>
          <a:xfrm>
            <a:off x="713232" y="279806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training.py</a:t>
            </a:r>
            <a:endParaRPr b="0" i="0" sz="1100" u="none" cap="none" strike="noStrike">
              <a:solidFill>
                <a:schemeClr val="dk1"/>
              </a:solidFill>
              <a:latin typeface="Arial"/>
              <a:ea typeface="Arial"/>
              <a:cs typeface="Arial"/>
              <a:sym typeface="Arial"/>
            </a:endParaRPr>
          </a:p>
        </p:txBody>
      </p:sp>
      <p:sp>
        <p:nvSpPr>
          <p:cNvPr id="282" name="Google Shape;282;p22"/>
          <p:cNvSpPr/>
          <p:nvPr/>
        </p:nvSpPr>
        <p:spPr>
          <a:xfrm>
            <a:off x="713232" y="3058668"/>
            <a:ext cx="3573018" cy="22631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BitsAndBytesConfig, LoRA, SFTConfig, SFTTrainer</a:t>
            </a:r>
            <a:endParaRPr b="0" i="0" sz="900" u="none" cap="none" strike="noStrike">
              <a:solidFill>
                <a:schemeClr val="dk1"/>
              </a:solidFill>
              <a:latin typeface="Arial"/>
              <a:ea typeface="Arial"/>
              <a:cs typeface="Arial"/>
              <a:sym typeface="Arial"/>
            </a:endParaRPr>
          </a:p>
        </p:txBody>
      </p:sp>
      <p:sp>
        <p:nvSpPr>
          <p:cNvPr id="283" name="Google Shape;283;p22"/>
          <p:cNvSpPr/>
          <p:nvPr/>
        </p:nvSpPr>
        <p:spPr>
          <a:xfrm>
            <a:off x="4677156" y="2674620"/>
            <a:ext cx="3806190" cy="706374"/>
          </a:xfrm>
          <a:prstGeom prst="roundRect">
            <a:avLst>
              <a:gd fmla="val 7767"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22"/>
          <p:cNvSpPr/>
          <p:nvPr/>
        </p:nvSpPr>
        <p:spPr>
          <a:xfrm>
            <a:off x="4677156" y="2674620"/>
            <a:ext cx="48006" cy="706374"/>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22"/>
          <p:cNvSpPr/>
          <p:nvPr/>
        </p:nvSpPr>
        <p:spPr>
          <a:xfrm>
            <a:off x="4828032" y="279806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evaluation.py</a:t>
            </a:r>
            <a:endParaRPr b="0" i="0" sz="1100" u="none" cap="none" strike="noStrike">
              <a:solidFill>
                <a:schemeClr val="dk1"/>
              </a:solidFill>
              <a:latin typeface="Arial"/>
              <a:ea typeface="Arial"/>
              <a:cs typeface="Arial"/>
              <a:sym typeface="Arial"/>
            </a:endParaRPr>
          </a:p>
        </p:txBody>
      </p:sp>
      <p:sp>
        <p:nvSpPr>
          <p:cNvPr id="286" name="Google Shape;286;p22"/>
          <p:cNvSpPr/>
          <p:nvPr/>
        </p:nvSpPr>
        <p:spPr>
          <a:xfrm>
            <a:off x="4828032" y="3058668"/>
            <a:ext cx="3573018" cy="22631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ROUGE-L, keyword coverage, CSV</a:t>
            </a:r>
            <a:endParaRPr b="0" i="0" sz="900" u="none" cap="none" strike="noStrike">
              <a:solidFill>
                <a:schemeClr val="dk1"/>
              </a:solidFill>
              <a:latin typeface="Arial"/>
              <a:ea typeface="Arial"/>
              <a:cs typeface="Arial"/>
              <a:sym typeface="Arial"/>
            </a:endParaRPr>
          </a:p>
        </p:txBody>
      </p:sp>
      <p:sp>
        <p:nvSpPr>
          <p:cNvPr id="287" name="Google Shape;287;p22"/>
          <p:cNvSpPr/>
          <p:nvPr/>
        </p:nvSpPr>
        <p:spPr>
          <a:xfrm>
            <a:off x="562356" y="3559302"/>
            <a:ext cx="3806190" cy="706374"/>
          </a:xfrm>
          <a:prstGeom prst="roundRect">
            <a:avLst>
              <a:gd fmla="val 7767" name="adj"/>
            </a:avLst>
          </a:prstGeom>
          <a:solidFill>
            <a:srgbClr val="EAF2F8"/>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8" name="Google Shape;288;p22"/>
          <p:cNvSpPr/>
          <p:nvPr/>
        </p:nvSpPr>
        <p:spPr>
          <a:xfrm>
            <a:off x="562356" y="3559302"/>
            <a:ext cx="48006" cy="706374"/>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9" name="Google Shape;289;p22"/>
          <p:cNvSpPr/>
          <p:nvPr/>
        </p:nvSpPr>
        <p:spPr>
          <a:xfrm>
            <a:off x="713232" y="3682746"/>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app/app.py</a:t>
            </a:r>
            <a:endParaRPr b="0" i="0" sz="1100" u="none" cap="none" strike="noStrike">
              <a:solidFill>
                <a:schemeClr val="dk1"/>
              </a:solidFill>
              <a:latin typeface="Arial"/>
              <a:ea typeface="Arial"/>
              <a:cs typeface="Arial"/>
              <a:sym typeface="Arial"/>
            </a:endParaRPr>
          </a:p>
        </p:txBody>
      </p:sp>
      <p:sp>
        <p:nvSpPr>
          <p:cNvPr id="290" name="Google Shape;290;p22"/>
          <p:cNvSpPr/>
          <p:nvPr/>
        </p:nvSpPr>
        <p:spPr>
          <a:xfrm>
            <a:off x="713232" y="3943350"/>
            <a:ext cx="3573018" cy="22631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chargement final + interface Gradio</a:t>
            </a:r>
            <a:endParaRPr b="0" i="0" sz="900" u="none" cap="none" strike="noStrike">
              <a:solidFill>
                <a:schemeClr val="dk1"/>
              </a:solidFill>
              <a:latin typeface="Arial"/>
              <a:ea typeface="Arial"/>
              <a:cs typeface="Arial"/>
              <a:sym typeface="Arial"/>
            </a:endParaRPr>
          </a:p>
        </p:txBody>
      </p:sp>
      <p:sp>
        <p:nvSpPr>
          <p:cNvPr id="291" name="Google Shape;291;p22"/>
          <p:cNvSpPr/>
          <p:nvPr/>
        </p:nvSpPr>
        <p:spPr>
          <a:xfrm>
            <a:off x="4677156" y="3559302"/>
            <a:ext cx="3806190" cy="706374"/>
          </a:xfrm>
          <a:prstGeom prst="roundRect">
            <a:avLst>
              <a:gd fmla="val 7767" name="adj"/>
            </a:avLst>
          </a:prstGeom>
          <a:solidFill>
            <a:srgbClr val="EAF2F8"/>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22"/>
          <p:cNvSpPr/>
          <p:nvPr/>
        </p:nvSpPr>
        <p:spPr>
          <a:xfrm>
            <a:off x="4677156" y="3559302"/>
            <a:ext cx="48006" cy="706374"/>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22"/>
          <p:cNvSpPr/>
          <p:nvPr/>
        </p:nvSpPr>
        <p:spPr>
          <a:xfrm>
            <a:off x="4828032" y="3682746"/>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agent.ipynb</a:t>
            </a:r>
            <a:endParaRPr b="0" i="0" sz="1100" u="none" cap="none" strike="noStrike">
              <a:solidFill>
                <a:schemeClr val="dk1"/>
              </a:solidFill>
              <a:latin typeface="Arial"/>
              <a:ea typeface="Arial"/>
              <a:cs typeface="Arial"/>
              <a:sym typeface="Arial"/>
            </a:endParaRPr>
          </a:p>
        </p:txBody>
      </p:sp>
      <p:sp>
        <p:nvSpPr>
          <p:cNvPr id="294" name="Google Shape;294;p22"/>
          <p:cNvSpPr/>
          <p:nvPr/>
        </p:nvSpPr>
        <p:spPr>
          <a:xfrm>
            <a:off x="4828032" y="3943350"/>
            <a:ext cx="3573018" cy="22631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expérience complète et résultats</a:t>
            </a:r>
            <a:endParaRPr b="0" i="0" sz="900" u="none" cap="none" strike="noStrike">
              <a:solidFill>
                <a:schemeClr val="dk1"/>
              </a:solidFill>
              <a:latin typeface="Arial"/>
              <a:ea typeface="Arial"/>
              <a:cs typeface="Arial"/>
              <a:sym typeface="Arial"/>
            </a:endParaRPr>
          </a:p>
        </p:txBody>
      </p:sp>
      <p:sp>
        <p:nvSpPr>
          <p:cNvPr id="295" name="Google Shape;295;p22"/>
          <p:cNvSpPr/>
          <p:nvPr/>
        </p:nvSpPr>
        <p:spPr>
          <a:xfrm>
            <a:off x="637794" y="4526280"/>
            <a:ext cx="7818120"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Pourquoi cette séparation ?  →  lisibilité • réutilisation • reproductibilité • application indépendante du notebook</a:t>
            </a:r>
            <a:endParaRPr b="0" i="0" sz="1000" u="none" cap="none" strike="noStrike">
              <a:solidFill>
                <a:schemeClr val="dk1"/>
              </a:solidFill>
              <a:latin typeface="Arial"/>
              <a:ea typeface="Arial"/>
              <a:cs typeface="Arial"/>
              <a:sym typeface="Arial"/>
            </a:endParaRPr>
          </a:p>
        </p:txBody>
      </p:sp>
      <p:sp>
        <p:nvSpPr>
          <p:cNvPr id="296" name="Google Shape;296;p22"/>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7 / 20</a:t>
            </a:r>
            <a:endParaRPr b="0" i="0" sz="600" u="none" cap="none" strike="noStrike">
              <a:solidFill>
                <a:schemeClr val="dk1"/>
              </a:solidFill>
              <a:latin typeface="Arial"/>
              <a:ea typeface="Arial"/>
              <a:cs typeface="Arial"/>
              <a:sym typeface="Arial"/>
            </a:endParaRPr>
          </a:p>
        </p:txBody>
      </p:sp>
      <p:sp>
        <p:nvSpPr>
          <p:cNvPr id="297" name="Google Shape;297;p22"/>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3"/>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7. Pourquoi QLoRA ?</a:t>
            </a:r>
            <a:endParaRPr b="0" i="0" sz="1800" u="none" cap="none" strike="noStrike">
              <a:solidFill>
                <a:schemeClr val="dk1"/>
              </a:solidFill>
              <a:latin typeface="Arial"/>
              <a:ea typeface="Arial"/>
              <a:cs typeface="Arial"/>
              <a:sym typeface="Arial"/>
            </a:endParaRPr>
          </a:p>
        </p:txBody>
      </p:sp>
      <p:sp>
        <p:nvSpPr>
          <p:cNvPr id="304" name="Google Shape;304;p23"/>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Spécialiser le modèle sans réentraîner ses 1,56 milliard de paramètres.</a:t>
            </a:r>
            <a:endParaRPr b="0" i="0" sz="900" u="none" cap="none" strike="noStrike">
              <a:solidFill>
                <a:schemeClr val="dk1"/>
              </a:solidFill>
              <a:latin typeface="Arial"/>
              <a:ea typeface="Arial"/>
              <a:cs typeface="Arial"/>
              <a:sym typeface="Arial"/>
            </a:endParaRPr>
          </a:p>
        </p:txBody>
      </p:sp>
      <p:sp>
        <p:nvSpPr>
          <p:cNvPr id="305" name="Google Shape;305;p23"/>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6" name="Google Shape;306;p23"/>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ADAPTATION</a:t>
            </a:r>
            <a:endParaRPr b="0" i="0" sz="700" u="none" cap="none" strike="noStrike">
              <a:solidFill>
                <a:schemeClr val="dk1"/>
              </a:solidFill>
              <a:latin typeface="Arial"/>
              <a:ea typeface="Arial"/>
              <a:cs typeface="Arial"/>
              <a:sym typeface="Arial"/>
            </a:endParaRPr>
          </a:p>
        </p:txBody>
      </p:sp>
      <p:sp>
        <p:nvSpPr>
          <p:cNvPr id="307" name="Google Shape;307;p23"/>
          <p:cNvSpPr/>
          <p:nvPr/>
        </p:nvSpPr>
        <p:spPr>
          <a:xfrm>
            <a:off x="562356" y="925830"/>
            <a:ext cx="2434590" cy="1543050"/>
          </a:xfrm>
          <a:prstGeom prst="roundRect">
            <a:avLst>
              <a:gd fmla="val 3556"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8" name="Google Shape;308;p23"/>
          <p:cNvSpPr/>
          <p:nvPr/>
        </p:nvSpPr>
        <p:spPr>
          <a:xfrm>
            <a:off x="562356" y="925830"/>
            <a:ext cx="48006" cy="154305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9" name="Google Shape;309;p23"/>
          <p:cNvSpPr/>
          <p:nvPr/>
        </p:nvSpPr>
        <p:spPr>
          <a:xfrm>
            <a:off x="713232" y="1049274"/>
            <a:ext cx="21945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Quantification 4 bits</a:t>
            </a:r>
            <a:endParaRPr b="0" i="0" sz="1100" u="none" cap="none" strike="noStrike">
              <a:solidFill>
                <a:schemeClr val="dk1"/>
              </a:solidFill>
              <a:latin typeface="Arial"/>
              <a:ea typeface="Arial"/>
              <a:cs typeface="Arial"/>
              <a:sym typeface="Arial"/>
            </a:endParaRPr>
          </a:p>
        </p:txBody>
      </p:sp>
      <p:sp>
        <p:nvSpPr>
          <p:cNvPr id="310" name="Google Shape;310;p23"/>
          <p:cNvSpPr/>
          <p:nvPr/>
        </p:nvSpPr>
        <p:spPr>
          <a:xfrm>
            <a:off x="713232" y="1309878"/>
            <a:ext cx="2201418" cy="10629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Les poids principaux de Qwen sont représentés avec une précision réduite. Objectif : diminuer fortement la mémoire nécessaire sur la Tesla T4.</a:t>
            </a:r>
            <a:endParaRPr b="0" i="0" sz="900" u="none" cap="none" strike="noStrike">
              <a:solidFill>
                <a:schemeClr val="dk1"/>
              </a:solidFill>
              <a:latin typeface="Arial"/>
              <a:ea typeface="Arial"/>
              <a:cs typeface="Arial"/>
              <a:sym typeface="Arial"/>
            </a:endParaRPr>
          </a:p>
        </p:txBody>
      </p:sp>
      <p:sp>
        <p:nvSpPr>
          <p:cNvPr id="311" name="Google Shape;311;p23"/>
          <p:cNvSpPr/>
          <p:nvPr/>
        </p:nvSpPr>
        <p:spPr>
          <a:xfrm>
            <a:off x="3346704" y="925830"/>
            <a:ext cx="2434590" cy="1543050"/>
          </a:xfrm>
          <a:prstGeom prst="roundRect">
            <a:avLst>
              <a:gd fmla="val 3556"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2" name="Google Shape;312;p23"/>
          <p:cNvSpPr/>
          <p:nvPr/>
        </p:nvSpPr>
        <p:spPr>
          <a:xfrm>
            <a:off x="3346704" y="925830"/>
            <a:ext cx="48006" cy="154305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3" name="Google Shape;313;p23"/>
          <p:cNvSpPr/>
          <p:nvPr/>
        </p:nvSpPr>
        <p:spPr>
          <a:xfrm>
            <a:off x="3497580" y="1049274"/>
            <a:ext cx="21945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LoRA</a:t>
            </a:r>
            <a:endParaRPr b="0" i="0" sz="1100" u="none" cap="none" strike="noStrike">
              <a:solidFill>
                <a:schemeClr val="dk1"/>
              </a:solidFill>
              <a:latin typeface="Arial"/>
              <a:ea typeface="Arial"/>
              <a:cs typeface="Arial"/>
              <a:sym typeface="Arial"/>
            </a:endParaRPr>
          </a:p>
        </p:txBody>
      </p:sp>
      <p:sp>
        <p:nvSpPr>
          <p:cNvPr id="314" name="Google Shape;314;p23"/>
          <p:cNvSpPr/>
          <p:nvPr/>
        </p:nvSpPr>
        <p:spPr>
          <a:xfrm>
            <a:off x="3497580" y="1309878"/>
            <a:ext cx="2201418" cy="10629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Les poids principaux restent gelés. De petites matrices de faible rang sont ajoutées dans certaines projections et ce sont elles qui sont entraînées.</a:t>
            </a:r>
            <a:endParaRPr b="0" i="0" sz="900" u="none" cap="none" strike="noStrike">
              <a:solidFill>
                <a:schemeClr val="dk1"/>
              </a:solidFill>
              <a:latin typeface="Arial"/>
              <a:ea typeface="Arial"/>
              <a:cs typeface="Arial"/>
              <a:sym typeface="Arial"/>
            </a:endParaRPr>
          </a:p>
        </p:txBody>
      </p:sp>
      <p:sp>
        <p:nvSpPr>
          <p:cNvPr id="315" name="Google Shape;315;p23"/>
          <p:cNvSpPr/>
          <p:nvPr/>
        </p:nvSpPr>
        <p:spPr>
          <a:xfrm>
            <a:off x="6131052" y="925830"/>
            <a:ext cx="2434590" cy="1543050"/>
          </a:xfrm>
          <a:prstGeom prst="roundRect">
            <a:avLst>
              <a:gd fmla="val 3556"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6" name="Google Shape;316;p23"/>
          <p:cNvSpPr/>
          <p:nvPr/>
        </p:nvSpPr>
        <p:spPr>
          <a:xfrm>
            <a:off x="6131052" y="925830"/>
            <a:ext cx="48006" cy="154305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7" name="Google Shape;317;p23"/>
          <p:cNvSpPr/>
          <p:nvPr/>
        </p:nvSpPr>
        <p:spPr>
          <a:xfrm>
            <a:off x="6281928" y="1049274"/>
            <a:ext cx="21945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QLoRA</a:t>
            </a:r>
            <a:endParaRPr b="0" i="0" sz="1100" u="none" cap="none" strike="noStrike">
              <a:solidFill>
                <a:schemeClr val="dk1"/>
              </a:solidFill>
              <a:latin typeface="Arial"/>
              <a:ea typeface="Arial"/>
              <a:cs typeface="Arial"/>
              <a:sym typeface="Arial"/>
            </a:endParaRPr>
          </a:p>
        </p:txBody>
      </p:sp>
      <p:sp>
        <p:nvSpPr>
          <p:cNvPr id="318" name="Google Shape;318;p23"/>
          <p:cNvSpPr/>
          <p:nvPr/>
        </p:nvSpPr>
        <p:spPr>
          <a:xfrm>
            <a:off x="6281928" y="1309878"/>
            <a:ext cx="2201418" cy="10629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QLoRA combine les deux : modèle quantifié + adaptateurs LoRA. Cela permet un fine-tuning beaucoup plus léger en mémoire.</a:t>
            </a:r>
            <a:endParaRPr b="0" i="0" sz="900" u="none" cap="none" strike="noStrike">
              <a:solidFill>
                <a:schemeClr val="dk1"/>
              </a:solidFill>
              <a:latin typeface="Arial"/>
              <a:ea typeface="Arial"/>
              <a:cs typeface="Arial"/>
              <a:sym typeface="Arial"/>
            </a:endParaRPr>
          </a:p>
        </p:txBody>
      </p:sp>
      <p:sp>
        <p:nvSpPr>
          <p:cNvPr id="319" name="Google Shape;319;p23"/>
          <p:cNvSpPr/>
          <p:nvPr/>
        </p:nvSpPr>
        <p:spPr>
          <a:xfrm>
            <a:off x="617220" y="2798064"/>
            <a:ext cx="19888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Paramètres entraînables</a:t>
            </a:r>
            <a:endParaRPr b="0" i="0" sz="1200" u="none" cap="none" strike="noStrike">
              <a:solidFill>
                <a:schemeClr val="dk1"/>
              </a:solidFill>
              <a:latin typeface="Arial"/>
              <a:ea typeface="Arial"/>
              <a:cs typeface="Arial"/>
              <a:sym typeface="Arial"/>
            </a:endParaRPr>
          </a:p>
        </p:txBody>
      </p:sp>
      <p:pic>
        <p:nvPicPr>
          <p:cNvPr descr="/mnt/data/nlp_tutor_work/params_donut.png" id="320" name="Google Shape;320;p23"/>
          <p:cNvPicPr preferRelativeResize="0"/>
          <p:nvPr/>
        </p:nvPicPr>
        <p:blipFill rotWithShape="1">
          <a:blip r:embed="rId3">
            <a:alphaModFix/>
          </a:blip>
          <a:srcRect b="0" l="0" r="0" t="0"/>
          <a:stretch/>
        </p:blipFill>
        <p:spPr>
          <a:xfrm>
            <a:off x="582930" y="3065526"/>
            <a:ext cx="2914650" cy="1179576"/>
          </a:xfrm>
          <a:prstGeom prst="rect">
            <a:avLst/>
          </a:prstGeom>
          <a:noFill/>
          <a:ln>
            <a:noFill/>
          </a:ln>
        </p:spPr>
      </p:pic>
      <p:sp>
        <p:nvSpPr>
          <p:cNvPr id="321" name="Google Shape;321;p23"/>
          <p:cNvSpPr/>
          <p:nvPr/>
        </p:nvSpPr>
        <p:spPr>
          <a:xfrm>
            <a:off x="3826764" y="2811780"/>
            <a:ext cx="4697730" cy="1508760"/>
          </a:xfrm>
          <a:prstGeom prst="roundRect">
            <a:avLst>
              <a:gd fmla="val 1818" name="adj"/>
            </a:avLst>
          </a:prstGeom>
          <a:solidFill>
            <a:srgbClr val="101828"/>
          </a:solidFill>
          <a:ln cap="flat" cmpd="sng" w="12700">
            <a:solidFill>
              <a:srgbClr val="1018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2" name="Google Shape;322;p23"/>
          <p:cNvSpPr/>
          <p:nvPr/>
        </p:nvSpPr>
        <p:spPr>
          <a:xfrm>
            <a:off x="3950208" y="2914650"/>
            <a:ext cx="4450842" cy="13167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lora_config = LoraConfig(</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r=16,</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lora_alpha=32,</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lora_dropout=0.05,</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target_modules=[</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"q_proj", "k_proj", "v_proj", "o_proj",</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"gate_proj", "up_proj", "down_proj"</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a:t>
            </a:r>
            <a:endParaRPr b="0" i="0" sz="800" u="none" cap="none" strike="noStrike">
              <a:solidFill>
                <a:schemeClr val="dk1"/>
              </a:solidFill>
              <a:latin typeface="Arial"/>
              <a:ea typeface="Arial"/>
              <a:cs typeface="Arial"/>
              <a:sym typeface="Arial"/>
            </a:endParaRPr>
          </a:p>
        </p:txBody>
      </p:sp>
      <p:sp>
        <p:nvSpPr>
          <p:cNvPr id="323" name="Google Shape;323;p23"/>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8 / 20</a:t>
            </a:r>
            <a:endParaRPr b="0" i="0" sz="600" u="none" cap="none" strike="noStrike">
              <a:solidFill>
                <a:schemeClr val="dk1"/>
              </a:solidFill>
              <a:latin typeface="Arial"/>
              <a:ea typeface="Arial"/>
              <a:cs typeface="Arial"/>
              <a:sym typeface="Arial"/>
            </a:endParaRPr>
          </a:p>
        </p:txBody>
      </p:sp>
      <p:sp>
        <p:nvSpPr>
          <p:cNvPr id="324" name="Google Shape;324;p23"/>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4"/>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8. Entraînement : configuration réellement utilisée</a:t>
            </a:r>
            <a:endParaRPr b="0" i="0" sz="1800" u="none" cap="none" strike="noStrike">
              <a:solidFill>
                <a:schemeClr val="dk1"/>
              </a:solidFill>
              <a:latin typeface="Arial"/>
              <a:ea typeface="Arial"/>
              <a:cs typeface="Arial"/>
              <a:sym typeface="Arial"/>
            </a:endParaRPr>
          </a:p>
        </p:txBody>
      </p:sp>
      <p:sp>
        <p:nvSpPr>
          <p:cNvPr id="331" name="Google Shape;331;p24"/>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Un réglage volontairement léger pour tenir sur une Tesla T4.</a:t>
            </a:r>
            <a:endParaRPr b="0" i="0" sz="900" u="none" cap="none" strike="noStrike">
              <a:solidFill>
                <a:schemeClr val="dk1"/>
              </a:solidFill>
              <a:latin typeface="Arial"/>
              <a:ea typeface="Arial"/>
              <a:cs typeface="Arial"/>
              <a:sym typeface="Arial"/>
            </a:endParaRPr>
          </a:p>
        </p:txBody>
      </p:sp>
      <p:sp>
        <p:nvSpPr>
          <p:cNvPr id="332" name="Google Shape;332;p24"/>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3" name="Google Shape;333;p24"/>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ENTRAÎNEMENT</a:t>
            </a:r>
            <a:endParaRPr b="0" i="0" sz="700" u="none" cap="none" strike="noStrike">
              <a:solidFill>
                <a:schemeClr val="dk1"/>
              </a:solidFill>
              <a:latin typeface="Arial"/>
              <a:ea typeface="Arial"/>
              <a:cs typeface="Arial"/>
              <a:sym typeface="Arial"/>
            </a:endParaRPr>
          </a:p>
        </p:txBody>
      </p:sp>
      <p:sp>
        <p:nvSpPr>
          <p:cNvPr id="334" name="Google Shape;334;p24"/>
          <p:cNvSpPr/>
          <p:nvPr/>
        </p:nvSpPr>
        <p:spPr>
          <a:xfrm>
            <a:off x="582930" y="960120"/>
            <a:ext cx="1817370" cy="603504"/>
          </a:xfrm>
          <a:prstGeom prst="roundRect">
            <a:avLst>
              <a:gd fmla="val 5682"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5" name="Google Shape;335;p24"/>
          <p:cNvSpPr/>
          <p:nvPr/>
        </p:nvSpPr>
        <p:spPr>
          <a:xfrm>
            <a:off x="665226" y="1042416"/>
            <a:ext cx="8229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1" i="0" lang="fr" sz="800" u="none" cap="none" strike="noStrike">
                <a:solidFill>
                  <a:srgbClr val="667085"/>
                </a:solidFill>
                <a:latin typeface="Arial"/>
                <a:ea typeface="Arial"/>
                <a:cs typeface="Arial"/>
                <a:sym typeface="Arial"/>
              </a:rPr>
              <a:t>Epochs</a:t>
            </a:r>
            <a:endParaRPr b="0" i="0" sz="800" u="none" cap="none" strike="noStrike">
              <a:solidFill>
                <a:schemeClr val="dk1"/>
              </a:solidFill>
              <a:latin typeface="Arial"/>
              <a:ea typeface="Arial"/>
              <a:cs typeface="Arial"/>
              <a:sym typeface="Arial"/>
            </a:endParaRPr>
          </a:p>
        </p:txBody>
      </p:sp>
      <p:sp>
        <p:nvSpPr>
          <p:cNvPr id="336" name="Google Shape;336;p24"/>
          <p:cNvSpPr/>
          <p:nvPr/>
        </p:nvSpPr>
        <p:spPr>
          <a:xfrm>
            <a:off x="665226" y="1220724"/>
            <a:ext cx="16116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337" name="Google Shape;337;p24"/>
          <p:cNvSpPr/>
          <p:nvPr/>
        </p:nvSpPr>
        <p:spPr>
          <a:xfrm>
            <a:off x="2640330" y="960120"/>
            <a:ext cx="1817370" cy="603504"/>
          </a:xfrm>
          <a:prstGeom prst="roundRect">
            <a:avLst>
              <a:gd fmla="val 5682"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8" name="Google Shape;338;p24"/>
          <p:cNvSpPr/>
          <p:nvPr/>
        </p:nvSpPr>
        <p:spPr>
          <a:xfrm>
            <a:off x="2722626" y="1042416"/>
            <a:ext cx="8229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1" i="0" lang="fr" sz="800" u="none" cap="none" strike="noStrike">
                <a:solidFill>
                  <a:srgbClr val="667085"/>
                </a:solidFill>
                <a:latin typeface="Arial"/>
                <a:ea typeface="Arial"/>
                <a:cs typeface="Arial"/>
                <a:sym typeface="Arial"/>
              </a:rPr>
              <a:t>Batch GPU</a:t>
            </a:r>
            <a:endParaRPr b="0" i="0" sz="800" u="none" cap="none" strike="noStrike">
              <a:solidFill>
                <a:schemeClr val="dk1"/>
              </a:solidFill>
              <a:latin typeface="Arial"/>
              <a:ea typeface="Arial"/>
              <a:cs typeface="Arial"/>
              <a:sym typeface="Arial"/>
            </a:endParaRPr>
          </a:p>
        </p:txBody>
      </p:sp>
      <p:sp>
        <p:nvSpPr>
          <p:cNvPr id="339" name="Google Shape;339;p24"/>
          <p:cNvSpPr/>
          <p:nvPr/>
        </p:nvSpPr>
        <p:spPr>
          <a:xfrm>
            <a:off x="2722626" y="1220724"/>
            <a:ext cx="16116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340" name="Google Shape;340;p24"/>
          <p:cNvSpPr/>
          <p:nvPr/>
        </p:nvSpPr>
        <p:spPr>
          <a:xfrm>
            <a:off x="4697730" y="960120"/>
            <a:ext cx="1817370" cy="603504"/>
          </a:xfrm>
          <a:prstGeom prst="roundRect">
            <a:avLst>
              <a:gd fmla="val 5682"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1" name="Google Shape;341;p24"/>
          <p:cNvSpPr/>
          <p:nvPr/>
        </p:nvSpPr>
        <p:spPr>
          <a:xfrm>
            <a:off x="4780026" y="1042416"/>
            <a:ext cx="8229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1" i="0" lang="fr" sz="800" u="none" cap="none" strike="noStrike">
                <a:solidFill>
                  <a:srgbClr val="667085"/>
                </a:solidFill>
                <a:latin typeface="Arial"/>
                <a:ea typeface="Arial"/>
                <a:cs typeface="Arial"/>
                <a:sym typeface="Arial"/>
              </a:rPr>
              <a:t>Accumulation</a:t>
            </a:r>
            <a:endParaRPr b="0" i="0" sz="800" u="none" cap="none" strike="noStrike">
              <a:solidFill>
                <a:schemeClr val="dk1"/>
              </a:solidFill>
              <a:latin typeface="Arial"/>
              <a:ea typeface="Arial"/>
              <a:cs typeface="Arial"/>
              <a:sym typeface="Arial"/>
            </a:endParaRPr>
          </a:p>
        </p:txBody>
      </p:sp>
      <p:sp>
        <p:nvSpPr>
          <p:cNvPr id="342" name="Google Shape;342;p24"/>
          <p:cNvSpPr/>
          <p:nvPr/>
        </p:nvSpPr>
        <p:spPr>
          <a:xfrm>
            <a:off x="4780026" y="1220724"/>
            <a:ext cx="16116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8</a:t>
            </a:r>
            <a:endParaRPr b="0" i="0" sz="1200" u="none" cap="none" strike="noStrike">
              <a:solidFill>
                <a:schemeClr val="dk1"/>
              </a:solidFill>
              <a:latin typeface="Arial"/>
              <a:ea typeface="Arial"/>
              <a:cs typeface="Arial"/>
              <a:sym typeface="Arial"/>
            </a:endParaRPr>
          </a:p>
        </p:txBody>
      </p:sp>
      <p:sp>
        <p:nvSpPr>
          <p:cNvPr id="343" name="Google Shape;343;p24"/>
          <p:cNvSpPr/>
          <p:nvPr/>
        </p:nvSpPr>
        <p:spPr>
          <a:xfrm>
            <a:off x="6755130" y="960120"/>
            <a:ext cx="1817370" cy="603504"/>
          </a:xfrm>
          <a:prstGeom prst="roundRect">
            <a:avLst>
              <a:gd fmla="val 5682" name="adj"/>
            </a:avLst>
          </a:prstGeom>
          <a:solidFill>
            <a:srgbClr val="EAF2F8"/>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4" name="Google Shape;344;p24"/>
          <p:cNvSpPr/>
          <p:nvPr/>
        </p:nvSpPr>
        <p:spPr>
          <a:xfrm>
            <a:off x="6837426" y="1042416"/>
            <a:ext cx="8229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1" i="0" lang="fr" sz="800" u="none" cap="none" strike="noStrike">
                <a:solidFill>
                  <a:srgbClr val="667085"/>
                </a:solidFill>
                <a:latin typeface="Arial"/>
                <a:ea typeface="Arial"/>
                <a:cs typeface="Arial"/>
                <a:sym typeface="Arial"/>
              </a:rPr>
              <a:t>Batch effectif</a:t>
            </a:r>
            <a:endParaRPr b="0" i="0" sz="800" u="none" cap="none" strike="noStrike">
              <a:solidFill>
                <a:schemeClr val="dk1"/>
              </a:solidFill>
              <a:latin typeface="Arial"/>
              <a:ea typeface="Arial"/>
              <a:cs typeface="Arial"/>
              <a:sym typeface="Arial"/>
            </a:endParaRPr>
          </a:p>
        </p:txBody>
      </p:sp>
      <p:sp>
        <p:nvSpPr>
          <p:cNvPr id="345" name="Google Shape;345;p24"/>
          <p:cNvSpPr/>
          <p:nvPr/>
        </p:nvSpPr>
        <p:spPr>
          <a:xfrm>
            <a:off x="6837426" y="1220724"/>
            <a:ext cx="16116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16</a:t>
            </a:r>
            <a:endParaRPr b="0" i="0" sz="1200" u="none" cap="none" strike="noStrike">
              <a:solidFill>
                <a:schemeClr val="dk1"/>
              </a:solidFill>
              <a:latin typeface="Arial"/>
              <a:ea typeface="Arial"/>
              <a:cs typeface="Arial"/>
              <a:sym typeface="Arial"/>
            </a:endParaRPr>
          </a:p>
        </p:txBody>
      </p:sp>
      <p:sp>
        <p:nvSpPr>
          <p:cNvPr id="346" name="Google Shape;346;p24"/>
          <p:cNvSpPr/>
          <p:nvPr/>
        </p:nvSpPr>
        <p:spPr>
          <a:xfrm>
            <a:off x="582930" y="1728216"/>
            <a:ext cx="1817370" cy="603504"/>
          </a:xfrm>
          <a:prstGeom prst="roundRect">
            <a:avLst>
              <a:gd fmla="val 5682"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7" name="Google Shape;347;p24"/>
          <p:cNvSpPr/>
          <p:nvPr/>
        </p:nvSpPr>
        <p:spPr>
          <a:xfrm>
            <a:off x="665226" y="1810512"/>
            <a:ext cx="8229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1" i="0" lang="fr" sz="800" u="none" cap="none" strike="noStrike">
                <a:solidFill>
                  <a:srgbClr val="667085"/>
                </a:solidFill>
                <a:latin typeface="Arial"/>
                <a:ea typeface="Arial"/>
                <a:cs typeface="Arial"/>
                <a:sym typeface="Arial"/>
              </a:rPr>
              <a:t>Learning rate</a:t>
            </a:r>
            <a:endParaRPr b="0" i="0" sz="800" u="none" cap="none" strike="noStrike">
              <a:solidFill>
                <a:schemeClr val="dk1"/>
              </a:solidFill>
              <a:latin typeface="Arial"/>
              <a:ea typeface="Arial"/>
              <a:cs typeface="Arial"/>
              <a:sym typeface="Arial"/>
            </a:endParaRPr>
          </a:p>
        </p:txBody>
      </p:sp>
      <p:sp>
        <p:nvSpPr>
          <p:cNvPr id="348" name="Google Shape;348;p24"/>
          <p:cNvSpPr/>
          <p:nvPr/>
        </p:nvSpPr>
        <p:spPr>
          <a:xfrm>
            <a:off x="665226" y="1988820"/>
            <a:ext cx="16116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2 × 10⁻⁴</a:t>
            </a:r>
            <a:endParaRPr b="0" i="0" sz="1200" u="none" cap="none" strike="noStrike">
              <a:solidFill>
                <a:schemeClr val="dk1"/>
              </a:solidFill>
              <a:latin typeface="Arial"/>
              <a:ea typeface="Arial"/>
              <a:cs typeface="Arial"/>
              <a:sym typeface="Arial"/>
            </a:endParaRPr>
          </a:p>
        </p:txBody>
      </p:sp>
      <p:sp>
        <p:nvSpPr>
          <p:cNvPr id="349" name="Google Shape;349;p24"/>
          <p:cNvSpPr/>
          <p:nvPr/>
        </p:nvSpPr>
        <p:spPr>
          <a:xfrm>
            <a:off x="2640330" y="1728216"/>
            <a:ext cx="1817370" cy="603504"/>
          </a:xfrm>
          <a:prstGeom prst="roundRect">
            <a:avLst>
              <a:gd fmla="val 5682"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0" name="Google Shape;350;p24"/>
          <p:cNvSpPr/>
          <p:nvPr/>
        </p:nvSpPr>
        <p:spPr>
          <a:xfrm>
            <a:off x="2722626" y="1810512"/>
            <a:ext cx="8229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1" i="0" lang="fr" sz="800" u="none" cap="none" strike="noStrike">
                <a:solidFill>
                  <a:srgbClr val="667085"/>
                </a:solidFill>
                <a:latin typeface="Arial"/>
                <a:ea typeface="Arial"/>
                <a:cs typeface="Arial"/>
                <a:sym typeface="Arial"/>
              </a:rPr>
              <a:t>Max length</a:t>
            </a:r>
            <a:endParaRPr b="0" i="0" sz="800" u="none" cap="none" strike="noStrike">
              <a:solidFill>
                <a:schemeClr val="dk1"/>
              </a:solidFill>
              <a:latin typeface="Arial"/>
              <a:ea typeface="Arial"/>
              <a:cs typeface="Arial"/>
              <a:sym typeface="Arial"/>
            </a:endParaRPr>
          </a:p>
        </p:txBody>
      </p:sp>
      <p:sp>
        <p:nvSpPr>
          <p:cNvPr id="351" name="Google Shape;351;p24"/>
          <p:cNvSpPr/>
          <p:nvPr/>
        </p:nvSpPr>
        <p:spPr>
          <a:xfrm>
            <a:off x="2722626" y="1988820"/>
            <a:ext cx="16116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512</a:t>
            </a:r>
            <a:endParaRPr b="0" i="0" sz="1200" u="none" cap="none" strike="noStrike">
              <a:solidFill>
                <a:schemeClr val="dk1"/>
              </a:solidFill>
              <a:latin typeface="Arial"/>
              <a:ea typeface="Arial"/>
              <a:cs typeface="Arial"/>
              <a:sym typeface="Arial"/>
            </a:endParaRPr>
          </a:p>
        </p:txBody>
      </p:sp>
      <p:sp>
        <p:nvSpPr>
          <p:cNvPr id="352" name="Google Shape;352;p24"/>
          <p:cNvSpPr/>
          <p:nvPr/>
        </p:nvSpPr>
        <p:spPr>
          <a:xfrm>
            <a:off x="4697730" y="1728216"/>
            <a:ext cx="1817370" cy="603504"/>
          </a:xfrm>
          <a:prstGeom prst="roundRect">
            <a:avLst>
              <a:gd fmla="val 5682"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3" name="Google Shape;353;p24"/>
          <p:cNvSpPr/>
          <p:nvPr/>
        </p:nvSpPr>
        <p:spPr>
          <a:xfrm>
            <a:off x="4780026" y="1810512"/>
            <a:ext cx="8229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1" i="0" lang="fr" sz="800" u="none" cap="none" strike="noStrike">
                <a:solidFill>
                  <a:srgbClr val="667085"/>
                </a:solidFill>
                <a:latin typeface="Arial"/>
                <a:ea typeface="Arial"/>
                <a:cs typeface="Arial"/>
                <a:sym typeface="Arial"/>
              </a:rPr>
              <a:t>Warmup</a:t>
            </a:r>
            <a:endParaRPr b="0" i="0" sz="800" u="none" cap="none" strike="noStrike">
              <a:solidFill>
                <a:schemeClr val="dk1"/>
              </a:solidFill>
              <a:latin typeface="Arial"/>
              <a:ea typeface="Arial"/>
              <a:cs typeface="Arial"/>
              <a:sym typeface="Arial"/>
            </a:endParaRPr>
          </a:p>
        </p:txBody>
      </p:sp>
      <p:sp>
        <p:nvSpPr>
          <p:cNvPr id="354" name="Google Shape;354;p24"/>
          <p:cNvSpPr/>
          <p:nvPr/>
        </p:nvSpPr>
        <p:spPr>
          <a:xfrm>
            <a:off x="4780026" y="1988820"/>
            <a:ext cx="16116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10 steps</a:t>
            </a:r>
            <a:endParaRPr b="0" i="0" sz="1200" u="none" cap="none" strike="noStrike">
              <a:solidFill>
                <a:schemeClr val="dk1"/>
              </a:solidFill>
              <a:latin typeface="Arial"/>
              <a:ea typeface="Arial"/>
              <a:cs typeface="Arial"/>
              <a:sym typeface="Arial"/>
            </a:endParaRPr>
          </a:p>
        </p:txBody>
      </p:sp>
      <p:sp>
        <p:nvSpPr>
          <p:cNvPr id="355" name="Google Shape;355;p24"/>
          <p:cNvSpPr/>
          <p:nvPr/>
        </p:nvSpPr>
        <p:spPr>
          <a:xfrm>
            <a:off x="6755130" y="1728216"/>
            <a:ext cx="1817370" cy="603504"/>
          </a:xfrm>
          <a:prstGeom prst="roundRect">
            <a:avLst>
              <a:gd fmla="val 5682"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6" name="Google Shape;356;p24"/>
          <p:cNvSpPr/>
          <p:nvPr/>
        </p:nvSpPr>
        <p:spPr>
          <a:xfrm>
            <a:off x="6837426" y="1810512"/>
            <a:ext cx="8229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1" i="0" lang="fr" sz="800" u="none" cap="none" strike="noStrike">
                <a:solidFill>
                  <a:srgbClr val="667085"/>
                </a:solidFill>
                <a:latin typeface="Arial"/>
                <a:ea typeface="Arial"/>
                <a:cs typeface="Arial"/>
                <a:sym typeface="Arial"/>
              </a:rPr>
              <a:t>Loss</a:t>
            </a:r>
            <a:endParaRPr b="0" i="0" sz="800" u="none" cap="none" strike="noStrike">
              <a:solidFill>
                <a:schemeClr val="dk1"/>
              </a:solidFill>
              <a:latin typeface="Arial"/>
              <a:ea typeface="Arial"/>
              <a:cs typeface="Arial"/>
              <a:sym typeface="Arial"/>
            </a:endParaRPr>
          </a:p>
        </p:txBody>
      </p:sp>
      <p:sp>
        <p:nvSpPr>
          <p:cNvPr id="357" name="Google Shape;357;p24"/>
          <p:cNvSpPr/>
          <p:nvPr/>
        </p:nvSpPr>
        <p:spPr>
          <a:xfrm>
            <a:off x="6837426" y="1988820"/>
            <a:ext cx="16116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completion only</a:t>
            </a:r>
            <a:endParaRPr b="0" i="0" sz="1200" u="none" cap="none" strike="noStrike">
              <a:solidFill>
                <a:schemeClr val="dk1"/>
              </a:solidFill>
              <a:latin typeface="Arial"/>
              <a:ea typeface="Arial"/>
              <a:cs typeface="Arial"/>
              <a:sym typeface="Arial"/>
            </a:endParaRPr>
          </a:p>
        </p:txBody>
      </p:sp>
      <p:sp>
        <p:nvSpPr>
          <p:cNvPr id="358" name="Google Shape;358;p24"/>
          <p:cNvSpPr/>
          <p:nvPr/>
        </p:nvSpPr>
        <p:spPr>
          <a:xfrm>
            <a:off x="582930" y="2708910"/>
            <a:ext cx="3806190" cy="1474470"/>
          </a:xfrm>
          <a:prstGeom prst="roundRect">
            <a:avLst>
              <a:gd fmla="val 1860" name="adj"/>
            </a:avLst>
          </a:prstGeom>
          <a:solidFill>
            <a:srgbClr val="101828"/>
          </a:solidFill>
          <a:ln cap="flat" cmpd="sng" w="12700">
            <a:solidFill>
              <a:srgbClr val="1018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9" name="Google Shape;359;p24"/>
          <p:cNvSpPr/>
          <p:nvPr/>
        </p:nvSpPr>
        <p:spPr>
          <a:xfrm>
            <a:off x="706374" y="2811780"/>
            <a:ext cx="3559302" cy="128244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training_args = SFTConfig(</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num_train_epochs=2,</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per_device_train_batch_size=2,</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gradient_accumulation_steps=8,</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learning_rate=2e-4,</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max_length=512,</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gradient_checkpointing=True,</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    completion_only_loss=True,</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a:t>
            </a:r>
            <a:endParaRPr b="0" i="0" sz="800" u="none" cap="none" strike="noStrike">
              <a:solidFill>
                <a:schemeClr val="dk1"/>
              </a:solidFill>
              <a:latin typeface="Arial"/>
              <a:ea typeface="Arial"/>
              <a:cs typeface="Arial"/>
              <a:sym typeface="Arial"/>
            </a:endParaRPr>
          </a:p>
        </p:txBody>
      </p:sp>
      <p:sp>
        <p:nvSpPr>
          <p:cNvPr id="360" name="Google Shape;360;p24"/>
          <p:cNvSpPr/>
          <p:nvPr/>
        </p:nvSpPr>
        <p:spPr>
          <a:xfrm>
            <a:off x="4649724" y="2708910"/>
            <a:ext cx="3874770" cy="1474470"/>
          </a:xfrm>
          <a:prstGeom prst="roundRect">
            <a:avLst>
              <a:gd fmla="val 3721" name="adj"/>
            </a:avLst>
          </a:prstGeom>
          <a:solidFill>
            <a:srgbClr val="FFFFFF"/>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1" name="Google Shape;361;p24"/>
          <p:cNvSpPr/>
          <p:nvPr/>
        </p:nvSpPr>
        <p:spPr>
          <a:xfrm>
            <a:off x="4649724" y="2708910"/>
            <a:ext cx="48006" cy="1474470"/>
          </a:xfrm>
          <a:prstGeom prst="rect">
            <a:avLst/>
          </a:prstGeom>
          <a:solidFill>
            <a:srgbClr val="6C5CE7"/>
          </a:solidFill>
          <a:ln cap="flat" cmpd="sng" w="12700">
            <a:solidFill>
              <a:srgbClr val="6C5CE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2" name="Google Shape;362;p24"/>
          <p:cNvSpPr/>
          <p:nvPr/>
        </p:nvSpPr>
        <p:spPr>
          <a:xfrm>
            <a:off x="4800600" y="2832354"/>
            <a:ext cx="36347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Interprétation des principaux choix</a:t>
            </a:r>
            <a:endParaRPr b="0" i="0" sz="1100" u="none" cap="none" strike="noStrike">
              <a:solidFill>
                <a:schemeClr val="dk1"/>
              </a:solidFill>
              <a:latin typeface="Arial"/>
              <a:ea typeface="Arial"/>
              <a:cs typeface="Arial"/>
              <a:sym typeface="Arial"/>
            </a:endParaRPr>
          </a:p>
        </p:txBody>
      </p:sp>
      <p:sp>
        <p:nvSpPr>
          <p:cNvPr id="363" name="Google Shape;363;p24"/>
          <p:cNvSpPr/>
          <p:nvPr/>
        </p:nvSpPr>
        <p:spPr>
          <a:xfrm>
            <a:off x="4800600" y="3092958"/>
            <a:ext cx="3641598" cy="99441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Batch effectif = 2 × 8 = 16. Le gradient checkpointing réduit la mémoire au prix de calculs supplémentaires. `completion_only_loss=True` apprend surtout la réponse attendue et non le texte du prompt.</a:t>
            </a:r>
            <a:endParaRPr b="0" i="0" sz="900" u="none" cap="none" strike="noStrike">
              <a:solidFill>
                <a:schemeClr val="dk1"/>
              </a:solidFill>
              <a:latin typeface="Arial"/>
              <a:ea typeface="Arial"/>
              <a:cs typeface="Arial"/>
              <a:sym typeface="Arial"/>
            </a:endParaRPr>
          </a:p>
        </p:txBody>
      </p:sp>
      <p:sp>
        <p:nvSpPr>
          <p:cNvPr id="364" name="Google Shape;364;p24"/>
          <p:cNvSpPr/>
          <p:nvPr/>
        </p:nvSpPr>
        <p:spPr>
          <a:xfrm>
            <a:off x="617220" y="4382262"/>
            <a:ext cx="781812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900"/>
              <a:buFont typeface="Arial"/>
              <a:buNone/>
            </a:pPr>
            <a:r>
              <a:rPr b="1" i="0" lang="fr" sz="900" u="none" cap="none" strike="noStrike">
                <a:solidFill>
                  <a:srgbClr val="0D1B2A"/>
                </a:solidFill>
                <a:latin typeface="Arial"/>
                <a:ea typeface="Arial"/>
                <a:cs typeface="Arial"/>
                <a:sym typeface="Arial"/>
              </a:rPr>
              <a:t>Validation finale observée : eval_loss ≈ 0,0143 • perplexité ≈ 1,014 • mean token accuracy ≈ 0,9988</a:t>
            </a:r>
            <a:endParaRPr b="0" i="0" sz="900" u="none" cap="none" strike="noStrike">
              <a:solidFill>
                <a:schemeClr val="dk1"/>
              </a:solidFill>
              <a:latin typeface="Arial"/>
              <a:ea typeface="Arial"/>
              <a:cs typeface="Arial"/>
              <a:sym typeface="Arial"/>
            </a:endParaRPr>
          </a:p>
        </p:txBody>
      </p:sp>
      <p:sp>
        <p:nvSpPr>
          <p:cNvPr id="365" name="Google Shape;365;p24"/>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9 / 20</a:t>
            </a:r>
            <a:endParaRPr b="0" i="0" sz="600" u="none" cap="none" strike="noStrike">
              <a:solidFill>
                <a:schemeClr val="dk1"/>
              </a:solidFill>
              <a:latin typeface="Arial"/>
              <a:ea typeface="Arial"/>
              <a:cs typeface="Arial"/>
              <a:sym typeface="Arial"/>
            </a:endParaRPr>
          </a:p>
        </p:txBody>
      </p:sp>
      <p:sp>
        <p:nvSpPr>
          <p:cNvPr id="366" name="Google Shape;366;p24"/>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5"/>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9. Protocole d’évaluation : avant / après exactement sur les mêmes requêtes</a:t>
            </a:r>
            <a:endParaRPr b="0" i="0" sz="1800" u="none" cap="none" strike="noStrike">
              <a:solidFill>
                <a:schemeClr val="dk1"/>
              </a:solidFill>
              <a:latin typeface="Arial"/>
              <a:ea typeface="Arial"/>
              <a:cs typeface="Arial"/>
              <a:sym typeface="Arial"/>
            </a:endParaRPr>
          </a:p>
        </p:txBody>
      </p:sp>
      <p:sp>
        <p:nvSpPr>
          <p:cNvPr id="373" name="Google Shape;373;p25"/>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Même sélection de 20 exemples du test, mêmes fonctions de génération et mêmes métriques.</a:t>
            </a:r>
            <a:endParaRPr b="0" i="0" sz="900" u="none" cap="none" strike="noStrike">
              <a:solidFill>
                <a:schemeClr val="dk1"/>
              </a:solidFill>
              <a:latin typeface="Arial"/>
              <a:ea typeface="Arial"/>
              <a:cs typeface="Arial"/>
              <a:sym typeface="Arial"/>
            </a:endParaRPr>
          </a:p>
        </p:txBody>
      </p:sp>
      <p:sp>
        <p:nvSpPr>
          <p:cNvPr id="374" name="Google Shape;374;p25"/>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5" name="Google Shape;375;p25"/>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ÉVALUATION</a:t>
            </a:r>
            <a:endParaRPr b="0" i="0" sz="700" u="none" cap="none" strike="noStrike">
              <a:solidFill>
                <a:schemeClr val="dk1"/>
              </a:solidFill>
              <a:latin typeface="Arial"/>
              <a:ea typeface="Arial"/>
              <a:cs typeface="Arial"/>
              <a:sym typeface="Arial"/>
            </a:endParaRPr>
          </a:p>
        </p:txBody>
      </p:sp>
      <p:sp>
        <p:nvSpPr>
          <p:cNvPr id="376" name="Google Shape;376;p25"/>
          <p:cNvSpPr/>
          <p:nvPr/>
        </p:nvSpPr>
        <p:spPr>
          <a:xfrm>
            <a:off x="562356" y="925830"/>
            <a:ext cx="2503170" cy="1474470"/>
          </a:xfrm>
          <a:prstGeom prst="roundRect">
            <a:avLst>
              <a:gd fmla="val 3721"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7" name="Google Shape;377;p25"/>
          <p:cNvSpPr/>
          <p:nvPr/>
        </p:nvSpPr>
        <p:spPr>
          <a:xfrm>
            <a:off x="562356" y="925830"/>
            <a:ext cx="48006" cy="147447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8" name="Google Shape;378;p25"/>
          <p:cNvSpPr/>
          <p:nvPr/>
        </p:nvSpPr>
        <p:spPr>
          <a:xfrm>
            <a:off x="713232" y="104927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ROUGE-L</a:t>
            </a:r>
            <a:endParaRPr b="0" i="0" sz="1100" u="none" cap="none" strike="noStrike">
              <a:solidFill>
                <a:schemeClr val="dk1"/>
              </a:solidFill>
              <a:latin typeface="Arial"/>
              <a:ea typeface="Arial"/>
              <a:cs typeface="Arial"/>
              <a:sym typeface="Arial"/>
            </a:endParaRPr>
          </a:p>
        </p:txBody>
      </p:sp>
      <p:sp>
        <p:nvSpPr>
          <p:cNvPr id="379" name="Google Shape;379;p25"/>
          <p:cNvSpPr/>
          <p:nvPr/>
        </p:nvSpPr>
        <p:spPr>
          <a:xfrm>
            <a:off x="713232" y="1309878"/>
            <a:ext cx="2269998" cy="99441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Compare la réponse générée à la référence à partir de la plus longue sous-séquence commune. Un score élevé signifie une forte proximité textuelle, pas nécessairement une vérité parfaite.</a:t>
            </a:r>
            <a:endParaRPr b="0" i="0" sz="900" u="none" cap="none" strike="noStrike">
              <a:solidFill>
                <a:schemeClr val="dk1"/>
              </a:solidFill>
              <a:latin typeface="Arial"/>
              <a:ea typeface="Arial"/>
              <a:cs typeface="Arial"/>
              <a:sym typeface="Arial"/>
            </a:endParaRPr>
          </a:p>
        </p:txBody>
      </p:sp>
      <p:sp>
        <p:nvSpPr>
          <p:cNvPr id="380" name="Google Shape;380;p25"/>
          <p:cNvSpPr/>
          <p:nvPr/>
        </p:nvSpPr>
        <p:spPr>
          <a:xfrm>
            <a:off x="3305556" y="925830"/>
            <a:ext cx="2503170" cy="1474470"/>
          </a:xfrm>
          <a:prstGeom prst="roundRect">
            <a:avLst>
              <a:gd fmla="val 3721"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1" name="Google Shape;381;p25"/>
          <p:cNvSpPr/>
          <p:nvPr/>
        </p:nvSpPr>
        <p:spPr>
          <a:xfrm>
            <a:off x="3305556" y="925830"/>
            <a:ext cx="48006" cy="147447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2" name="Google Shape;382;p25"/>
          <p:cNvSpPr/>
          <p:nvPr/>
        </p:nvSpPr>
        <p:spPr>
          <a:xfrm>
            <a:off x="3456432" y="104927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Keyword coverage</a:t>
            </a:r>
            <a:endParaRPr b="0" i="0" sz="1100" u="none" cap="none" strike="noStrike">
              <a:solidFill>
                <a:schemeClr val="dk1"/>
              </a:solidFill>
              <a:latin typeface="Arial"/>
              <a:ea typeface="Arial"/>
              <a:cs typeface="Arial"/>
              <a:sym typeface="Arial"/>
            </a:endParaRPr>
          </a:p>
        </p:txBody>
      </p:sp>
      <p:sp>
        <p:nvSpPr>
          <p:cNvPr id="383" name="Google Shape;383;p25"/>
          <p:cNvSpPr/>
          <p:nvPr/>
        </p:nvSpPr>
        <p:spPr>
          <a:xfrm>
            <a:off x="3456432" y="1309878"/>
            <a:ext cx="2269998" cy="99441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Chaque notion possède des mots-clés attendus. La métrique mesure la proportion de ces éléments présents dans la réponse.</a:t>
            </a:r>
            <a:endParaRPr b="0" i="0" sz="900" u="none" cap="none" strike="noStrike">
              <a:solidFill>
                <a:schemeClr val="dk1"/>
              </a:solidFill>
              <a:latin typeface="Arial"/>
              <a:ea typeface="Arial"/>
              <a:cs typeface="Arial"/>
              <a:sym typeface="Arial"/>
            </a:endParaRPr>
          </a:p>
        </p:txBody>
      </p:sp>
      <p:sp>
        <p:nvSpPr>
          <p:cNvPr id="384" name="Google Shape;384;p25"/>
          <p:cNvSpPr/>
          <p:nvPr/>
        </p:nvSpPr>
        <p:spPr>
          <a:xfrm>
            <a:off x="6048756" y="925830"/>
            <a:ext cx="2503170" cy="1474470"/>
          </a:xfrm>
          <a:prstGeom prst="roundRect">
            <a:avLst>
              <a:gd fmla="val 3721"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p25"/>
          <p:cNvSpPr/>
          <p:nvPr/>
        </p:nvSpPr>
        <p:spPr>
          <a:xfrm>
            <a:off x="6048756" y="925830"/>
            <a:ext cx="48006" cy="147447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6" name="Google Shape;386;p25"/>
          <p:cNvSpPr/>
          <p:nvPr/>
        </p:nvSpPr>
        <p:spPr>
          <a:xfrm>
            <a:off x="6199632" y="104927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Challenge complémentaire</a:t>
            </a:r>
            <a:endParaRPr b="0" i="0" sz="1100" u="none" cap="none" strike="noStrike">
              <a:solidFill>
                <a:schemeClr val="dk1"/>
              </a:solidFill>
              <a:latin typeface="Arial"/>
              <a:ea typeface="Arial"/>
              <a:cs typeface="Arial"/>
              <a:sym typeface="Arial"/>
            </a:endParaRPr>
          </a:p>
        </p:txBody>
      </p:sp>
      <p:sp>
        <p:nvSpPr>
          <p:cNvPr id="387" name="Google Shape;387;p25"/>
          <p:cNvSpPr/>
          <p:nvPr/>
        </p:nvSpPr>
        <p:spPr>
          <a:xfrm>
            <a:off x="6199632" y="1309878"/>
            <a:ext cx="2269998" cy="99441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20 questions formulées indépendamment des templates pour observer des situations de comparaison, de justification et de raisonnement plus réalistes.</a:t>
            </a:r>
            <a:endParaRPr b="0" i="0" sz="900" u="none" cap="none" strike="noStrike">
              <a:solidFill>
                <a:schemeClr val="dk1"/>
              </a:solidFill>
              <a:latin typeface="Arial"/>
              <a:ea typeface="Arial"/>
              <a:cs typeface="Arial"/>
              <a:sym typeface="Arial"/>
            </a:endParaRPr>
          </a:p>
        </p:txBody>
      </p:sp>
      <p:sp>
        <p:nvSpPr>
          <p:cNvPr id="388" name="Google Shape;388;p25"/>
          <p:cNvSpPr/>
          <p:nvPr/>
        </p:nvSpPr>
        <p:spPr>
          <a:xfrm>
            <a:off x="562356" y="2777490"/>
            <a:ext cx="4080510" cy="1179576"/>
          </a:xfrm>
          <a:prstGeom prst="roundRect">
            <a:avLst>
              <a:gd fmla="val 2326" name="adj"/>
            </a:avLst>
          </a:prstGeom>
          <a:solidFill>
            <a:srgbClr val="101828"/>
          </a:solidFill>
          <a:ln cap="flat" cmpd="sng" w="12700">
            <a:solidFill>
              <a:srgbClr val="1018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9" name="Google Shape;389;p25"/>
          <p:cNvSpPr/>
          <p:nvPr/>
        </p:nvSpPr>
        <p:spPr>
          <a:xfrm>
            <a:off x="685800" y="2880360"/>
            <a:ext cx="3833622" cy="9875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eval20 = dataset["test"].shuffle(seed=123).select(range(20))</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rouge_l = rouge.score(reference, prediction)["rougeL"].fmeasure</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2F4F7"/>
              </a:buClr>
              <a:buSzPts val="800"/>
              <a:buFont typeface="Courier New"/>
              <a:buNone/>
            </a:pPr>
            <a:r>
              <a:rPr b="0" i="0" lang="fr" sz="800" u="none" cap="none" strike="noStrike">
                <a:solidFill>
                  <a:srgbClr val="F2F4F7"/>
                </a:solidFill>
                <a:latin typeface="Courier New"/>
                <a:ea typeface="Courier New"/>
                <a:cs typeface="Courier New"/>
                <a:sym typeface="Courier New"/>
              </a:rPr>
              <a:t>coverage = keyword_coverage(prediction, keywords)</a:t>
            </a:r>
            <a:endParaRPr b="0" i="0" sz="800" u="none" cap="none" strike="noStrike">
              <a:solidFill>
                <a:schemeClr val="dk1"/>
              </a:solidFill>
              <a:latin typeface="Arial"/>
              <a:ea typeface="Arial"/>
              <a:cs typeface="Arial"/>
              <a:sym typeface="Arial"/>
            </a:endParaRPr>
          </a:p>
        </p:txBody>
      </p:sp>
      <p:sp>
        <p:nvSpPr>
          <p:cNvPr id="390" name="Google Shape;390;p25"/>
          <p:cNvSpPr/>
          <p:nvPr/>
        </p:nvSpPr>
        <p:spPr>
          <a:xfrm>
            <a:off x="4896612" y="2777490"/>
            <a:ext cx="3641598" cy="1179576"/>
          </a:xfrm>
          <a:prstGeom prst="roundRect">
            <a:avLst>
              <a:gd fmla="val 4651" name="adj"/>
            </a:avLst>
          </a:prstGeom>
          <a:solidFill>
            <a:srgbClr val="FFFFFF"/>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1" name="Google Shape;391;p25"/>
          <p:cNvSpPr/>
          <p:nvPr/>
        </p:nvSpPr>
        <p:spPr>
          <a:xfrm>
            <a:off x="4896612" y="2777490"/>
            <a:ext cx="48006" cy="1179576"/>
          </a:xfrm>
          <a:prstGeom prst="rect">
            <a:avLst/>
          </a:prstGeom>
          <a:solidFill>
            <a:srgbClr val="6C5CE7"/>
          </a:solidFill>
          <a:ln cap="flat" cmpd="sng" w="12700">
            <a:solidFill>
              <a:srgbClr val="6C5CE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2" name="Google Shape;392;p25"/>
          <p:cNvSpPr/>
          <p:nvPr/>
        </p:nvSpPr>
        <p:spPr>
          <a:xfrm>
            <a:off x="5047488" y="2900934"/>
            <a:ext cx="3401568"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Pourquoi 20 requêtes ?</a:t>
            </a:r>
            <a:endParaRPr b="0" i="0" sz="1100" u="none" cap="none" strike="noStrike">
              <a:solidFill>
                <a:schemeClr val="dk1"/>
              </a:solidFill>
              <a:latin typeface="Arial"/>
              <a:ea typeface="Arial"/>
              <a:cs typeface="Arial"/>
              <a:sym typeface="Arial"/>
            </a:endParaRPr>
          </a:p>
        </p:txBody>
      </p:sp>
      <p:sp>
        <p:nvSpPr>
          <p:cNvPr id="393" name="Google Shape;393;p25"/>
          <p:cNvSpPr/>
          <p:nvPr/>
        </p:nvSpPr>
        <p:spPr>
          <a:xfrm>
            <a:off x="5047488" y="3161538"/>
            <a:ext cx="3408426" cy="69951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La consigne exigeait au moins 20 requêtes de test non utilisées pendant l’entraînement. La graine `123` rend la sélection reproductible.</a:t>
            </a:r>
            <a:endParaRPr b="0" i="0" sz="900" u="none" cap="none" strike="noStrike">
              <a:solidFill>
                <a:schemeClr val="dk1"/>
              </a:solidFill>
              <a:latin typeface="Arial"/>
              <a:ea typeface="Arial"/>
              <a:cs typeface="Arial"/>
              <a:sym typeface="Arial"/>
            </a:endParaRPr>
          </a:p>
        </p:txBody>
      </p:sp>
      <p:sp>
        <p:nvSpPr>
          <p:cNvPr id="394" name="Google Shape;394;p25"/>
          <p:cNvSpPr/>
          <p:nvPr/>
        </p:nvSpPr>
        <p:spPr>
          <a:xfrm>
            <a:off x="617220" y="4251960"/>
            <a:ext cx="785241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000"/>
              <a:buFont typeface="Arial"/>
              <a:buNone/>
            </a:pPr>
            <a:r>
              <a:rPr b="1" i="0" lang="fr" sz="1000" u="none" cap="none" strike="noStrike">
                <a:solidFill>
                  <a:srgbClr val="C0392B"/>
                </a:solidFill>
                <a:latin typeface="Arial"/>
                <a:ea typeface="Arial"/>
                <a:cs typeface="Arial"/>
                <a:sym typeface="Arial"/>
              </a:rPr>
              <a:t>Attention : une métrique automatique mesure un aspect précis ; elle doit être complétée par l’analyse des réponses.</a:t>
            </a:r>
            <a:endParaRPr b="0" i="0" sz="1000" u="none" cap="none" strike="noStrike">
              <a:solidFill>
                <a:schemeClr val="dk1"/>
              </a:solidFill>
              <a:latin typeface="Arial"/>
              <a:ea typeface="Arial"/>
              <a:cs typeface="Arial"/>
              <a:sym typeface="Arial"/>
            </a:endParaRPr>
          </a:p>
        </p:txBody>
      </p:sp>
      <p:sp>
        <p:nvSpPr>
          <p:cNvPr id="395" name="Google Shape;395;p25"/>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10 / 20</a:t>
            </a:r>
            <a:endParaRPr b="0" i="0" sz="600" u="none" cap="none" strike="noStrike">
              <a:solidFill>
                <a:schemeClr val="dk1"/>
              </a:solidFill>
              <a:latin typeface="Arial"/>
              <a:ea typeface="Arial"/>
              <a:cs typeface="Arial"/>
              <a:sym typeface="Arial"/>
            </a:endParaRPr>
          </a:p>
        </p:txBody>
      </p:sp>
      <p:sp>
        <p:nvSpPr>
          <p:cNvPr id="396" name="Google Shape;396;p25"/>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6"/>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10. Résultats quantitatifs : QLoRA s’adapte très fortement au dataset</a:t>
            </a:r>
            <a:endParaRPr b="0" i="0" sz="1800" u="none" cap="none" strike="noStrike">
              <a:solidFill>
                <a:schemeClr val="dk1"/>
              </a:solidFill>
              <a:latin typeface="Arial"/>
              <a:ea typeface="Arial"/>
              <a:cs typeface="Arial"/>
              <a:sym typeface="Arial"/>
            </a:endParaRPr>
          </a:p>
        </p:txBody>
      </p:sp>
      <p:sp>
        <p:nvSpPr>
          <p:cNvPr id="403" name="Google Shape;403;p26"/>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Le gain est massif sur le test standard, mais doit être interprété avec prudence.</a:t>
            </a:r>
            <a:endParaRPr b="0" i="0" sz="900" u="none" cap="none" strike="noStrike">
              <a:solidFill>
                <a:schemeClr val="dk1"/>
              </a:solidFill>
              <a:latin typeface="Arial"/>
              <a:ea typeface="Arial"/>
              <a:cs typeface="Arial"/>
              <a:sym typeface="Arial"/>
            </a:endParaRPr>
          </a:p>
        </p:txBody>
      </p:sp>
      <p:sp>
        <p:nvSpPr>
          <p:cNvPr id="404" name="Google Shape;404;p26"/>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5" name="Google Shape;405;p26"/>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RÉSULTATS</a:t>
            </a:r>
            <a:endParaRPr b="0" i="0" sz="700" u="none" cap="none" strike="noStrike">
              <a:solidFill>
                <a:schemeClr val="dk1"/>
              </a:solidFill>
              <a:latin typeface="Arial"/>
              <a:ea typeface="Arial"/>
              <a:cs typeface="Arial"/>
              <a:sym typeface="Arial"/>
            </a:endParaRPr>
          </a:p>
        </p:txBody>
      </p:sp>
      <p:pic>
        <p:nvPicPr>
          <p:cNvPr descr="/mnt/data/nlp_tutor_work/results_chart.png" id="406" name="Google Shape;406;p26"/>
          <p:cNvPicPr preferRelativeResize="0"/>
          <p:nvPr/>
        </p:nvPicPr>
        <p:blipFill rotWithShape="1">
          <a:blip r:embed="rId3">
            <a:alphaModFix/>
          </a:blip>
          <a:srcRect b="0" l="0" r="0" t="0"/>
          <a:stretch/>
        </p:blipFill>
        <p:spPr>
          <a:xfrm>
            <a:off x="562356" y="925830"/>
            <a:ext cx="4937760" cy="2914650"/>
          </a:xfrm>
          <a:prstGeom prst="rect">
            <a:avLst/>
          </a:prstGeom>
          <a:noFill/>
          <a:ln>
            <a:noFill/>
          </a:ln>
        </p:spPr>
      </p:pic>
      <p:sp>
        <p:nvSpPr>
          <p:cNvPr id="407" name="Google Shape;407;p26"/>
          <p:cNvSpPr/>
          <p:nvPr/>
        </p:nvSpPr>
        <p:spPr>
          <a:xfrm>
            <a:off x="5726430" y="946404"/>
            <a:ext cx="2674620" cy="857250"/>
          </a:xfrm>
          <a:prstGeom prst="roundRect">
            <a:avLst>
              <a:gd fmla="val 6400"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8" name="Google Shape;408;p26"/>
          <p:cNvSpPr/>
          <p:nvPr/>
        </p:nvSpPr>
        <p:spPr>
          <a:xfrm>
            <a:off x="5726430" y="946404"/>
            <a:ext cx="48006" cy="85725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9" name="Google Shape;409;p26"/>
          <p:cNvSpPr/>
          <p:nvPr/>
        </p:nvSpPr>
        <p:spPr>
          <a:xfrm>
            <a:off x="5877306" y="1069848"/>
            <a:ext cx="243459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Baseline</a:t>
            </a:r>
            <a:endParaRPr b="0" i="0" sz="1100" u="none" cap="none" strike="noStrike">
              <a:solidFill>
                <a:schemeClr val="dk1"/>
              </a:solidFill>
              <a:latin typeface="Arial"/>
              <a:ea typeface="Arial"/>
              <a:cs typeface="Arial"/>
              <a:sym typeface="Arial"/>
            </a:endParaRPr>
          </a:p>
        </p:txBody>
      </p:sp>
      <p:sp>
        <p:nvSpPr>
          <p:cNvPr id="410" name="Google Shape;410;p26"/>
          <p:cNvSpPr/>
          <p:nvPr/>
        </p:nvSpPr>
        <p:spPr>
          <a:xfrm>
            <a:off x="5877306" y="1330452"/>
            <a:ext cx="2441448" cy="3771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ROUGE-L moyen : 0,1331</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Couverture mots-clés : 0,2500</a:t>
            </a:r>
            <a:endParaRPr b="0" i="0" sz="900" u="none" cap="none" strike="noStrike">
              <a:solidFill>
                <a:schemeClr val="dk1"/>
              </a:solidFill>
              <a:latin typeface="Arial"/>
              <a:ea typeface="Arial"/>
              <a:cs typeface="Arial"/>
              <a:sym typeface="Arial"/>
            </a:endParaRPr>
          </a:p>
        </p:txBody>
      </p:sp>
      <p:sp>
        <p:nvSpPr>
          <p:cNvPr id="411" name="Google Shape;411;p26"/>
          <p:cNvSpPr/>
          <p:nvPr/>
        </p:nvSpPr>
        <p:spPr>
          <a:xfrm>
            <a:off x="5726430" y="1975104"/>
            <a:ext cx="2674620" cy="857250"/>
          </a:xfrm>
          <a:prstGeom prst="roundRect">
            <a:avLst>
              <a:gd fmla="val 6400"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2" name="Google Shape;412;p26"/>
          <p:cNvSpPr/>
          <p:nvPr/>
        </p:nvSpPr>
        <p:spPr>
          <a:xfrm>
            <a:off x="5726430" y="1975104"/>
            <a:ext cx="48006" cy="85725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3" name="Google Shape;413;p26"/>
          <p:cNvSpPr/>
          <p:nvPr/>
        </p:nvSpPr>
        <p:spPr>
          <a:xfrm>
            <a:off x="5877306" y="2098548"/>
            <a:ext cx="243459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Après QLoRA</a:t>
            </a:r>
            <a:endParaRPr b="0" i="0" sz="1100" u="none" cap="none" strike="noStrike">
              <a:solidFill>
                <a:schemeClr val="dk1"/>
              </a:solidFill>
              <a:latin typeface="Arial"/>
              <a:ea typeface="Arial"/>
              <a:cs typeface="Arial"/>
              <a:sym typeface="Arial"/>
            </a:endParaRPr>
          </a:p>
        </p:txBody>
      </p:sp>
      <p:sp>
        <p:nvSpPr>
          <p:cNvPr id="414" name="Google Shape;414;p26"/>
          <p:cNvSpPr/>
          <p:nvPr/>
        </p:nvSpPr>
        <p:spPr>
          <a:xfrm>
            <a:off x="5877306" y="2359152"/>
            <a:ext cx="2441448" cy="37719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ROUGE-L moyen : 1,0000</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Couverture mots-clés : 0,8375</a:t>
            </a:r>
            <a:endParaRPr b="0" i="0" sz="900" u="none" cap="none" strike="noStrike">
              <a:solidFill>
                <a:schemeClr val="dk1"/>
              </a:solidFill>
              <a:latin typeface="Arial"/>
              <a:ea typeface="Arial"/>
              <a:cs typeface="Arial"/>
              <a:sym typeface="Arial"/>
            </a:endParaRPr>
          </a:p>
        </p:txBody>
      </p:sp>
      <p:sp>
        <p:nvSpPr>
          <p:cNvPr id="415" name="Google Shape;415;p26"/>
          <p:cNvSpPr/>
          <p:nvPr/>
        </p:nvSpPr>
        <p:spPr>
          <a:xfrm>
            <a:off x="5726430" y="3003804"/>
            <a:ext cx="2674620" cy="877824"/>
          </a:xfrm>
          <a:prstGeom prst="roundRect">
            <a:avLst>
              <a:gd fmla="val 6250"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6" name="Google Shape;416;p26"/>
          <p:cNvSpPr/>
          <p:nvPr/>
        </p:nvSpPr>
        <p:spPr>
          <a:xfrm>
            <a:off x="5726430" y="3003804"/>
            <a:ext cx="48006" cy="877824"/>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7" name="Google Shape;417;p26"/>
          <p:cNvSpPr/>
          <p:nvPr/>
        </p:nvSpPr>
        <p:spPr>
          <a:xfrm>
            <a:off x="5877306" y="3127248"/>
            <a:ext cx="243459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Lecture correcte</a:t>
            </a:r>
            <a:endParaRPr b="0" i="0" sz="1100" u="none" cap="none" strike="noStrike">
              <a:solidFill>
                <a:schemeClr val="dk1"/>
              </a:solidFill>
              <a:latin typeface="Arial"/>
              <a:ea typeface="Arial"/>
              <a:cs typeface="Arial"/>
              <a:sym typeface="Arial"/>
            </a:endParaRPr>
          </a:p>
        </p:txBody>
      </p:sp>
      <p:sp>
        <p:nvSpPr>
          <p:cNvPr id="418" name="Google Shape;418;p26"/>
          <p:cNvSpPr/>
          <p:nvPr/>
        </p:nvSpPr>
        <p:spPr>
          <a:xfrm>
            <a:off x="5877306" y="3387852"/>
            <a:ext cx="2441448" cy="39776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QLoRA reproduit beaucoup mieux les références du dataset et leur vocabulaire attendu. Cela montre une spécialisation forte, pas une perfection générale.</a:t>
            </a:r>
            <a:endParaRPr b="0" i="0" sz="900" u="none" cap="none" strike="noStrike">
              <a:solidFill>
                <a:schemeClr val="dk1"/>
              </a:solidFill>
              <a:latin typeface="Arial"/>
              <a:ea typeface="Arial"/>
              <a:cs typeface="Arial"/>
              <a:sym typeface="Arial"/>
            </a:endParaRPr>
          </a:p>
        </p:txBody>
      </p:sp>
      <p:sp>
        <p:nvSpPr>
          <p:cNvPr id="419" name="Google Shape;419;p26"/>
          <p:cNvSpPr/>
          <p:nvPr/>
        </p:nvSpPr>
        <p:spPr>
          <a:xfrm>
            <a:off x="822960" y="4066794"/>
            <a:ext cx="740664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300"/>
              <a:buFont typeface="Arial"/>
              <a:buNone/>
            </a:pPr>
            <a:r>
              <a:rPr b="1" i="0" lang="fr" sz="1300" u="none" cap="none" strike="noStrike">
                <a:solidFill>
                  <a:srgbClr val="0D1B2A"/>
                </a:solidFill>
                <a:latin typeface="Arial"/>
                <a:ea typeface="Arial"/>
                <a:cs typeface="Arial"/>
                <a:sym typeface="Arial"/>
              </a:rPr>
              <a:t>Δ ROUGE-L ≈ +0,8669   •   Δ couverture ≈ +0,5875</a:t>
            </a:r>
            <a:endParaRPr b="0" i="0" sz="1300" u="none" cap="none" strike="noStrike">
              <a:solidFill>
                <a:schemeClr val="dk1"/>
              </a:solidFill>
              <a:latin typeface="Arial"/>
              <a:ea typeface="Arial"/>
              <a:cs typeface="Arial"/>
              <a:sym typeface="Arial"/>
            </a:endParaRPr>
          </a:p>
        </p:txBody>
      </p:sp>
      <p:sp>
        <p:nvSpPr>
          <p:cNvPr id="420" name="Google Shape;420;p26"/>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11 / 20</a:t>
            </a:r>
            <a:endParaRPr b="0" i="0" sz="600" u="none" cap="none" strike="noStrike">
              <a:solidFill>
                <a:schemeClr val="dk1"/>
              </a:solidFill>
              <a:latin typeface="Arial"/>
              <a:ea typeface="Arial"/>
              <a:cs typeface="Arial"/>
              <a:sym typeface="Arial"/>
            </a:endParaRPr>
          </a:p>
        </p:txBody>
      </p:sp>
      <p:sp>
        <p:nvSpPr>
          <p:cNvPr id="421" name="Google Shape;421;p26"/>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7"/>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11. Pourquoi ROUGE-L = 1 ne veut pas dire “modèle parfait”</a:t>
            </a:r>
            <a:endParaRPr b="0" i="0" sz="1800" u="none" cap="none" strike="noStrike">
              <a:solidFill>
                <a:schemeClr val="dk1"/>
              </a:solidFill>
              <a:latin typeface="Arial"/>
              <a:ea typeface="Arial"/>
              <a:cs typeface="Arial"/>
              <a:sym typeface="Arial"/>
            </a:endParaRPr>
          </a:p>
        </p:txBody>
      </p:sp>
      <p:sp>
        <p:nvSpPr>
          <p:cNvPr id="428" name="Google Shape;428;p27"/>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Le challenge met en évidence la différence entre adaptation au dataset et généralisation.</a:t>
            </a:r>
            <a:endParaRPr b="0" i="0" sz="900" u="none" cap="none" strike="noStrike">
              <a:solidFill>
                <a:schemeClr val="dk1"/>
              </a:solidFill>
              <a:latin typeface="Arial"/>
              <a:ea typeface="Arial"/>
              <a:cs typeface="Arial"/>
              <a:sym typeface="Arial"/>
            </a:endParaRPr>
          </a:p>
        </p:txBody>
      </p:sp>
      <p:sp>
        <p:nvSpPr>
          <p:cNvPr id="429" name="Google Shape;429;p27"/>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0" name="Google Shape;430;p27"/>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ANALYSE</a:t>
            </a:r>
            <a:endParaRPr b="0" i="0" sz="700" u="none" cap="none" strike="noStrike">
              <a:solidFill>
                <a:schemeClr val="dk1"/>
              </a:solidFill>
              <a:latin typeface="Arial"/>
              <a:ea typeface="Arial"/>
              <a:cs typeface="Arial"/>
              <a:sym typeface="Arial"/>
            </a:endParaRPr>
          </a:p>
        </p:txBody>
      </p:sp>
      <p:sp>
        <p:nvSpPr>
          <p:cNvPr id="431" name="Google Shape;431;p27"/>
          <p:cNvSpPr/>
          <p:nvPr/>
        </p:nvSpPr>
        <p:spPr>
          <a:xfrm>
            <a:off x="562356" y="918972"/>
            <a:ext cx="3806190" cy="1371600"/>
          </a:xfrm>
          <a:prstGeom prst="roundRect">
            <a:avLst>
              <a:gd fmla="val 3500" name="adj"/>
            </a:avLst>
          </a:prstGeom>
          <a:solidFill>
            <a:srgbClr val="FDECEC"/>
          </a:solidFill>
          <a:ln cap="flat" cmpd="sng" w="12700">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2" name="Google Shape;432;p27"/>
          <p:cNvSpPr/>
          <p:nvPr/>
        </p:nvSpPr>
        <p:spPr>
          <a:xfrm>
            <a:off x="754380" y="1124712"/>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Arial"/>
              <a:buNone/>
            </a:pPr>
            <a:r>
              <a:rPr b="1" i="0" lang="fr" sz="1200" u="none" cap="none" strike="noStrike">
                <a:solidFill>
                  <a:srgbClr val="C0392B"/>
                </a:solidFill>
                <a:latin typeface="Arial"/>
                <a:ea typeface="Arial"/>
                <a:cs typeface="Arial"/>
                <a:sym typeface="Arial"/>
              </a:rPr>
              <a:t>Test standard</a:t>
            </a:r>
            <a:endParaRPr b="0" i="0" sz="1200" u="none" cap="none" strike="noStrike">
              <a:solidFill>
                <a:schemeClr val="dk1"/>
              </a:solidFill>
              <a:latin typeface="Arial"/>
              <a:ea typeface="Arial"/>
              <a:cs typeface="Arial"/>
              <a:sym typeface="Arial"/>
            </a:endParaRPr>
          </a:p>
        </p:txBody>
      </p:sp>
      <p:sp>
        <p:nvSpPr>
          <p:cNvPr id="433" name="Google Shape;433;p27"/>
          <p:cNvSpPr/>
          <p:nvPr/>
        </p:nvSpPr>
        <p:spPr>
          <a:xfrm>
            <a:off x="754380" y="1405890"/>
            <a:ext cx="336042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Question reformulée mais réponse cible très similaire</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QLoRA peut apprendre une association directe “concept → réponse type”.</a:t>
            </a:r>
            <a:endParaRPr b="0" i="0" sz="900" u="none" cap="none" strike="noStrike">
              <a:solidFill>
                <a:schemeClr val="dk1"/>
              </a:solidFill>
              <a:latin typeface="Arial"/>
              <a:ea typeface="Arial"/>
              <a:cs typeface="Arial"/>
              <a:sym typeface="Arial"/>
            </a:endParaRPr>
          </a:p>
        </p:txBody>
      </p:sp>
      <p:sp>
        <p:nvSpPr>
          <p:cNvPr id="434" name="Google Shape;434;p27"/>
          <p:cNvSpPr/>
          <p:nvPr/>
        </p:nvSpPr>
        <p:spPr>
          <a:xfrm>
            <a:off x="4718304" y="918972"/>
            <a:ext cx="3806190" cy="1371600"/>
          </a:xfrm>
          <a:prstGeom prst="roundRect">
            <a:avLst>
              <a:gd fmla="val 3500" name="adj"/>
            </a:avLst>
          </a:prstGeom>
          <a:solidFill>
            <a:srgbClr val="E8F7F5"/>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5" name="Google Shape;435;p27"/>
          <p:cNvSpPr/>
          <p:nvPr/>
        </p:nvSpPr>
        <p:spPr>
          <a:xfrm>
            <a:off x="4910328" y="1124712"/>
            <a:ext cx="1645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7B"/>
              </a:buClr>
              <a:buSzPts val="1200"/>
              <a:buFont typeface="Arial"/>
              <a:buNone/>
            </a:pPr>
            <a:r>
              <a:rPr b="1" i="0" lang="fr" sz="1200" u="none" cap="none" strike="noStrike">
                <a:solidFill>
                  <a:srgbClr val="0E7C7B"/>
                </a:solidFill>
                <a:latin typeface="Arial"/>
                <a:ea typeface="Arial"/>
                <a:cs typeface="Arial"/>
                <a:sym typeface="Arial"/>
              </a:rPr>
              <a:t>Challenge inédit</a:t>
            </a:r>
            <a:endParaRPr b="0" i="0" sz="1200" u="none" cap="none" strike="noStrike">
              <a:solidFill>
                <a:schemeClr val="dk1"/>
              </a:solidFill>
              <a:latin typeface="Arial"/>
              <a:ea typeface="Arial"/>
              <a:cs typeface="Arial"/>
              <a:sym typeface="Arial"/>
            </a:endParaRPr>
          </a:p>
        </p:txBody>
      </p:sp>
      <p:sp>
        <p:nvSpPr>
          <p:cNvPr id="436" name="Google Shape;436;p27"/>
          <p:cNvSpPr/>
          <p:nvPr/>
        </p:nvSpPr>
        <p:spPr>
          <a:xfrm>
            <a:off x="4910328" y="1405890"/>
            <a:ext cx="336042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Questions de justification, comparaison ou raisonnement</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test plus réaliste de transfert de connaissance.</a:t>
            </a:r>
            <a:endParaRPr b="0" i="0" sz="900" u="none" cap="none" strike="noStrike">
              <a:solidFill>
                <a:schemeClr val="dk1"/>
              </a:solidFill>
              <a:latin typeface="Arial"/>
              <a:ea typeface="Arial"/>
              <a:cs typeface="Arial"/>
              <a:sym typeface="Arial"/>
            </a:endParaRPr>
          </a:p>
        </p:txBody>
      </p:sp>
      <p:sp>
        <p:nvSpPr>
          <p:cNvPr id="437" name="Google Shape;437;p27"/>
          <p:cNvSpPr/>
          <p:nvPr/>
        </p:nvSpPr>
        <p:spPr>
          <a:xfrm>
            <a:off x="562356" y="2606040"/>
            <a:ext cx="2503170" cy="1179576"/>
          </a:xfrm>
          <a:prstGeom prst="roundRect">
            <a:avLst>
              <a:gd fmla="val 4651" name="adj"/>
            </a:avLst>
          </a:prstGeom>
          <a:solidFill>
            <a:srgbClr val="FFFFFF"/>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8" name="Google Shape;438;p27"/>
          <p:cNvSpPr/>
          <p:nvPr/>
        </p:nvSpPr>
        <p:spPr>
          <a:xfrm>
            <a:off x="562356" y="2606040"/>
            <a:ext cx="48006" cy="1179576"/>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27"/>
          <p:cNvSpPr/>
          <p:nvPr/>
        </p:nvSpPr>
        <p:spPr>
          <a:xfrm>
            <a:off x="713232" y="272948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Exemple réussi</a:t>
            </a:r>
            <a:endParaRPr b="0" i="0" sz="1100" u="none" cap="none" strike="noStrike">
              <a:solidFill>
                <a:schemeClr val="dk1"/>
              </a:solidFill>
              <a:latin typeface="Arial"/>
              <a:ea typeface="Arial"/>
              <a:cs typeface="Arial"/>
              <a:sym typeface="Arial"/>
            </a:endParaRPr>
          </a:p>
        </p:txBody>
      </p:sp>
      <p:sp>
        <p:nvSpPr>
          <p:cNvPr id="440" name="Google Shape;440;p27"/>
          <p:cNvSpPr/>
          <p:nvPr/>
        </p:nvSpPr>
        <p:spPr>
          <a:xfrm>
            <a:off x="713232" y="2990088"/>
            <a:ext cx="2269998" cy="69951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Pourquoi QLoRA consomme-t-il moins de mémoire qu’un fine-tuning complet ?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réponse généralement plus ciblée après adaptation.</a:t>
            </a:r>
            <a:endParaRPr b="0" i="0" sz="900" u="none" cap="none" strike="noStrike">
              <a:solidFill>
                <a:schemeClr val="dk1"/>
              </a:solidFill>
              <a:latin typeface="Arial"/>
              <a:ea typeface="Arial"/>
              <a:cs typeface="Arial"/>
              <a:sym typeface="Arial"/>
            </a:endParaRPr>
          </a:p>
        </p:txBody>
      </p:sp>
      <p:sp>
        <p:nvSpPr>
          <p:cNvPr id="441" name="Google Shape;441;p27"/>
          <p:cNvSpPr/>
          <p:nvPr/>
        </p:nvSpPr>
        <p:spPr>
          <a:xfrm>
            <a:off x="3312414" y="2606040"/>
            <a:ext cx="2503170" cy="1179576"/>
          </a:xfrm>
          <a:prstGeom prst="roundRect">
            <a:avLst>
              <a:gd fmla="val 4651" name="adj"/>
            </a:avLst>
          </a:prstGeom>
          <a:solidFill>
            <a:srgbClr val="FFFFFF"/>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2" name="Google Shape;442;p27"/>
          <p:cNvSpPr/>
          <p:nvPr/>
        </p:nvSpPr>
        <p:spPr>
          <a:xfrm>
            <a:off x="3312414" y="2606040"/>
            <a:ext cx="48006" cy="1179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3" name="Google Shape;443;p27"/>
          <p:cNvSpPr/>
          <p:nvPr/>
        </p:nvSpPr>
        <p:spPr>
          <a:xfrm>
            <a:off x="3463290" y="272948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Exemple de limite</a:t>
            </a:r>
            <a:endParaRPr b="0" i="0" sz="1100" u="none" cap="none" strike="noStrike">
              <a:solidFill>
                <a:schemeClr val="dk1"/>
              </a:solidFill>
              <a:latin typeface="Arial"/>
              <a:ea typeface="Arial"/>
              <a:cs typeface="Arial"/>
              <a:sym typeface="Arial"/>
            </a:endParaRPr>
          </a:p>
        </p:txBody>
      </p:sp>
      <p:sp>
        <p:nvSpPr>
          <p:cNvPr id="444" name="Google Shape;444;p27"/>
          <p:cNvSpPr/>
          <p:nvPr/>
        </p:nvSpPr>
        <p:spPr>
          <a:xfrm>
            <a:off x="3463290" y="2990088"/>
            <a:ext cx="2269998" cy="69951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Sur certaines comparaisons ou questions Q/K/V, une réponse peut être trop courte, partielle ou conceptuellement incorrecte.</a:t>
            </a:r>
            <a:endParaRPr b="0" i="0" sz="900" u="none" cap="none" strike="noStrike">
              <a:solidFill>
                <a:schemeClr val="dk1"/>
              </a:solidFill>
              <a:latin typeface="Arial"/>
              <a:ea typeface="Arial"/>
              <a:cs typeface="Arial"/>
              <a:sym typeface="Arial"/>
            </a:endParaRPr>
          </a:p>
        </p:txBody>
      </p:sp>
      <p:sp>
        <p:nvSpPr>
          <p:cNvPr id="445" name="Google Shape;445;p27"/>
          <p:cNvSpPr/>
          <p:nvPr/>
        </p:nvSpPr>
        <p:spPr>
          <a:xfrm>
            <a:off x="6062472" y="2606040"/>
            <a:ext cx="2503170" cy="1179576"/>
          </a:xfrm>
          <a:prstGeom prst="roundRect">
            <a:avLst>
              <a:gd fmla="val 4651" name="adj"/>
            </a:avLst>
          </a:prstGeom>
          <a:solidFill>
            <a:srgbClr val="FFFFFF"/>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6" name="Google Shape;446;p27"/>
          <p:cNvSpPr/>
          <p:nvPr/>
        </p:nvSpPr>
        <p:spPr>
          <a:xfrm>
            <a:off x="6062472" y="2606040"/>
            <a:ext cx="48006" cy="1179576"/>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7" name="Google Shape;447;p27"/>
          <p:cNvSpPr/>
          <p:nvPr/>
        </p:nvSpPr>
        <p:spPr>
          <a:xfrm>
            <a:off x="6213348" y="272948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Conclusion</a:t>
            </a:r>
            <a:endParaRPr b="0" i="0" sz="1100" u="none" cap="none" strike="noStrike">
              <a:solidFill>
                <a:schemeClr val="dk1"/>
              </a:solidFill>
              <a:latin typeface="Arial"/>
              <a:ea typeface="Arial"/>
              <a:cs typeface="Arial"/>
              <a:sym typeface="Arial"/>
            </a:endParaRPr>
          </a:p>
        </p:txBody>
      </p:sp>
      <p:sp>
        <p:nvSpPr>
          <p:cNvPr id="448" name="Google Shape;448;p27"/>
          <p:cNvSpPr/>
          <p:nvPr/>
        </p:nvSpPr>
        <p:spPr>
          <a:xfrm>
            <a:off x="6213348" y="2990088"/>
            <a:ext cx="2269998" cy="69951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QLoRA améliore la spécialisation, mais une bonne évaluation doit tester des formulations réellement nouvelles et plusieurs types de compétence.</a:t>
            </a:r>
            <a:endParaRPr b="0" i="0" sz="900" u="none" cap="none" strike="noStrike">
              <a:solidFill>
                <a:schemeClr val="dk1"/>
              </a:solidFill>
              <a:latin typeface="Arial"/>
              <a:ea typeface="Arial"/>
              <a:cs typeface="Arial"/>
              <a:sym typeface="Arial"/>
            </a:endParaRPr>
          </a:p>
        </p:txBody>
      </p:sp>
      <p:sp>
        <p:nvSpPr>
          <p:cNvPr id="449" name="Google Shape;449;p27"/>
          <p:cNvSpPr/>
          <p:nvPr/>
        </p:nvSpPr>
        <p:spPr>
          <a:xfrm>
            <a:off x="651510" y="4101084"/>
            <a:ext cx="7749540" cy="3977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000"/>
              <a:buFont typeface="Arial"/>
              <a:buNone/>
            </a:pPr>
            <a:r>
              <a:rPr b="1" i="0" lang="fr" sz="1000" u="none" cap="none" strike="noStrike">
                <a:solidFill>
                  <a:srgbClr val="0D1B2A"/>
                </a:solidFill>
                <a:latin typeface="Arial"/>
                <a:ea typeface="Arial"/>
                <a:cs typeface="Arial"/>
                <a:sym typeface="Arial"/>
              </a:rPr>
              <a:t>La généralisation = utiliser correctement ce qui a été appris dans une situation différente de celle vue pendant l’entraînement.</a:t>
            </a:r>
            <a:endParaRPr b="0" i="0" sz="1000" u="none" cap="none" strike="noStrike">
              <a:solidFill>
                <a:schemeClr val="dk1"/>
              </a:solidFill>
              <a:latin typeface="Arial"/>
              <a:ea typeface="Arial"/>
              <a:cs typeface="Arial"/>
              <a:sym typeface="Arial"/>
            </a:endParaRPr>
          </a:p>
        </p:txBody>
      </p:sp>
      <p:sp>
        <p:nvSpPr>
          <p:cNvPr id="450" name="Google Shape;450;p27"/>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12 / 20</a:t>
            </a:r>
            <a:endParaRPr b="0" i="0" sz="600" u="none" cap="none" strike="noStrike">
              <a:solidFill>
                <a:schemeClr val="dk1"/>
              </a:solidFill>
              <a:latin typeface="Arial"/>
              <a:ea typeface="Arial"/>
              <a:cs typeface="Arial"/>
              <a:sym typeface="Arial"/>
            </a:endParaRPr>
          </a:p>
        </p:txBody>
      </p:sp>
      <p:sp>
        <p:nvSpPr>
          <p:cNvPr id="451" name="Google Shape;451;p27"/>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8"/>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12. Application Gradio : transformer le modèle en assistant utilisable</a:t>
            </a:r>
            <a:endParaRPr b="0" i="0" sz="1800" u="none" cap="none" strike="noStrike">
              <a:solidFill>
                <a:schemeClr val="dk1"/>
              </a:solidFill>
              <a:latin typeface="Arial"/>
              <a:ea typeface="Arial"/>
              <a:cs typeface="Arial"/>
              <a:sym typeface="Arial"/>
            </a:endParaRPr>
          </a:p>
        </p:txBody>
      </p:sp>
      <p:sp>
        <p:nvSpPr>
          <p:cNvPr id="458" name="Google Shape;458;p28"/>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L’application ne réentraîne rien : elle recharge le modèle de base et l’adaptateur sauvegardé.</a:t>
            </a:r>
            <a:endParaRPr b="0" i="0" sz="900" u="none" cap="none" strike="noStrike">
              <a:solidFill>
                <a:schemeClr val="dk1"/>
              </a:solidFill>
              <a:latin typeface="Arial"/>
              <a:ea typeface="Arial"/>
              <a:cs typeface="Arial"/>
              <a:sym typeface="Arial"/>
            </a:endParaRPr>
          </a:p>
        </p:txBody>
      </p:sp>
      <p:sp>
        <p:nvSpPr>
          <p:cNvPr id="459" name="Google Shape;459;p28"/>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0" name="Google Shape;460;p28"/>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APPLICATION</a:t>
            </a:r>
            <a:endParaRPr b="0" i="0" sz="700" u="none" cap="none" strike="noStrike">
              <a:solidFill>
                <a:schemeClr val="dk1"/>
              </a:solidFill>
              <a:latin typeface="Arial"/>
              <a:ea typeface="Arial"/>
              <a:cs typeface="Arial"/>
              <a:sym typeface="Arial"/>
            </a:endParaRPr>
          </a:p>
        </p:txBody>
      </p:sp>
      <p:pic>
        <p:nvPicPr>
          <p:cNvPr descr="/mnt/data/nlp_tutor_work/gradio_demo.png" id="461" name="Google Shape;461;p28"/>
          <p:cNvPicPr preferRelativeResize="0"/>
          <p:nvPr/>
        </p:nvPicPr>
        <p:blipFill rotWithShape="1">
          <a:blip r:embed="rId3">
            <a:alphaModFix/>
          </a:blip>
          <a:srcRect b="0" l="0" r="0" t="0"/>
          <a:stretch/>
        </p:blipFill>
        <p:spPr>
          <a:xfrm>
            <a:off x="493776" y="857250"/>
            <a:ext cx="5246370" cy="3202686"/>
          </a:xfrm>
          <a:prstGeom prst="rect">
            <a:avLst/>
          </a:prstGeom>
          <a:noFill/>
          <a:ln>
            <a:noFill/>
          </a:ln>
        </p:spPr>
      </p:pic>
      <p:sp>
        <p:nvSpPr>
          <p:cNvPr id="462" name="Google Shape;462;p28"/>
          <p:cNvSpPr/>
          <p:nvPr/>
        </p:nvSpPr>
        <p:spPr>
          <a:xfrm>
            <a:off x="5966460" y="925830"/>
            <a:ext cx="2468880" cy="788670"/>
          </a:xfrm>
          <a:prstGeom prst="roundRect">
            <a:avLst>
              <a:gd fmla="val 6957"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3" name="Google Shape;463;p28"/>
          <p:cNvSpPr/>
          <p:nvPr/>
        </p:nvSpPr>
        <p:spPr>
          <a:xfrm>
            <a:off x="5966460" y="925830"/>
            <a:ext cx="48006" cy="78867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4" name="Google Shape;464;p28"/>
          <p:cNvSpPr/>
          <p:nvPr/>
        </p:nvSpPr>
        <p:spPr>
          <a:xfrm>
            <a:off x="6117336" y="1049274"/>
            <a:ext cx="222885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Chargement</a:t>
            </a:r>
            <a:endParaRPr b="0" i="0" sz="1100" u="none" cap="none" strike="noStrike">
              <a:solidFill>
                <a:schemeClr val="dk1"/>
              </a:solidFill>
              <a:latin typeface="Arial"/>
              <a:ea typeface="Arial"/>
              <a:cs typeface="Arial"/>
              <a:sym typeface="Arial"/>
            </a:endParaRPr>
          </a:p>
        </p:txBody>
      </p:sp>
      <p:sp>
        <p:nvSpPr>
          <p:cNvPr id="465" name="Google Shape;465;p28"/>
          <p:cNvSpPr/>
          <p:nvPr/>
        </p:nvSpPr>
        <p:spPr>
          <a:xfrm>
            <a:off x="6117336" y="1309878"/>
            <a:ext cx="2235708" cy="30861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Tokenizer + Qwen 4 bits + adaptateur LoRA</a:t>
            </a:r>
            <a:endParaRPr b="0" i="0" sz="900" u="none" cap="none" strike="noStrike">
              <a:solidFill>
                <a:schemeClr val="dk1"/>
              </a:solidFill>
              <a:latin typeface="Arial"/>
              <a:ea typeface="Arial"/>
              <a:cs typeface="Arial"/>
              <a:sym typeface="Arial"/>
            </a:endParaRPr>
          </a:p>
        </p:txBody>
      </p:sp>
      <p:sp>
        <p:nvSpPr>
          <p:cNvPr id="466" name="Google Shape;466;p28"/>
          <p:cNvSpPr/>
          <p:nvPr/>
        </p:nvSpPr>
        <p:spPr>
          <a:xfrm>
            <a:off x="5966460" y="1885950"/>
            <a:ext cx="2468880" cy="788670"/>
          </a:xfrm>
          <a:prstGeom prst="roundRect">
            <a:avLst>
              <a:gd fmla="val 6957"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7" name="Google Shape;467;p28"/>
          <p:cNvSpPr/>
          <p:nvPr/>
        </p:nvSpPr>
        <p:spPr>
          <a:xfrm>
            <a:off x="5966460" y="1885950"/>
            <a:ext cx="48006" cy="78867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8" name="Google Shape;468;p28"/>
          <p:cNvSpPr/>
          <p:nvPr/>
        </p:nvSpPr>
        <p:spPr>
          <a:xfrm>
            <a:off x="6117336" y="2009394"/>
            <a:ext cx="222885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Inférence</a:t>
            </a:r>
            <a:endParaRPr b="0" i="0" sz="1100" u="none" cap="none" strike="noStrike">
              <a:solidFill>
                <a:schemeClr val="dk1"/>
              </a:solidFill>
              <a:latin typeface="Arial"/>
              <a:ea typeface="Arial"/>
              <a:cs typeface="Arial"/>
              <a:sym typeface="Arial"/>
            </a:endParaRPr>
          </a:p>
        </p:txBody>
      </p:sp>
      <p:sp>
        <p:nvSpPr>
          <p:cNvPr id="469" name="Google Shape;469;p28"/>
          <p:cNvSpPr/>
          <p:nvPr/>
        </p:nvSpPr>
        <p:spPr>
          <a:xfrm>
            <a:off x="6117336" y="2269998"/>
            <a:ext cx="2235708" cy="30861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message → generate_tutor() → réponse</a:t>
            </a:r>
            <a:endParaRPr b="0" i="0" sz="900" u="none" cap="none" strike="noStrike">
              <a:solidFill>
                <a:schemeClr val="dk1"/>
              </a:solidFill>
              <a:latin typeface="Arial"/>
              <a:ea typeface="Arial"/>
              <a:cs typeface="Arial"/>
              <a:sym typeface="Arial"/>
            </a:endParaRPr>
          </a:p>
        </p:txBody>
      </p:sp>
      <p:sp>
        <p:nvSpPr>
          <p:cNvPr id="470" name="Google Shape;470;p28"/>
          <p:cNvSpPr/>
          <p:nvPr/>
        </p:nvSpPr>
        <p:spPr>
          <a:xfrm>
            <a:off x="5966460" y="2846070"/>
            <a:ext cx="2468880" cy="788670"/>
          </a:xfrm>
          <a:prstGeom prst="roundRect">
            <a:avLst>
              <a:gd fmla="val 6957"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1" name="Google Shape;471;p28"/>
          <p:cNvSpPr/>
          <p:nvPr/>
        </p:nvSpPr>
        <p:spPr>
          <a:xfrm>
            <a:off x="5966460" y="2846070"/>
            <a:ext cx="48006" cy="78867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2" name="Google Shape;472;p28"/>
          <p:cNvSpPr/>
          <p:nvPr/>
        </p:nvSpPr>
        <p:spPr>
          <a:xfrm>
            <a:off x="6117336" y="2969514"/>
            <a:ext cx="222885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Interface</a:t>
            </a:r>
            <a:endParaRPr b="0" i="0" sz="1100" u="none" cap="none" strike="noStrike">
              <a:solidFill>
                <a:schemeClr val="dk1"/>
              </a:solidFill>
              <a:latin typeface="Arial"/>
              <a:ea typeface="Arial"/>
              <a:cs typeface="Arial"/>
              <a:sym typeface="Arial"/>
            </a:endParaRPr>
          </a:p>
        </p:txBody>
      </p:sp>
      <p:sp>
        <p:nvSpPr>
          <p:cNvPr id="473" name="Google Shape;473;p28"/>
          <p:cNvSpPr/>
          <p:nvPr/>
        </p:nvSpPr>
        <p:spPr>
          <a:xfrm>
            <a:off x="6117336" y="3230118"/>
            <a:ext cx="2235708" cy="30861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gr.ChatInterface + exemples de questions</a:t>
            </a:r>
            <a:endParaRPr b="0" i="0" sz="900" u="none" cap="none" strike="noStrike">
              <a:solidFill>
                <a:schemeClr val="dk1"/>
              </a:solidFill>
              <a:latin typeface="Arial"/>
              <a:ea typeface="Arial"/>
              <a:cs typeface="Arial"/>
              <a:sym typeface="Arial"/>
            </a:endParaRPr>
          </a:p>
        </p:txBody>
      </p:sp>
      <p:sp>
        <p:nvSpPr>
          <p:cNvPr id="474" name="Google Shape;474;p28"/>
          <p:cNvSpPr/>
          <p:nvPr/>
        </p:nvSpPr>
        <p:spPr>
          <a:xfrm>
            <a:off x="5980176" y="3861054"/>
            <a:ext cx="2482596" cy="5006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800"/>
              <a:buFont typeface="Arial"/>
              <a:buNone/>
            </a:pPr>
            <a:r>
              <a:rPr b="1" i="0" lang="fr" sz="800" u="none" cap="none" strike="noStrike">
                <a:solidFill>
                  <a:srgbClr val="C0392B"/>
                </a:solidFill>
                <a:latin typeface="Arial"/>
                <a:ea typeface="Arial"/>
                <a:cs typeface="Arial"/>
                <a:sym typeface="Arial"/>
              </a:rPr>
              <a:t>Limite actuelle : `history` est fourni par Gradio mais n’est pas encore réinjecté dans le prompt du modèle.</a:t>
            </a:r>
            <a:endParaRPr b="0" i="0" sz="800" u="none" cap="none" strike="noStrike">
              <a:solidFill>
                <a:schemeClr val="dk1"/>
              </a:solidFill>
              <a:latin typeface="Arial"/>
              <a:ea typeface="Arial"/>
              <a:cs typeface="Arial"/>
              <a:sym typeface="Arial"/>
            </a:endParaRPr>
          </a:p>
        </p:txBody>
      </p:sp>
      <p:sp>
        <p:nvSpPr>
          <p:cNvPr id="475" name="Google Shape;475;p28"/>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b="0" i="0" lang="fr" sz="600" u="none" cap="none" strike="noStrike">
                <a:solidFill>
                  <a:srgbClr val="667085"/>
                </a:solidFill>
                <a:latin typeface="Arial"/>
                <a:ea typeface="Arial"/>
                <a:cs typeface="Arial"/>
                <a:sym typeface="Arial"/>
              </a:rPr>
              <a:t>13 / 20</a:t>
            </a:r>
            <a:endParaRPr b="0" i="0" sz="600" u="none" cap="none" strike="noStrike">
              <a:solidFill>
                <a:schemeClr val="dk1"/>
              </a:solidFill>
              <a:latin typeface="Arial"/>
              <a:ea typeface="Arial"/>
              <a:cs typeface="Arial"/>
              <a:sym typeface="Arial"/>
            </a:endParaRPr>
          </a:p>
        </p:txBody>
      </p:sp>
      <p:sp>
        <p:nvSpPr>
          <p:cNvPr id="476" name="Google Shape;476;p28"/>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9"/>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i="0" lang="fr" sz="1800" u="none" cap="none" strike="noStrike">
                <a:solidFill>
                  <a:srgbClr val="0D1B2A"/>
                </a:solidFill>
                <a:latin typeface="Play"/>
                <a:ea typeface="Play"/>
                <a:cs typeface="Play"/>
                <a:sym typeface="Play"/>
              </a:rPr>
              <a:t>13. Démonstration : vérifier que le système fonctionne réellement</a:t>
            </a:r>
            <a:endParaRPr b="0" i="0" sz="1800" u="none" cap="none" strike="noStrike">
              <a:solidFill>
                <a:schemeClr val="dk1"/>
              </a:solidFill>
              <a:latin typeface="Arial"/>
              <a:ea typeface="Arial"/>
              <a:cs typeface="Arial"/>
              <a:sym typeface="Arial"/>
            </a:endParaRPr>
          </a:p>
        </p:txBody>
      </p:sp>
      <p:sp>
        <p:nvSpPr>
          <p:cNvPr id="483" name="Google Shape;483;p29"/>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fr" sz="900" u="none" cap="none" strike="noStrike">
                <a:solidFill>
                  <a:srgbClr val="667085"/>
                </a:solidFill>
                <a:latin typeface="Arial"/>
                <a:ea typeface="Arial"/>
                <a:cs typeface="Arial"/>
                <a:sym typeface="Arial"/>
              </a:rPr>
              <a:t>Scénario de démo simple, reproductible et directement lié aux objectifs du projet.</a:t>
            </a:r>
            <a:endParaRPr b="0" i="0" sz="900" u="none" cap="none" strike="noStrike">
              <a:solidFill>
                <a:schemeClr val="dk1"/>
              </a:solidFill>
              <a:latin typeface="Arial"/>
              <a:ea typeface="Arial"/>
              <a:cs typeface="Arial"/>
              <a:sym typeface="Arial"/>
            </a:endParaRPr>
          </a:p>
        </p:txBody>
      </p:sp>
      <p:sp>
        <p:nvSpPr>
          <p:cNvPr id="484" name="Google Shape;484;p29"/>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5" name="Google Shape;485;p29"/>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i="0" lang="fr" sz="700" u="none" cap="none" strike="noStrike">
                <a:solidFill>
                  <a:srgbClr val="0E7C7B"/>
                </a:solidFill>
                <a:latin typeface="Arial"/>
                <a:ea typeface="Arial"/>
                <a:cs typeface="Arial"/>
                <a:sym typeface="Arial"/>
              </a:rPr>
              <a:t>DÉMONSTRATION</a:t>
            </a:r>
            <a:endParaRPr b="0" i="0" sz="700" u="none" cap="none" strike="noStrike">
              <a:solidFill>
                <a:schemeClr val="dk1"/>
              </a:solidFill>
              <a:latin typeface="Arial"/>
              <a:ea typeface="Arial"/>
              <a:cs typeface="Arial"/>
              <a:sym typeface="Arial"/>
            </a:endParaRPr>
          </a:p>
        </p:txBody>
      </p:sp>
      <p:sp>
        <p:nvSpPr>
          <p:cNvPr id="486" name="Google Shape;486;p29"/>
          <p:cNvSpPr/>
          <p:nvPr/>
        </p:nvSpPr>
        <p:spPr>
          <a:xfrm>
            <a:off x="562356" y="918972"/>
            <a:ext cx="2503170" cy="1385316"/>
          </a:xfrm>
          <a:prstGeom prst="roundRect">
            <a:avLst>
              <a:gd fmla="val 3960"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7" name="Google Shape;487;p29"/>
          <p:cNvSpPr/>
          <p:nvPr/>
        </p:nvSpPr>
        <p:spPr>
          <a:xfrm>
            <a:off x="562356" y="918972"/>
            <a:ext cx="48006" cy="1385316"/>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8" name="Google Shape;488;p29"/>
          <p:cNvSpPr/>
          <p:nvPr/>
        </p:nvSpPr>
        <p:spPr>
          <a:xfrm>
            <a:off x="713232" y="1042416"/>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Test 1 — notion simple</a:t>
            </a:r>
            <a:endParaRPr b="0" i="0" sz="1100" u="none" cap="none" strike="noStrike">
              <a:solidFill>
                <a:schemeClr val="dk1"/>
              </a:solidFill>
              <a:latin typeface="Arial"/>
              <a:ea typeface="Arial"/>
              <a:cs typeface="Arial"/>
              <a:sym typeface="Arial"/>
            </a:endParaRPr>
          </a:p>
        </p:txBody>
      </p:sp>
      <p:sp>
        <p:nvSpPr>
          <p:cNvPr id="489" name="Google Shape;489;p29"/>
          <p:cNvSpPr/>
          <p:nvPr/>
        </p:nvSpPr>
        <p:spPr>
          <a:xfrm>
            <a:off x="713232" y="1303020"/>
            <a:ext cx="2269998" cy="90525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Qu’est-ce qu’un token en NLP ?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À observer : définition claire, vocabulaire pédagogique, structure de réponse.</a:t>
            </a:r>
            <a:endParaRPr b="0" i="0" sz="900" u="none" cap="none" strike="noStrike">
              <a:solidFill>
                <a:schemeClr val="dk1"/>
              </a:solidFill>
              <a:latin typeface="Arial"/>
              <a:ea typeface="Arial"/>
              <a:cs typeface="Arial"/>
              <a:sym typeface="Arial"/>
            </a:endParaRPr>
          </a:p>
        </p:txBody>
      </p:sp>
      <p:sp>
        <p:nvSpPr>
          <p:cNvPr id="490" name="Google Shape;490;p29"/>
          <p:cNvSpPr/>
          <p:nvPr/>
        </p:nvSpPr>
        <p:spPr>
          <a:xfrm>
            <a:off x="3305556" y="918972"/>
            <a:ext cx="2503170" cy="1385316"/>
          </a:xfrm>
          <a:prstGeom prst="roundRect">
            <a:avLst>
              <a:gd fmla="val 3960"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1" name="Google Shape;491;p29"/>
          <p:cNvSpPr/>
          <p:nvPr/>
        </p:nvSpPr>
        <p:spPr>
          <a:xfrm>
            <a:off x="3305556" y="918972"/>
            <a:ext cx="48006" cy="1385316"/>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2" name="Google Shape;492;p29"/>
          <p:cNvSpPr/>
          <p:nvPr/>
        </p:nvSpPr>
        <p:spPr>
          <a:xfrm>
            <a:off x="3456432" y="1042416"/>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Test 2 — notion centrale</a:t>
            </a:r>
            <a:endParaRPr b="0" i="0" sz="1100" u="none" cap="none" strike="noStrike">
              <a:solidFill>
                <a:schemeClr val="dk1"/>
              </a:solidFill>
              <a:latin typeface="Arial"/>
              <a:ea typeface="Arial"/>
              <a:cs typeface="Arial"/>
              <a:sym typeface="Arial"/>
            </a:endParaRPr>
          </a:p>
        </p:txBody>
      </p:sp>
      <p:sp>
        <p:nvSpPr>
          <p:cNvPr id="493" name="Google Shape;493;p29"/>
          <p:cNvSpPr/>
          <p:nvPr/>
        </p:nvSpPr>
        <p:spPr>
          <a:xfrm>
            <a:off x="3456432" y="1303020"/>
            <a:ext cx="2269998" cy="90525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Explique-moi simplement la self-attention.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À observer : capacité à reformuler une notion Transformer.</a:t>
            </a:r>
            <a:endParaRPr b="0" i="0" sz="900" u="none" cap="none" strike="noStrike">
              <a:solidFill>
                <a:schemeClr val="dk1"/>
              </a:solidFill>
              <a:latin typeface="Arial"/>
              <a:ea typeface="Arial"/>
              <a:cs typeface="Arial"/>
              <a:sym typeface="Arial"/>
            </a:endParaRPr>
          </a:p>
        </p:txBody>
      </p:sp>
      <p:sp>
        <p:nvSpPr>
          <p:cNvPr id="494" name="Google Shape;494;p29"/>
          <p:cNvSpPr/>
          <p:nvPr/>
        </p:nvSpPr>
        <p:spPr>
          <a:xfrm>
            <a:off x="6048756" y="918972"/>
            <a:ext cx="2503170" cy="1385316"/>
          </a:xfrm>
          <a:prstGeom prst="roundRect">
            <a:avLst>
              <a:gd fmla="val 3960"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5" name="Google Shape;495;p29"/>
          <p:cNvSpPr/>
          <p:nvPr/>
        </p:nvSpPr>
        <p:spPr>
          <a:xfrm>
            <a:off x="6048756" y="918972"/>
            <a:ext cx="48006" cy="1385316"/>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6" name="Google Shape;496;p29"/>
          <p:cNvSpPr/>
          <p:nvPr/>
        </p:nvSpPr>
        <p:spPr>
          <a:xfrm>
            <a:off x="6199632" y="1042416"/>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i="0" lang="fr" sz="1100" u="none" cap="none" strike="noStrike">
                <a:solidFill>
                  <a:srgbClr val="0D1B2A"/>
                </a:solidFill>
                <a:latin typeface="Arial"/>
                <a:ea typeface="Arial"/>
                <a:cs typeface="Arial"/>
                <a:sym typeface="Arial"/>
              </a:rPr>
              <a:t>Test 3 — comparaison</a:t>
            </a:r>
            <a:endParaRPr b="0" i="0" sz="1100" u="none" cap="none" strike="noStrike">
              <a:solidFill>
                <a:schemeClr val="dk1"/>
              </a:solidFill>
              <a:latin typeface="Arial"/>
              <a:ea typeface="Arial"/>
              <a:cs typeface="Arial"/>
              <a:sym typeface="Arial"/>
            </a:endParaRPr>
          </a:p>
        </p:txBody>
      </p:sp>
      <p:sp>
        <p:nvSpPr>
          <p:cNvPr id="497" name="Google Shape;497;p29"/>
          <p:cNvSpPr/>
          <p:nvPr/>
        </p:nvSpPr>
        <p:spPr>
          <a:xfrm>
            <a:off x="6199632" y="1303020"/>
            <a:ext cx="2269998" cy="90525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 Quelle différence entre LoRA et QLoRA ?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b="0" i="0" lang="fr" sz="900" u="none" cap="none" strike="noStrike">
                <a:solidFill>
                  <a:srgbClr val="1D2939"/>
                </a:solidFill>
                <a:latin typeface="Arial"/>
                <a:ea typeface="Arial"/>
                <a:cs typeface="Arial"/>
                <a:sym typeface="Arial"/>
              </a:rPr>
              <a:t>À observer : réponse plus exigeante qu’une simple définition.</a:t>
            </a:r>
            <a:endParaRPr b="0" i="0" sz="900" u="none" cap="none" strike="noStrike">
              <a:solidFill>
                <a:schemeClr val="dk1"/>
              </a:solidFill>
              <a:latin typeface="Arial"/>
              <a:ea typeface="Arial"/>
              <a:cs typeface="Arial"/>
              <a:sym typeface="Arial"/>
            </a:endParaRPr>
          </a:p>
        </p:txBody>
      </p:sp>
      <p:sp>
        <p:nvSpPr>
          <p:cNvPr id="498" name="Google Shape;498;p29"/>
          <p:cNvSpPr/>
          <p:nvPr/>
        </p:nvSpPr>
        <p:spPr>
          <a:xfrm>
            <a:off x="589788" y="2640330"/>
            <a:ext cx="294894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Arial"/>
              <a:buNone/>
            </a:pPr>
            <a:r>
              <a:rPr b="1" i="0" lang="fr" sz="1200" u="none" cap="none" strike="noStrike">
                <a:solidFill>
                  <a:srgbClr val="0D1B2A"/>
                </a:solidFill>
                <a:latin typeface="Arial"/>
                <a:ea typeface="Arial"/>
                <a:cs typeface="Arial"/>
                <a:sym typeface="Arial"/>
              </a:rPr>
              <a:t>Ce que je montre pendant la démonstration</a:t>
            </a:r>
            <a:endParaRPr b="0" i="0" sz="1200" u="none" cap="none" strike="noStrike">
              <a:solidFill>
                <a:schemeClr val="dk1"/>
              </a:solidFill>
              <a:latin typeface="Arial"/>
              <a:ea typeface="Arial"/>
              <a:cs typeface="Arial"/>
              <a:sym typeface="Arial"/>
            </a:endParaRPr>
          </a:p>
        </p:txBody>
      </p:sp>
      <p:sp>
        <p:nvSpPr>
          <p:cNvPr id="499" name="Google Shape;499;p29"/>
          <p:cNvSpPr/>
          <p:nvPr/>
        </p:nvSpPr>
        <p:spPr>
          <a:xfrm>
            <a:off x="651510" y="2983230"/>
            <a:ext cx="3840480" cy="1179576"/>
          </a:xfrm>
          <a:prstGeom prst="rect">
            <a:avLst/>
          </a:prstGeom>
          <a:noFill/>
          <a:ln>
            <a:noFill/>
          </a:ln>
        </p:spPr>
        <p:txBody>
          <a:bodyPr anchorCtr="0" anchor="ctr" bIns="275" lIns="275" spcFirstLastPara="1" rIns="275" wrap="square" tIns="275">
            <a:noAutofit/>
          </a:bodyPr>
          <a:lstStyle/>
          <a:p>
            <a:pPr indent="0" lvl="0" marL="0" marR="0" rtl="0" algn="l">
              <a:spcBef>
                <a:spcPts val="0"/>
              </a:spcBef>
              <a:spcAft>
                <a:spcPts val="0"/>
              </a:spcAft>
              <a:buNone/>
            </a:pPr>
            <a:r>
              <a:rPr b="0" i="0" lang="fr" sz="900" u="none" cap="none" strike="noStrike">
                <a:solidFill>
                  <a:srgbClr val="1D2939"/>
                </a:solidFill>
                <a:latin typeface="Arial"/>
                <a:ea typeface="Arial"/>
                <a:cs typeface="Arial"/>
                <a:sym typeface="Arial"/>
              </a:rPr>
              <a:t>l’interface répond avec le modèle adapté ;</a:t>
            </a:r>
            <a:endParaRPr sz="900">
              <a:solidFill>
                <a:schemeClr val="dk1"/>
              </a:solidFill>
              <a:latin typeface="Arial"/>
              <a:ea typeface="Arial"/>
              <a:cs typeface="Arial"/>
              <a:sym typeface="Arial"/>
            </a:endParaRPr>
          </a:p>
          <a:p>
            <a:pPr indent="0" lvl="0" marL="0" marR="0" rtl="0" algn="l">
              <a:spcBef>
                <a:spcPts val="0"/>
              </a:spcBef>
              <a:spcAft>
                <a:spcPts val="0"/>
              </a:spcAft>
              <a:buNone/>
            </a:pPr>
            <a:r>
              <a:rPr lang="fr" sz="900">
                <a:solidFill>
                  <a:srgbClr val="1D2939"/>
                </a:solidFill>
                <a:latin typeface="Arial"/>
                <a:ea typeface="Arial"/>
                <a:cs typeface="Arial"/>
                <a:sym typeface="Arial"/>
              </a:rPr>
              <a:t>l’adaptateur est rechargé sans refaire l’entraînement ;</a:t>
            </a:r>
            <a:endParaRPr sz="900">
              <a:solidFill>
                <a:schemeClr val="dk1"/>
              </a:solidFill>
              <a:latin typeface="Arial"/>
              <a:ea typeface="Arial"/>
              <a:cs typeface="Arial"/>
              <a:sym typeface="Arial"/>
            </a:endParaRPr>
          </a:p>
          <a:p>
            <a:pPr indent="0" lvl="0" marL="0" marR="0" rtl="0" algn="l">
              <a:spcBef>
                <a:spcPts val="0"/>
              </a:spcBef>
              <a:spcAft>
                <a:spcPts val="0"/>
              </a:spcAft>
              <a:buNone/>
            </a:pPr>
            <a:r>
              <a:rPr lang="fr" sz="900">
                <a:solidFill>
                  <a:srgbClr val="1D2939"/>
                </a:solidFill>
                <a:latin typeface="Arial"/>
                <a:ea typeface="Arial"/>
                <a:cs typeface="Arial"/>
                <a:sym typeface="Arial"/>
              </a:rPr>
              <a:t>les réponses sont cohérentes avec le rôle pédagogique ;</a:t>
            </a:r>
            <a:endParaRPr sz="900">
              <a:solidFill>
                <a:schemeClr val="dk1"/>
              </a:solidFill>
              <a:latin typeface="Arial"/>
              <a:ea typeface="Arial"/>
              <a:cs typeface="Arial"/>
              <a:sym typeface="Arial"/>
            </a:endParaRPr>
          </a:p>
          <a:p>
            <a:pPr indent="0" lvl="0" marL="0" marR="0" rtl="0" algn="l">
              <a:spcBef>
                <a:spcPts val="0"/>
              </a:spcBef>
              <a:spcAft>
                <a:spcPts val="0"/>
              </a:spcAft>
              <a:buNone/>
            </a:pPr>
            <a:r>
              <a:rPr lang="fr" sz="900">
                <a:solidFill>
                  <a:srgbClr val="1D2939"/>
                </a:solidFill>
                <a:latin typeface="Arial"/>
                <a:ea typeface="Arial"/>
                <a:cs typeface="Arial"/>
                <a:sym typeface="Arial"/>
              </a:rPr>
              <a:t>une réponse imparfaite est analysée comme une limite, pas masquée.</a:t>
            </a:r>
            <a:endParaRPr sz="900">
              <a:solidFill>
                <a:schemeClr val="dk1"/>
              </a:solidFill>
              <a:latin typeface="Arial"/>
              <a:ea typeface="Arial"/>
              <a:cs typeface="Arial"/>
              <a:sym typeface="Arial"/>
            </a:endParaRPr>
          </a:p>
        </p:txBody>
      </p:sp>
      <p:sp>
        <p:nvSpPr>
          <p:cNvPr id="500" name="Google Shape;500;p29"/>
          <p:cNvSpPr/>
          <p:nvPr/>
        </p:nvSpPr>
        <p:spPr>
          <a:xfrm>
            <a:off x="4800600" y="2708910"/>
            <a:ext cx="3689604" cy="1330452"/>
          </a:xfrm>
          <a:prstGeom prst="roundRect">
            <a:avLst>
              <a:gd fmla="val 4124" name="adj"/>
            </a:avLst>
          </a:prstGeom>
          <a:solidFill>
            <a:srgbClr val="FDECEC"/>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1" name="Google Shape;501;p29"/>
          <p:cNvSpPr/>
          <p:nvPr/>
        </p:nvSpPr>
        <p:spPr>
          <a:xfrm>
            <a:off x="4800600" y="2708910"/>
            <a:ext cx="48006" cy="133045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2" name="Google Shape;502;p29"/>
          <p:cNvSpPr/>
          <p:nvPr/>
        </p:nvSpPr>
        <p:spPr>
          <a:xfrm>
            <a:off x="4951476" y="2832354"/>
            <a:ext cx="34495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Plan B de présentation</a:t>
            </a:r>
            <a:endParaRPr sz="1100">
              <a:solidFill>
                <a:schemeClr val="dk1"/>
              </a:solidFill>
              <a:latin typeface="Arial"/>
              <a:ea typeface="Arial"/>
              <a:cs typeface="Arial"/>
              <a:sym typeface="Arial"/>
            </a:endParaRPr>
          </a:p>
        </p:txBody>
      </p:sp>
      <p:sp>
        <p:nvSpPr>
          <p:cNvPr id="503" name="Google Shape;503;p29"/>
          <p:cNvSpPr/>
          <p:nvPr/>
        </p:nvSpPr>
        <p:spPr>
          <a:xfrm>
            <a:off x="4951476" y="3092958"/>
            <a:ext cx="3456432" cy="850392"/>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Si le lien Gradio ou le runtime Colab n’est plus disponible : montrer la capture de l’application et les résultats CSV déjà sauvegardés. La preuve expérimentale ne dépend donc pas d’un entraînement relancé en direct.</a:t>
            </a:r>
            <a:endParaRPr sz="900">
              <a:solidFill>
                <a:schemeClr val="dk1"/>
              </a:solidFill>
              <a:latin typeface="Arial"/>
              <a:ea typeface="Arial"/>
              <a:cs typeface="Arial"/>
              <a:sym typeface="Arial"/>
            </a:endParaRPr>
          </a:p>
        </p:txBody>
      </p:sp>
      <p:sp>
        <p:nvSpPr>
          <p:cNvPr id="504" name="Google Shape;504;p29"/>
          <p:cNvSpPr/>
          <p:nvPr/>
        </p:nvSpPr>
        <p:spPr>
          <a:xfrm>
            <a:off x="5040630" y="4224528"/>
            <a:ext cx="3154680"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800"/>
              <a:buFont typeface="Courier New"/>
              <a:buNone/>
            </a:pPr>
            <a:r>
              <a:rPr b="1" lang="fr" sz="800">
                <a:solidFill>
                  <a:srgbClr val="0D1B2A"/>
                </a:solidFill>
                <a:latin typeface="Courier New"/>
                <a:ea typeface="Courier New"/>
                <a:cs typeface="Courier New"/>
                <a:sym typeface="Courier New"/>
              </a:rPr>
              <a:t>Commande de lancement :  python app/app.py   ou   %run app/app.py</a:t>
            </a:r>
            <a:endParaRPr sz="800">
              <a:solidFill>
                <a:schemeClr val="dk1"/>
              </a:solidFill>
              <a:latin typeface="Arial"/>
              <a:ea typeface="Arial"/>
              <a:cs typeface="Arial"/>
              <a:sym typeface="Arial"/>
            </a:endParaRPr>
          </a:p>
        </p:txBody>
      </p:sp>
      <p:sp>
        <p:nvSpPr>
          <p:cNvPr id="505" name="Google Shape;505;p29"/>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lang="fr" sz="600">
                <a:solidFill>
                  <a:srgbClr val="667085"/>
                </a:solidFill>
                <a:latin typeface="Arial"/>
                <a:ea typeface="Arial"/>
                <a:cs typeface="Arial"/>
                <a:sym typeface="Arial"/>
              </a:rPr>
              <a:t>14 / 20</a:t>
            </a:r>
            <a:endParaRPr sz="600">
              <a:solidFill>
                <a:schemeClr val="dk1"/>
              </a:solidFill>
              <a:latin typeface="Arial"/>
              <a:ea typeface="Arial"/>
              <a:cs typeface="Arial"/>
              <a:sym typeface="Arial"/>
            </a:endParaRPr>
          </a:p>
        </p:txBody>
      </p:sp>
      <p:sp>
        <p:nvSpPr>
          <p:cNvPr id="506" name="Google Shape;506;p29"/>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fr" sz="600" u="none" cap="none" strike="noStrike">
                <a:solidFill>
                  <a:srgbClr val="667085"/>
                </a:solidFill>
                <a:latin typeface="Arial"/>
                <a:ea typeface="Arial"/>
                <a:cs typeface="Arial"/>
                <a:sym typeface="Arial"/>
              </a:rPr>
              <a:t>‹#›</a:t>
            </a:fld>
            <a:endParaRPr b="0" i="0" sz="600" u="none" cap="none" strike="noStrike">
              <a:solidFill>
                <a:srgbClr val="667085"/>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0"/>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lang="fr" sz="1800">
                <a:solidFill>
                  <a:srgbClr val="0D1B2A"/>
                </a:solidFill>
                <a:latin typeface="Play"/>
                <a:ea typeface="Play"/>
                <a:cs typeface="Play"/>
                <a:sym typeface="Play"/>
              </a:rPr>
              <a:t>14. Bilan : ce que le projet démontre — et ce qu’il ne démontre pas</a:t>
            </a:r>
            <a:endParaRPr sz="1800">
              <a:solidFill>
                <a:schemeClr val="dk1"/>
              </a:solidFill>
              <a:latin typeface="Arial"/>
              <a:ea typeface="Arial"/>
              <a:cs typeface="Arial"/>
              <a:sym typeface="Arial"/>
            </a:endParaRPr>
          </a:p>
        </p:txBody>
      </p:sp>
      <p:sp>
        <p:nvSpPr>
          <p:cNvPr id="513" name="Google Shape;513;p30"/>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lang="fr" sz="900">
                <a:solidFill>
                  <a:srgbClr val="667085"/>
                </a:solidFill>
                <a:latin typeface="Arial"/>
                <a:ea typeface="Arial"/>
                <a:cs typeface="Arial"/>
                <a:sym typeface="Arial"/>
              </a:rPr>
              <a:t>Une expérimentation complète, mais avec des limites méthodologiques clairement identifiées.</a:t>
            </a:r>
            <a:endParaRPr sz="900">
              <a:solidFill>
                <a:schemeClr val="dk1"/>
              </a:solidFill>
              <a:latin typeface="Arial"/>
              <a:ea typeface="Arial"/>
              <a:cs typeface="Arial"/>
              <a:sym typeface="Arial"/>
            </a:endParaRPr>
          </a:p>
        </p:txBody>
      </p:sp>
      <p:sp>
        <p:nvSpPr>
          <p:cNvPr id="514" name="Google Shape;514;p30"/>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5" name="Google Shape;515;p30"/>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lang="fr" sz="700">
                <a:solidFill>
                  <a:srgbClr val="0E7C7B"/>
                </a:solidFill>
                <a:latin typeface="Arial"/>
                <a:ea typeface="Arial"/>
                <a:cs typeface="Arial"/>
                <a:sym typeface="Arial"/>
              </a:rPr>
              <a:t>CONCLUSION</a:t>
            </a:r>
            <a:endParaRPr sz="700">
              <a:solidFill>
                <a:schemeClr val="dk1"/>
              </a:solidFill>
              <a:latin typeface="Arial"/>
              <a:ea typeface="Arial"/>
              <a:cs typeface="Arial"/>
              <a:sym typeface="Arial"/>
            </a:endParaRPr>
          </a:p>
        </p:txBody>
      </p:sp>
      <p:sp>
        <p:nvSpPr>
          <p:cNvPr id="516" name="Google Shape;516;p30"/>
          <p:cNvSpPr/>
          <p:nvPr/>
        </p:nvSpPr>
        <p:spPr>
          <a:xfrm>
            <a:off x="562356" y="925830"/>
            <a:ext cx="2503170" cy="1522476"/>
          </a:xfrm>
          <a:prstGeom prst="roundRect">
            <a:avLst>
              <a:gd fmla="val 3604"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7" name="Google Shape;517;p30"/>
          <p:cNvSpPr/>
          <p:nvPr/>
        </p:nvSpPr>
        <p:spPr>
          <a:xfrm>
            <a:off x="562356" y="925830"/>
            <a:ext cx="48006" cy="1522476"/>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8" name="Google Shape;518;p30"/>
          <p:cNvSpPr/>
          <p:nvPr/>
        </p:nvSpPr>
        <p:spPr>
          <a:xfrm>
            <a:off x="713232" y="104927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Ce qui fonctionne</a:t>
            </a:r>
            <a:endParaRPr sz="1100">
              <a:solidFill>
                <a:schemeClr val="dk1"/>
              </a:solidFill>
              <a:latin typeface="Arial"/>
              <a:ea typeface="Arial"/>
              <a:cs typeface="Arial"/>
              <a:sym typeface="Arial"/>
            </a:endParaRPr>
          </a:p>
        </p:txBody>
      </p:sp>
      <p:sp>
        <p:nvSpPr>
          <p:cNvPr id="519" name="Google Shape;519;p30"/>
          <p:cNvSpPr/>
          <p:nvPr/>
        </p:nvSpPr>
        <p:spPr>
          <a:xfrm>
            <a:off x="713232" y="1309878"/>
            <a:ext cx="2269998" cy="104241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pipeline complet du texte à l’application</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baseline reproductible</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fine-tuning QLoRA sur T4</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forte adaptation aux références</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interface Gradio opérationnelle</a:t>
            </a:r>
            <a:endParaRPr sz="900">
              <a:solidFill>
                <a:schemeClr val="dk1"/>
              </a:solidFill>
              <a:latin typeface="Arial"/>
              <a:ea typeface="Arial"/>
              <a:cs typeface="Arial"/>
              <a:sym typeface="Arial"/>
            </a:endParaRPr>
          </a:p>
        </p:txBody>
      </p:sp>
      <p:sp>
        <p:nvSpPr>
          <p:cNvPr id="520" name="Google Shape;520;p30"/>
          <p:cNvSpPr/>
          <p:nvPr/>
        </p:nvSpPr>
        <p:spPr>
          <a:xfrm>
            <a:off x="3305556" y="925830"/>
            <a:ext cx="2503170" cy="1522476"/>
          </a:xfrm>
          <a:prstGeom prst="roundRect">
            <a:avLst>
              <a:gd fmla="val 3604" name="adj"/>
            </a:avLst>
          </a:prstGeom>
          <a:solidFill>
            <a:srgbClr val="FDECEC"/>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1" name="Google Shape;521;p30"/>
          <p:cNvSpPr/>
          <p:nvPr/>
        </p:nvSpPr>
        <p:spPr>
          <a:xfrm>
            <a:off x="3305556" y="925830"/>
            <a:ext cx="48006" cy="15224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2" name="Google Shape;522;p30"/>
          <p:cNvSpPr/>
          <p:nvPr/>
        </p:nvSpPr>
        <p:spPr>
          <a:xfrm>
            <a:off x="3456432" y="104927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Limites</a:t>
            </a:r>
            <a:endParaRPr sz="1100">
              <a:solidFill>
                <a:schemeClr val="dk1"/>
              </a:solidFill>
              <a:latin typeface="Arial"/>
              <a:ea typeface="Arial"/>
              <a:cs typeface="Arial"/>
              <a:sym typeface="Arial"/>
            </a:endParaRPr>
          </a:p>
        </p:txBody>
      </p:sp>
      <p:sp>
        <p:nvSpPr>
          <p:cNvPr id="523" name="Google Shape;523;p30"/>
          <p:cNvSpPr/>
          <p:nvPr/>
        </p:nvSpPr>
        <p:spPr>
          <a:xfrm>
            <a:off x="3456432" y="1309878"/>
            <a:ext cx="2269998" cy="104241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dataset synthétique et petit</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réponses de référence trop similaires</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ROUGE-L favorisé</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multi-tour incomplet</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généralisation encore imparfaite</a:t>
            </a:r>
            <a:endParaRPr sz="900">
              <a:solidFill>
                <a:schemeClr val="dk1"/>
              </a:solidFill>
              <a:latin typeface="Arial"/>
              <a:ea typeface="Arial"/>
              <a:cs typeface="Arial"/>
              <a:sym typeface="Arial"/>
            </a:endParaRPr>
          </a:p>
        </p:txBody>
      </p:sp>
      <p:sp>
        <p:nvSpPr>
          <p:cNvPr id="524" name="Google Shape;524;p30"/>
          <p:cNvSpPr/>
          <p:nvPr/>
        </p:nvSpPr>
        <p:spPr>
          <a:xfrm>
            <a:off x="6048756" y="925830"/>
            <a:ext cx="2503170" cy="1522476"/>
          </a:xfrm>
          <a:prstGeom prst="roundRect">
            <a:avLst>
              <a:gd fmla="val 3604"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5" name="Google Shape;525;p30"/>
          <p:cNvSpPr/>
          <p:nvPr/>
        </p:nvSpPr>
        <p:spPr>
          <a:xfrm>
            <a:off x="6048756" y="925830"/>
            <a:ext cx="48006" cy="1522476"/>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6" name="Google Shape;526;p30"/>
          <p:cNvSpPr/>
          <p:nvPr/>
        </p:nvSpPr>
        <p:spPr>
          <a:xfrm>
            <a:off x="6199632" y="1049274"/>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Améliorations</a:t>
            </a:r>
            <a:endParaRPr sz="1100">
              <a:solidFill>
                <a:schemeClr val="dk1"/>
              </a:solidFill>
              <a:latin typeface="Arial"/>
              <a:ea typeface="Arial"/>
              <a:cs typeface="Arial"/>
              <a:sym typeface="Arial"/>
            </a:endParaRPr>
          </a:p>
        </p:txBody>
      </p:sp>
      <p:sp>
        <p:nvSpPr>
          <p:cNvPr id="527" name="Google Shape;527;p30"/>
          <p:cNvSpPr/>
          <p:nvPr/>
        </p:nvSpPr>
        <p:spPr>
          <a:xfrm>
            <a:off x="6199632" y="1309878"/>
            <a:ext cx="2269998" cy="104241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réponses plus diverses</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test réellement indépendant</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questions hors périmètre</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évaluation humaine structurée</a:t>
            </a:r>
            <a:endParaRPr sz="900">
              <a:solidFill>
                <a:schemeClr val="dk1"/>
              </a:solidFill>
              <a:latin typeface="Arial"/>
              <a:ea typeface="Arial"/>
              <a:cs typeface="Arial"/>
              <a:sym typeface="Arial"/>
            </a:endParaRPr>
          </a:p>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 historique conversationnel limité</a:t>
            </a:r>
            <a:endParaRPr sz="900">
              <a:solidFill>
                <a:schemeClr val="dk1"/>
              </a:solidFill>
              <a:latin typeface="Arial"/>
              <a:ea typeface="Arial"/>
              <a:cs typeface="Arial"/>
              <a:sym typeface="Arial"/>
            </a:endParaRPr>
          </a:p>
        </p:txBody>
      </p:sp>
      <p:sp>
        <p:nvSpPr>
          <p:cNvPr id="528" name="Google Shape;528;p30"/>
          <p:cNvSpPr/>
          <p:nvPr/>
        </p:nvSpPr>
        <p:spPr>
          <a:xfrm>
            <a:off x="857250" y="2914650"/>
            <a:ext cx="7440930" cy="960120"/>
          </a:xfrm>
          <a:prstGeom prst="roundRect">
            <a:avLst>
              <a:gd fmla="val 5714" name="adj"/>
            </a:avLst>
          </a:prstGeom>
          <a:solidFill>
            <a:srgbClr val="0D1B2A"/>
          </a:solidFill>
          <a:ln cap="flat" cmpd="sng" w="12700">
            <a:solidFill>
              <a:srgbClr val="0D1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9" name="Google Shape;529;p30"/>
          <p:cNvSpPr/>
          <p:nvPr/>
        </p:nvSpPr>
        <p:spPr>
          <a:xfrm>
            <a:off x="1131570" y="3106674"/>
            <a:ext cx="10287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fr" sz="1100">
                <a:solidFill>
                  <a:srgbClr val="FFFFFF"/>
                </a:solidFill>
                <a:latin typeface="Arial"/>
                <a:ea typeface="Arial"/>
                <a:cs typeface="Arial"/>
                <a:sym typeface="Arial"/>
              </a:rPr>
              <a:t>Conclusion</a:t>
            </a:r>
            <a:endParaRPr sz="1100">
              <a:solidFill>
                <a:schemeClr val="dk1"/>
              </a:solidFill>
              <a:latin typeface="Arial"/>
              <a:ea typeface="Arial"/>
              <a:cs typeface="Arial"/>
              <a:sym typeface="Arial"/>
            </a:endParaRPr>
          </a:p>
        </p:txBody>
      </p:sp>
      <p:sp>
        <p:nvSpPr>
          <p:cNvPr id="530" name="Google Shape;530;p30"/>
          <p:cNvSpPr/>
          <p:nvPr/>
        </p:nvSpPr>
        <p:spPr>
          <a:xfrm>
            <a:off x="2091690" y="3038094"/>
            <a:ext cx="579501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lang="fr" sz="1100">
                <a:solidFill>
                  <a:srgbClr val="FFFFFF"/>
                </a:solidFill>
                <a:latin typeface="Arial"/>
                <a:ea typeface="Arial"/>
                <a:cs typeface="Arial"/>
                <a:sym typeface="Arial"/>
              </a:rPr>
              <a:t>QLoRA a permis de spécialiser efficacement Qwen2.5-1.5B avec environ 1,18 % de paramètres entraînables. Les scores montrent une forte adaptation au dataset, tandis que le challenge rappelle qu’adaptation et généralisation ne sont pas la même chose.</a:t>
            </a:r>
            <a:endParaRPr sz="1100">
              <a:solidFill>
                <a:schemeClr val="dk1"/>
              </a:solidFill>
              <a:latin typeface="Arial"/>
              <a:ea typeface="Arial"/>
              <a:cs typeface="Arial"/>
              <a:sym typeface="Arial"/>
            </a:endParaRPr>
          </a:p>
        </p:txBody>
      </p:sp>
      <p:sp>
        <p:nvSpPr>
          <p:cNvPr id="531" name="Google Shape;531;p30"/>
          <p:cNvSpPr/>
          <p:nvPr/>
        </p:nvSpPr>
        <p:spPr>
          <a:xfrm>
            <a:off x="822960" y="4183380"/>
            <a:ext cx="750951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000"/>
              <a:buFont typeface="Arial"/>
              <a:buNone/>
            </a:pPr>
            <a:r>
              <a:rPr b="1" lang="fr" sz="1000">
                <a:solidFill>
                  <a:srgbClr val="1F4E79"/>
                </a:solidFill>
                <a:latin typeface="Arial"/>
                <a:ea typeface="Arial"/>
                <a:cs typeface="Arial"/>
                <a:sym typeface="Arial"/>
              </a:rPr>
              <a:t>Phrase à retenir :  « Une bonne évaluation ne demande pas seulement si le modèle reproduit la référence, mais s’il répond correctement à une situation nouvelle. »</a:t>
            </a:r>
            <a:endParaRPr sz="1000">
              <a:solidFill>
                <a:schemeClr val="dk1"/>
              </a:solidFill>
              <a:latin typeface="Arial"/>
              <a:ea typeface="Arial"/>
              <a:cs typeface="Arial"/>
              <a:sym typeface="Arial"/>
            </a:endParaRPr>
          </a:p>
        </p:txBody>
      </p:sp>
      <p:sp>
        <p:nvSpPr>
          <p:cNvPr id="532" name="Google Shape;532;p30"/>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lang="fr" sz="600">
                <a:solidFill>
                  <a:srgbClr val="667085"/>
                </a:solidFill>
                <a:latin typeface="Arial"/>
                <a:ea typeface="Arial"/>
                <a:cs typeface="Arial"/>
                <a:sym typeface="Arial"/>
              </a:rPr>
              <a:t>15 / 20</a:t>
            </a:r>
            <a:endParaRPr sz="600">
              <a:solidFill>
                <a:schemeClr val="dk1"/>
              </a:solidFill>
              <a:latin typeface="Arial"/>
              <a:ea typeface="Arial"/>
              <a:cs typeface="Arial"/>
              <a:sym typeface="Arial"/>
            </a:endParaRPr>
          </a:p>
        </p:txBody>
      </p:sp>
      <p:sp>
        <p:nvSpPr>
          <p:cNvPr id="533" name="Google Shape;533;p30"/>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fr" sz="600">
                <a:solidFill>
                  <a:srgbClr val="667085"/>
                </a:solidFill>
                <a:latin typeface="Arial"/>
                <a:ea typeface="Arial"/>
                <a:cs typeface="Arial"/>
                <a:sym typeface="Arial"/>
              </a:rPr>
              <a:t>‹#›</a:t>
            </a:fld>
            <a:endParaRPr sz="600">
              <a:solidFill>
                <a:srgbClr val="667085"/>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1"/>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lang="fr" sz="1800">
                <a:solidFill>
                  <a:srgbClr val="0D1B2A"/>
                </a:solidFill>
                <a:latin typeface="Play"/>
                <a:ea typeface="Play"/>
                <a:cs typeface="Play"/>
                <a:sym typeface="Play"/>
              </a:rPr>
              <a:t>Annexe A — Attention, Q/K/V et masque causal</a:t>
            </a:r>
            <a:endParaRPr sz="1800">
              <a:solidFill>
                <a:schemeClr val="dk1"/>
              </a:solidFill>
              <a:latin typeface="Arial"/>
              <a:ea typeface="Arial"/>
              <a:cs typeface="Arial"/>
              <a:sym typeface="Arial"/>
            </a:endParaRPr>
          </a:p>
        </p:txBody>
      </p:sp>
      <p:sp>
        <p:nvSpPr>
          <p:cNvPr id="540" name="Google Shape;540;p31"/>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lang="fr" sz="900">
                <a:solidFill>
                  <a:srgbClr val="667085"/>
                </a:solidFill>
                <a:latin typeface="Arial"/>
                <a:ea typeface="Arial"/>
                <a:cs typeface="Arial"/>
                <a:sym typeface="Arial"/>
              </a:rPr>
              <a:t>Définitions utiles pour répondre aux questions techniques du jury.</a:t>
            </a:r>
            <a:endParaRPr sz="900">
              <a:solidFill>
                <a:schemeClr val="dk1"/>
              </a:solidFill>
              <a:latin typeface="Arial"/>
              <a:ea typeface="Arial"/>
              <a:cs typeface="Arial"/>
              <a:sym typeface="Arial"/>
            </a:endParaRPr>
          </a:p>
        </p:txBody>
      </p:sp>
      <p:sp>
        <p:nvSpPr>
          <p:cNvPr id="541" name="Google Shape;541;p31"/>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2" name="Google Shape;542;p31"/>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lang="fr" sz="700">
                <a:solidFill>
                  <a:srgbClr val="0E7C7B"/>
                </a:solidFill>
                <a:latin typeface="Arial"/>
                <a:ea typeface="Arial"/>
                <a:cs typeface="Arial"/>
                <a:sym typeface="Arial"/>
              </a:rPr>
              <a:t>ANNEXE</a:t>
            </a:r>
            <a:endParaRPr sz="700">
              <a:solidFill>
                <a:schemeClr val="dk1"/>
              </a:solidFill>
              <a:latin typeface="Arial"/>
              <a:ea typeface="Arial"/>
              <a:cs typeface="Arial"/>
              <a:sym typeface="Arial"/>
            </a:endParaRPr>
          </a:p>
        </p:txBody>
      </p:sp>
      <p:sp>
        <p:nvSpPr>
          <p:cNvPr id="543" name="Google Shape;543;p31"/>
          <p:cNvSpPr/>
          <p:nvPr/>
        </p:nvSpPr>
        <p:spPr>
          <a:xfrm>
            <a:off x="562356" y="925830"/>
            <a:ext cx="2537460" cy="1371600"/>
          </a:xfrm>
          <a:prstGeom prst="roundRect">
            <a:avLst>
              <a:gd fmla="val 4000"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4" name="Google Shape;544;p31"/>
          <p:cNvSpPr/>
          <p:nvPr/>
        </p:nvSpPr>
        <p:spPr>
          <a:xfrm>
            <a:off x="562356" y="925830"/>
            <a:ext cx="48006" cy="137160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5" name="Google Shape;545;p31"/>
          <p:cNvSpPr/>
          <p:nvPr/>
        </p:nvSpPr>
        <p:spPr>
          <a:xfrm>
            <a:off x="713232" y="1049274"/>
            <a:ext cx="22974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Query (Q)</a:t>
            </a:r>
            <a:endParaRPr sz="1100">
              <a:solidFill>
                <a:schemeClr val="dk1"/>
              </a:solidFill>
              <a:latin typeface="Arial"/>
              <a:ea typeface="Arial"/>
              <a:cs typeface="Arial"/>
              <a:sym typeface="Arial"/>
            </a:endParaRPr>
          </a:p>
        </p:txBody>
      </p:sp>
      <p:sp>
        <p:nvSpPr>
          <p:cNvPr id="546" name="Google Shape;546;p31"/>
          <p:cNvSpPr/>
          <p:nvPr/>
        </p:nvSpPr>
        <p:spPr>
          <a:xfrm>
            <a:off x="713232" y="1309878"/>
            <a:ext cx="2304288" cy="8915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Ce que la position courante “cherche” dans le contexte.</a:t>
            </a:r>
            <a:endParaRPr sz="900">
              <a:solidFill>
                <a:schemeClr val="dk1"/>
              </a:solidFill>
              <a:latin typeface="Arial"/>
              <a:ea typeface="Arial"/>
              <a:cs typeface="Arial"/>
              <a:sym typeface="Arial"/>
            </a:endParaRPr>
          </a:p>
        </p:txBody>
      </p:sp>
      <p:sp>
        <p:nvSpPr>
          <p:cNvPr id="547" name="Google Shape;547;p31"/>
          <p:cNvSpPr/>
          <p:nvPr/>
        </p:nvSpPr>
        <p:spPr>
          <a:xfrm>
            <a:off x="3305556" y="925830"/>
            <a:ext cx="2537460" cy="1371600"/>
          </a:xfrm>
          <a:prstGeom prst="roundRect">
            <a:avLst>
              <a:gd fmla="val 4000"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8" name="Google Shape;548;p31"/>
          <p:cNvSpPr/>
          <p:nvPr/>
        </p:nvSpPr>
        <p:spPr>
          <a:xfrm>
            <a:off x="3305556" y="925830"/>
            <a:ext cx="48006" cy="137160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9" name="Google Shape;549;p31"/>
          <p:cNvSpPr/>
          <p:nvPr/>
        </p:nvSpPr>
        <p:spPr>
          <a:xfrm>
            <a:off x="3456432" y="1049274"/>
            <a:ext cx="22974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Key (K)</a:t>
            </a:r>
            <a:endParaRPr sz="1100">
              <a:solidFill>
                <a:schemeClr val="dk1"/>
              </a:solidFill>
              <a:latin typeface="Arial"/>
              <a:ea typeface="Arial"/>
              <a:cs typeface="Arial"/>
              <a:sym typeface="Arial"/>
            </a:endParaRPr>
          </a:p>
        </p:txBody>
      </p:sp>
      <p:sp>
        <p:nvSpPr>
          <p:cNvPr id="550" name="Google Shape;550;p31"/>
          <p:cNvSpPr/>
          <p:nvPr/>
        </p:nvSpPr>
        <p:spPr>
          <a:xfrm>
            <a:off x="3456432" y="1309878"/>
            <a:ext cx="2304288" cy="8915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Ce qui sert à calculer la compatibilité entre positions.</a:t>
            </a:r>
            <a:endParaRPr sz="900">
              <a:solidFill>
                <a:schemeClr val="dk1"/>
              </a:solidFill>
              <a:latin typeface="Arial"/>
              <a:ea typeface="Arial"/>
              <a:cs typeface="Arial"/>
              <a:sym typeface="Arial"/>
            </a:endParaRPr>
          </a:p>
        </p:txBody>
      </p:sp>
      <p:sp>
        <p:nvSpPr>
          <p:cNvPr id="551" name="Google Shape;551;p31"/>
          <p:cNvSpPr/>
          <p:nvPr/>
        </p:nvSpPr>
        <p:spPr>
          <a:xfrm>
            <a:off x="6048756" y="925830"/>
            <a:ext cx="2537460" cy="1371600"/>
          </a:xfrm>
          <a:prstGeom prst="roundRect">
            <a:avLst>
              <a:gd fmla="val 4000"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2" name="Google Shape;552;p31"/>
          <p:cNvSpPr/>
          <p:nvPr/>
        </p:nvSpPr>
        <p:spPr>
          <a:xfrm>
            <a:off x="6048756" y="925830"/>
            <a:ext cx="48006" cy="137160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3" name="Google Shape;553;p31"/>
          <p:cNvSpPr/>
          <p:nvPr/>
        </p:nvSpPr>
        <p:spPr>
          <a:xfrm>
            <a:off x="6199632" y="1049274"/>
            <a:ext cx="22974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Value (V)</a:t>
            </a:r>
            <a:endParaRPr sz="1100">
              <a:solidFill>
                <a:schemeClr val="dk1"/>
              </a:solidFill>
              <a:latin typeface="Arial"/>
              <a:ea typeface="Arial"/>
              <a:cs typeface="Arial"/>
              <a:sym typeface="Arial"/>
            </a:endParaRPr>
          </a:p>
        </p:txBody>
      </p:sp>
      <p:sp>
        <p:nvSpPr>
          <p:cNvPr id="554" name="Google Shape;554;p31"/>
          <p:cNvSpPr/>
          <p:nvPr/>
        </p:nvSpPr>
        <p:spPr>
          <a:xfrm>
            <a:off x="6199632" y="1309878"/>
            <a:ext cx="2304288" cy="8915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Le contenu qui sera pondéré et agrégé après calcul des poids d’attention.</a:t>
            </a:r>
            <a:endParaRPr sz="900">
              <a:solidFill>
                <a:schemeClr val="dk1"/>
              </a:solidFill>
              <a:latin typeface="Arial"/>
              <a:ea typeface="Arial"/>
              <a:cs typeface="Arial"/>
              <a:sym typeface="Arial"/>
            </a:endParaRPr>
          </a:p>
        </p:txBody>
      </p:sp>
      <p:sp>
        <p:nvSpPr>
          <p:cNvPr id="555" name="Google Shape;555;p31"/>
          <p:cNvSpPr/>
          <p:nvPr/>
        </p:nvSpPr>
        <p:spPr>
          <a:xfrm>
            <a:off x="925830" y="2606040"/>
            <a:ext cx="68580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mbria Math"/>
              <a:buNone/>
            </a:pPr>
            <a:r>
              <a:rPr b="1" lang="fr" sz="1600">
                <a:solidFill>
                  <a:srgbClr val="0D1B2A"/>
                </a:solidFill>
                <a:latin typeface="Cambria Math"/>
                <a:ea typeface="Cambria Math"/>
                <a:cs typeface="Cambria Math"/>
                <a:sym typeface="Cambria Math"/>
              </a:rPr>
              <a:t>Attention(Q,K,V) = softmax(QKᵀ / √dₖ) V</a:t>
            </a:r>
            <a:endParaRPr sz="1600">
              <a:solidFill>
                <a:schemeClr val="dk1"/>
              </a:solidFill>
              <a:latin typeface="Arial"/>
              <a:ea typeface="Arial"/>
              <a:cs typeface="Arial"/>
              <a:sym typeface="Arial"/>
            </a:endParaRPr>
          </a:p>
        </p:txBody>
      </p:sp>
      <p:sp>
        <p:nvSpPr>
          <p:cNvPr id="556" name="Google Shape;556;p31"/>
          <p:cNvSpPr/>
          <p:nvPr/>
        </p:nvSpPr>
        <p:spPr>
          <a:xfrm>
            <a:off x="925830" y="3188970"/>
            <a:ext cx="6858000" cy="946404"/>
          </a:xfrm>
          <a:prstGeom prst="roundRect">
            <a:avLst>
              <a:gd fmla="val 5797" name="adj"/>
            </a:avLst>
          </a:prstGeom>
          <a:solidFill>
            <a:srgbClr val="FFFFFF"/>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7" name="Google Shape;557;p31"/>
          <p:cNvSpPr/>
          <p:nvPr/>
        </p:nvSpPr>
        <p:spPr>
          <a:xfrm>
            <a:off x="925830" y="3188970"/>
            <a:ext cx="48006" cy="946404"/>
          </a:xfrm>
          <a:prstGeom prst="rect">
            <a:avLst/>
          </a:prstGeom>
          <a:solidFill>
            <a:srgbClr val="6C5CE7"/>
          </a:solidFill>
          <a:ln cap="flat" cmpd="sng" w="12700">
            <a:solidFill>
              <a:srgbClr val="6C5CE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8" name="Google Shape;558;p31"/>
          <p:cNvSpPr/>
          <p:nvPr/>
        </p:nvSpPr>
        <p:spPr>
          <a:xfrm>
            <a:off x="1076706" y="3312414"/>
            <a:ext cx="661797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Masque causal</a:t>
            </a:r>
            <a:endParaRPr sz="1100">
              <a:solidFill>
                <a:schemeClr val="dk1"/>
              </a:solidFill>
              <a:latin typeface="Arial"/>
              <a:ea typeface="Arial"/>
              <a:cs typeface="Arial"/>
              <a:sym typeface="Arial"/>
            </a:endParaRPr>
          </a:p>
        </p:txBody>
      </p:sp>
      <p:sp>
        <p:nvSpPr>
          <p:cNvPr id="559" name="Google Shape;559;p31"/>
          <p:cNvSpPr/>
          <p:nvPr/>
        </p:nvSpPr>
        <p:spPr>
          <a:xfrm>
            <a:off x="1076706" y="3573018"/>
            <a:ext cx="6624828" cy="466344"/>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Dans un modèle autoregressif, une position ne doit pas consulter les tokens futurs. Le masque causal préserve donc la logique “prédire le prochain token à partir du passé autorisé”.</a:t>
            </a:r>
            <a:endParaRPr sz="900">
              <a:solidFill>
                <a:schemeClr val="dk1"/>
              </a:solidFill>
              <a:latin typeface="Arial"/>
              <a:ea typeface="Arial"/>
              <a:cs typeface="Arial"/>
              <a:sym typeface="Arial"/>
            </a:endParaRPr>
          </a:p>
        </p:txBody>
      </p:sp>
      <p:sp>
        <p:nvSpPr>
          <p:cNvPr id="560" name="Google Shape;560;p31"/>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lang="fr" sz="600">
                <a:solidFill>
                  <a:srgbClr val="667085"/>
                </a:solidFill>
                <a:latin typeface="Arial"/>
                <a:ea typeface="Arial"/>
                <a:cs typeface="Arial"/>
                <a:sym typeface="Arial"/>
              </a:rPr>
              <a:t>16 / 20</a:t>
            </a:r>
            <a:endParaRPr sz="600">
              <a:solidFill>
                <a:schemeClr val="dk1"/>
              </a:solidFill>
              <a:latin typeface="Arial"/>
              <a:ea typeface="Arial"/>
              <a:cs typeface="Arial"/>
              <a:sym typeface="Arial"/>
            </a:endParaRPr>
          </a:p>
        </p:txBody>
      </p:sp>
      <p:sp>
        <p:nvSpPr>
          <p:cNvPr id="561" name="Google Shape;561;p31"/>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fr" sz="600">
                <a:solidFill>
                  <a:srgbClr val="667085"/>
                </a:solidFill>
                <a:latin typeface="Arial"/>
                <a:ea typeface="Arial"/>
                <a:cs typeface="Arial"/>
                <a:sym typeface="Arial"/>
              </a:rPr>
              <a:t>‹#›</a:t>
            </a:fld>
            <a:endParaRPr sz="600">
              <a:solidFill>
                <a:srgbClr val="667085"/>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32"/>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lang="fr" sz="1800">
                <a:solidFill>
                  <a:srgbClr val="0D1B2A"/>
                </a:solidFill>
                <a:latin typeface="Play"/>
                <a:ea typeface="Play"/>
                <a:cs typeface="Play"/>
                <a:sym typeface="Play"/>
              </a:rPr>
              <a:t>Annexe B — Hyperparamètres exacts</a:t>
            </a:r>
            <a:endParaRPr sz="1800">
              <a:solidFill>
                <a:schemeClr val="dk1"/>
              </a:solidFill>
              <a:latin typeface="Arial"/>
              <a:ea typeface="Arial"/>
              <a:cs typeface="Arial"/>
              <a:sym typeface="Arial"/>
            </a:endParaRPr>
          </a:p>
        </p:txBody>
      </p:sp>
      <p:sp>
        <p:nvSpPr>
          <p:cNvPr id="568" name="Google Shape;568;p32"/>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lang="fr" sz="900">
                <a:solidFill>
                  <a:srgbClr val="667085"/>
                </a:solidFill>
                <a:latin typeface="Arial"/>
                <a:ea typeface="Arial"/>
                <a:cs typeface="Arial"/>
                <a:sym typeface="Arial"/>
              </a:rPr>
              <a:t>Configuration utilisée pendant le fine-tuning.</a:t>
            </a:r>
            <a:endParaRPr sz="900">
              <a:solidFill>
                <a:schemeClr val="dk1"/>
              </a:solidFill>
              <a:latin typeface="Arial"/>
              <a:ea typeface="Arial"/>
              <a:cs typeface="Arial"/>
              <a:sym typeface="Arial"/>
            </a:endParaRPr>
          </a:p>
        </p:txBody>
      </p:sp>
      <p:sp>
        <p:nvSpPr>
          <p:cNvPr id="569" name="Google Shape;569;p32"/>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0" name="Google Shape;570;p32"/>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lang="fr" sz="700">
                <a:solidFill>
                  <a:srgbClr val="0E7C7B"/>
                </a:solidFill>
                <a:latin typeface="Arial"/>
                <a:ea typeface="Arial"/>
                <a:cs typeface="Arial"/>
                <a:sym typeface="Arial"/>
              </a:rPr>
              <a:t>ANNEXE</a:t>
            </a:r>
            <a:endParaRPr sz="700">
              <a:solidFill>
                <a:schemeClr val="dk1"/>
              </a:solidFill>
              <a:latin typeface="Arial"/>
              <a:ea typeface="Arial"/>
              <a:cs typeface="Arial"/>
              <a:sym typeface="Arial"/>
            </a:endParaRPr>
          </a:p>
        </p:txBody>
      </p:sp>
      <p:graphicFrame>
        <p:nvGraphicFramePr>
          <p:cNvPr id="571" name="Google Shape;571;p32"/>
          <p:cNvGraphicFramePr/>
          <p:nvPr/>
        </p:nvGraphicFramePr>
        <p:xfrm>
          <a:off x="630936" y="905256"/>
          <a:ext cx="3000000" cy="3000000"/>
        </p:xfrm>
        <a:graphic>
          <a:graphicData uri="http://schemas.openxmlformats.org/drawingml/2006/table">
            <a:tbl>
              <a:tblPr>
                <a:noFill/>
                <a:tableStyleId>{0DFB188D-1BA0-467E-AC91-84E8B6F62E4A}</a:tableStyleId>
              </a:tblPr>
              <a:tblGrid>
                <a:gridCol w="1988800"/>
                <a:gridCol w="1508750"/>
                <a:gridCol w="4354825"/>
              </a:tblGrid>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Paramètre</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Valeur</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Rôle</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Quantification</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4 bits NF4</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réduire la mémoire</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Double quantification</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True</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économie mémoire supplémentaire</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LoRA r</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16</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capacité des adaptateurs</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LoRA alpha</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32</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échelle LoRA</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Dropout</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0,05</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régularisation</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Epochs</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2</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nombre de passages sur le train</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Batch GPU</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2</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limiter la VRAM</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Gradient accumulation</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8</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batch effectif = 16</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Learning rate</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2e-4</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taille des mises à jour</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Max length</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512</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longueur maximale tokenisée</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r h="288025">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Optimizer</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AdamW torch</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D2939"/>
                        </a:buClr>
                        <a:buSzPts val="800"/>
                        <a:buFont typeface="Arial"/>
                        <a:buNone/>
                      </a:pPr>
                      <a:r>
                        <a:rPr lang="fr" sz="800" u="none" cap="none" strike="noStrike">
                          <a:solidFill>
                            <a:srgbClr val="1D2939"/>
                          </a:solidFill>
                        </a:rPr>
                        <a:t>mise à jour des paramètres</a:t>
                      </a:r>
                      <a:endParaRPr sz="800" u="none" cap="none" strike="noStrike"/>
                    </a:p>
                  </a:txBody>
                  <a:tcPr marT="41150" marB="41150" marR="41150" marL="41150">
                    <a:lnL cap="flat" cmpd="sng" w="12700">
                      <a:solidFill>
                        <a:srgbClr val="D7DEE8"/>
                      </a:solidFill>
                      <a:prstDash val="solid"/>
                      <a:round/>
                      <a:headEnd len="sm" w="sm" type="none"/>
                      <a:tailEnd len="sm" w="sm" type="none"/>
                    </a:lnL>
                    <a:lnR cap="flat" cmpd="sng" w="12700">
                      <a:solidFill>
                        <a:srgbClr val="D7DEE8"/>
                      </a:solidFill>
                      <a:prstDash val="solid"/>
                      <a:round/>
                      <a:headEnd len="sm" w="sm" type="none"/>
                      <a:tailEnd len="sm" w="sm" type="none"/>
                    </a:lnR>
                    <a:lnT cap="flat" cmpd="sng" w="12700">
                      <a:solidFill>
                        <a:srgbClr val="D7DEE8"/>
                      </a:solidFill>
                      <a:prstDash val="solid"/>
                      <a:round/>
                      <a:headEnd len="sm" w="sm" type="none"/>
                      <a:tailEnd len="sm" w="sm" type="none"/>
                    </a:lnT>
                    <a:lnB cap="flat" cmpd="sng" w="12700">
                      <a:solidFill>
                        <a:srgbClr val="D7DEE8"/>
                      </a:solidFill>
                      <a:prstDash val="solid"/>
                      <a:round/>
                      <a:headEnd len="sm" w="sm" type="none"/>
                      <a:tailEnd len="sm" w="sm" type="none"/>
                    </a:lnB>
                    <a:solidFill>
                      <a:srgbClr val="FFFFFF"/>
                    </a:solidFill>
                  </a:tcPr>
                </a:tc>
              </a:tr>
            </a:tbl>
          </a:graphicData>
        </a:graphic>
      </p:graphicFrame>
      <p:sp>
        <p:nvSpPr>
          <p:cNvPr id="572" name="Google Shape;572;p32"/>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lang="fr" sz="600">
                <a:solidFill>
                  <a:srgbClr val="667085"/>
                </a:solidFill>
                <a:latin typeface="Arial"/>
                <a:ea typeface="Arial"/>
                <a:cs typeface="Arial"/>
                <a:sym typeface="Arial"/>
              </a:rPr>
              <a:t>17 / 20</a:t>
            </a:r>
            <a:endParaRPr sz="600">
              <a:solidFill>
                <a:schemeClr val="dk1"/>
              </a:solidFill>
              <a:latin typeface="Arial"/>
              <a:ea typeface="Arial"/>
              <a:cs typeface="Arial"/>
              <a:sym typeface="Arial"/>
            </a:endParaRPr>
          </a:p>
        </p:txBody>
      </p:sp>
      <p:sp>
        <p:nvSpPr>
          <p:cNvPr id="573" name="Google Shape;573;p32"/>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fr" sz="600">
                <a:solidFill>
                  <a:srgbClr val="667085"/>
                </a:solidFill>
                <a:latin typeface="Arial"/>
                <a:ea typeface="Arial"/>
                <a:cs typeface="Arial"/>
                <a:sym typeface="Arial"/>
              </a:rPr>
              <a:t>‹#›</a:t>
            </a:fld>
            <a:endParaRPr sz="600">
              <a:solidFill>
                <a:srgbClr val="667085"/>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3"/>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lang="fr" sz="1800">
                <a:solidFill>
                  <a:srgbClr val="0D1B2A"/>
                </a:solidFill>
                <a:latin typeface="Play"/>
                <a:ea typeface="Play"/>
                <a:cs typeface="Play"/>
                <a:sym typeface="Play"/>
              </a:rPr>
              <a:t>Annexe C — Trois extraits de code à savoir expliquer</a:t>
            </a:r>
            <a:endParaRPr sz="1800">
              <a:solidFill>
                <a:schemeClr val="dk1"/>
              </a:solidFill>
              <a:latin typeface="Arial"/>
              <a:ea typeface="Arial"/>
              <a:cs typeface="Arial"/>
              <a:sym typeface="Arial"/>
            </a:endParaRPr>
          </a:p>
        </p:txBody>
      </p:sp>
      <p:sp>
        <p:nvSpPr>
          <p:cNvPr id="580" name="Google Shape;580;p33"/>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lang="fr" sz="900">
                <a:solidFill>
                  <a:srgbClr val="667085"/>
                </a:solidFill>
                <a:latin typeface="Arial"/>
                <a:ea typeface="Arial"/>
                <a:cs typeface="Arial"/>
                <a:sym typeface="Arial"/>
              </a:rPr>
              <a:t>Le code n’est pas à réciter : il sert à montrer comment les concepts sont implémentés.</a:t>
            </a:r>
            <a:endParaRPr sz="900">
              <a:solidFill>
                <a:schemeClr val="dk1"/>
              </a:solidFill>
              <a:latin typeface="Arial"/>
              <a:ea typeface="Arial"/>
              <a:cs typeface="Arial"/>
              <a:sym typeface="Arial"/>
            </a:endParaRPr>
          </a:p>
        </p:txBody>
      </p:sp>
      <p:sp>
        <p:nvSpPr>
          <p:cNvPr id="581" name="Google Shape;581;p33"/>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2" name="Google Shape;582;p33"/>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lang="fr" sz="700">
                <a:solidFill>
                  <a:srgbClr val="0E7C7B"/>
                </a:solidFill>
                <a:latin typeface="Arial"/>
                <a:ea typeface="Arial"/>
                <a:cs typeface="Arial"/>
                <a:sym typeface="Arial"/>
              </a:rPr>
              <a:t>ANNEXE</a:t>
            </a:r>
            <a:endParaRPr sz="700">
              <a:solidFill>
                <a:schemeClr val="dk1"/>
              </a:solidFill>
              <a:latin typeface="Arial"/>
              <a:ea typeface="Arial"/>
              <a:cs typeface="Arial"/>
              <a:sym typeface="Arial"/>
            </a:endParaRPr>
          </a:p>
        </p:txBody>
      </p:sp>
      <p:sp>
        <p:nvSpPr>
          <p:cNvPr id="583" name="Google Shape;583;p33"/>
          <p:cNvSpPr/>
          <p:nvPr/>
        </p:nvSpPr>
        <p:spPr>
          <a:xfrm>
            <a:off x="562356" y="925830"/>
            <a:ext cx="2571750" cy="994410"/>
          </a:xfrm>
          <a:prstGeom prst="roundRect">
            <a:avLst>
              <a:gd fmla="val 2759" name="adj"/>
            </a:avLst>
          </a:prstGeom>
          <a:solidFill>
            <a:srgbClr val="101828"/>
          </a:solidFill>
          <a:ln cap="flat" cmpd="sng" w="12700">
            <a:solidFill>
              <a:srgbClr val="1018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4" name="Google Shape;584;p33"/>
          <p:cNvSpPr/>
          <p:nvPr/>
        </p:nvSpPr>
        <p:spPr>
          <a:xfrm>
            <a:off x="685800" y="1028700"/>
            <a:ext cx="2324862" cy="802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 1. Tokenisation</a:t>
            </a:r>
            <a:endParaRPr sz="700">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encodage = tokenizer(texte, add_special_tokens=False)</a:t>
            </a:r>
            <a:endParaRPr sz="700">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token_ids = encodage["input_ids"]</a:t>
            </a:r>
            <a:endParaRPr sz="700">
              <a:solidFill>
                <a:schemeClr val="dk1"/>
              </a:solidFill>
              <a:latin typeface="Arial"/>
              <a:ea typeface="Arial"/>
              <a:cs typeface="Arial"/>
              <a:sym typeface="Arial"/>
            </a:endParaRPr>
          </a:p>
        </p:txBody>
      </p:sp>
      <p:sp>
        <p:nvSpPr>
          <p:cNvPr id="585" name="Google Shape;585;p33"/>
          <p:cNvSpPr/>
          <p:nvPr/>
        </p:nvSpPr>
        <p:spPr>
          <a:xfrm>
            <a:off x="3291840" y="925830"/>
            <a:ext cx="2571750" cy="994410"/>
          </a:xfrm>
          <a:prstGeom prst="roundRect">
            <a:avLst>
              <a:gd fmla="val 2759" name="adj"/>
            </a:avLst>
          </a:prstGeom>
          <a:solidFill>
            <a:srgbClr val="101828"/>
          </a:solidFill>
          <a:ln cap="flat" cmpd="sng" w="12700">
            <a:solidFill>
              <a:srgbClr val="1018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6" name="Google Shape;586;p33"/>
          <p:cNvSpPr/>
          <p:nvPr/>
        </p:nvSpPr>
        <p:spPr>
          <a:xfrm>
            <a:off x="3415284" y="1028700"/>
            <a:ext cx="2324862" cy="802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 2. Prochain token</a:t>
            </a:r>
            <a:endParaRPr sz="700">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next_logits = outputs.logits[0, -1]</a:t>
            </a:r>
            <a:endParaRPr sz="700">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next_probs = torch.softmax(next_logits.float(), dim=-1)</a:t>
            </a:r>
            <a:endParaRPr sz="700">
              <a:solidFill>
                <a:schemeClr val="dk1"/>
              </a:solidFill>
              <a:latin typeface="Arial"/>
              <a:ea typeface="Arial"/>
              <a:cs typeface="Arial"/>
              <a:sym typeface="Arial"/>
            </a:endParaRPr>
          </a:p>
        </p:txBody>
      </p:sp>
      <p:sp>
        <p:nvSpPr>
          <p:cNvPr id="587" name="Google Shape;587;p33"/>
          <p:cNvSpPr/>
          <p:nvPr/>
        </p:nvSpPr>
        <p:spPr>
          <a:xfrm>
            <a:off x="6021324" y="925830"/>
            <a:ext cx="2571750" cy="994410"/>
          </a:xfrm>
          <a:prstGeom prst="roundRect">
            <a:avLst>
              <a:gd fmla="val 2759" name="adj"/>
            </a:avLst>
          </a:prstGeom>
          <a:solidFill>
            <a:srgbClr val="101828"/>
          </a:solidFill>
          <a:ln cap="flat" cmpd="sng" w="12700">
            <a:solidFill>
              <a:srgbClr val="1018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8" name="Google Shape;588;p33"/>
          <p:cNvSpPr/>
          <p:nvPr/>
        </p:nvSpPr>
        <p:spPr>
          <a:xfrm>
            <a:off x="6144768" y="1028700"/>
            <a:ext cx="2324862" cy="802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 3. Lancement Gradio</a:t>
            </a:r>
            <a:endParaRPr sz="700">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demo = gr.ChatInterface(fn=answer_question, ...)</a:t>
            </a:r>
            <a:endParaRPr sz="700">
              <a:solidFill>
                <a:schemeClr val="dk1"/>
              </a:solidFill>
              <a:latin typeface="Arial"/>
              <a:ea typeface="Arial"/>
              <a:cs typeface="Arial"/>
              <a:sym typeface="Arial"/>
            </a:endParaRPr>
          </a:p>
          <a:p>
            <a:pPr indent="0" lvl="0" marL="0" marR="0" rtl="0" algn="l">
              <a:spcBef>
                <a:spcPts val="0"/>
              </a:spcBef>
              <a:spcAft>
                <a:spcPts val="0"/>
              </a:spcAft>
              <a:buClr>
                <a:srgbClr val="F2F4F7"/>
              </a:buClr>
              <a:buSzPts val="700"/>
              <a:buFont typeface="Courier New"/>
              <a:buNone/>
            </a:pPr>
            <a:r>
              <a:rPr lang="fr" sz="700">
                <a:solidFill>
                  <a:srgbClr val="F2F4F7"/>
                </a:solidFill>
                <a:latin typeface="Courier New"/>
                <a:ea typeface="Courier New"/>
                <a:cs typeface="Courier New"/>
                <a:sym typeface="Courier New"/>
              </a:rPr>
              <a:t>demo.launch(share=True, show_error=True)</a:t>
            </a:r>
            <a:endParaRPr sz="700">
              <a:solidFill>
                <a:schemeClr val="dk1"/>
              </a:solidFill>
              <a:latin typeface="Arial"/>
              <a:ea typeface="Arial"/>
              <a:cs typeface="Arial"/>
              <a:sym typeface="Arial"/>
            </a:endParaRPr>
          </a:p>
        </p:txBody>
      </p:sp>
      <p:sp>
        <p:nvSpPr>
          <p:cNvPr id="589" name="Google Shape;589;p33"/>
          <p:cNvSpPr/>
          <p:nvPr/>
        </p:nvSpPr>
        <p:spPr>
          <a:xfrm>
            <a:off x="562356" y="2228850"/>
            <a:ext cx="2571750" cy="1748790"/>
          </a:xfrm>
          <a:prstGeom prst="roundRect">
            <a:avLst>
              <a:gd fmla="val 3137" name="adj"/>
            </a:avLst>
          </a:prstGeom>
          <a:solidFill>
            <a:srgbClr val="EAF2F8"/>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0" name="Google Shape;590;p33"/>
          <p:cNvSpPr/>
          <p:nvPr/>
        </p:nvSpPr>
        <p:spPr>
          <a:xfrm>
            <a:off x="562356" y="2228850"/>
            <a:ext cx="48006" cy="1748790"/>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1" name="Google Shape;591;p33"/>
          <p:cNvSpPr/>
          <p:nvPr/>
        </p:nvSpPr>
        <p:spPr>
          <a:xfrm>
            <a:off x="713232" y="2352294"/>
            <a:ext cx="23317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À expliquer</a:t>
            </a:r>
            <a:endParaRPr sz="1100">
              <a:solidFill>
                <a:schemeClr val="dk1"/>
              </a:solidFill>
              <a:latin typeface="Arial"/>
              <a:ea typeface="Arial"/>
              <a:cs typeface="Arial"/>
              <a:sym typeface="Arial"/>
            </a:endParaRPr>
          </a:p>
        </p:txBody>
      </p:sp>
      <p:sp>
        <p:nvSpPr>
          <p:cNvPr id="592" name="Google Shape;592;p33"/>
          <p:cNvSpPr/>
          <p:nvPr/>
        </p:nvSpPr>
        <p:spPr>
          <a:xfrm>
            <a:off x="713232" y="2612898"/>
            <a:ext cx="2338578" cy="126873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Le tokenizer transforme le texte en IDs. Ce sont ces IDs que le réseau reçoit après passage par les embeddings.</a:t>
            </a:r>
            <a:endParaRPr sz="900">
              <a:solidFill>
                <a:schemeClr val="dk1"/>
              </a:solidFill>
              <a:latin typeface="Arial"/>
              <a:ea typeface="Arial"/>
              <a:cs typeface="Arial"/>
              <a:sym typeface="Arial"/>
            </a:endParaRPr>
          </a:p>
        </p:txBody>
      </p:sp>
      <p:sp>
        <p:nvSpPr>
          <p:cNvPr id="593" name="Google Shape;593;p33"/>
          <p:cNvSpPr/>
          <p:nvPr/>
        </p:nvSpPr>
        <p:spPr>
          <a:xfrm>
            <a:off x="3291840" y="2228850"/>
            <a:ext cx="2571750" cy="1748790"/>
          </a:xfrm>
          <a:prstGeom prst="roundRect">
            <a:avLst>
              <a:gd fmla="val 3137" name="adj"/>
            </a:avLst>
          </a:prstGeom>
          <a:solidFill>
            <a:srgbClr val="E8F7F5"/>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4" name="Google Shape;594;p33"/>
          <p:cNvSpPr/>
          <p:nvPr/>
        </p:nvSpPr>
        <p:spPr>
          <a:xfrm>
            <a:off x="3291840" y="2228850"/>
            <a:ext cx="48006" cy="1748790"/>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5" name="Google Shape;595;p33"/>
          <p:cNvSpPr/>
          <p:nvPr/>
        </p:nvSpPr>
        <p:spPr>
          <a:xfrm>
            <a:off x="3442716" y="2352294"/>
            <a:ext cx="23317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À expliquer</a:t>
            </a:r>
            <a:endParaRPr sz="1100">
              <a:solidFill>
                <a:schemeClr val="dk1"/>
              </a:solidFill>
              <a:latin typeface="Arial"/>
              <a:ea typeface="Arial"/>
              <a:cs typeface="Arial"/>
              <a:sym typeface="Arial"/>
            </a:endParaRPr>
          </a:p>
        </p:txBody>
      </p:sp>
      <p:sp>
        <p:nvSpPr>
          <p:cNvPr id="596" name="Google Shape;596;p33"/>
          <p:cNvSpPr/>
          <p:nvPr/>
        </p:nvSpPr>
        <p:spPr>
          <a:xfrm>
            <a:off x="3442716" y="2612898"/>
            <a:ext cx="2338578" cy="126873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La dernière position produit un score pour chaque token du vocabulaire. Softmax transforme ces scores en probabilités.</a:t>
            </a:r>
            <a:endParaRPr sz="900">
              <a:solidFill>
                <a:schemeClr val="dk1"/>
              </a:solidFill>
              <a:latin typeface="Arial"/>
              <a:ea typeface="Arial"/>
              <a:cs typeface="Arial"/>
              <a:sym typeface="Arial"/>
            </a:endParaRPr>
          </a:p>
        </p:txBody>
      </p:sp>
      <p:sp>
        <p:nvSpPr>
          <p:cNvPr id="597" name="Google Shape;597;p33"/>
          <p:cNvSpPr/>
          <p:nvPr/>
        </p:nvSpPr>
        <p:spPr>
          <a:xfrm>
            <a:off x="6021324" y="2228850"/>
            <a:ext cx="2571750" cy="1748790"/>
          </a:xfrm>
          <a:prstGeom prst="roundRect">
            <a:avLst>
              <a:gd fmla="val 3137" name="adj"/>
            </a:avLst>
          </a:prstGeom>
          <a:solidFill>
            <a:srgbClr val="FFF2E6"/>
          </a:solidFill>
          <a:ln cap="flat" cmpd="sng" w="12700">
            <a:solidFill>
              <a:srgbClr val="D7DEE8"/>
            </a:solidFill>
            <a:prstDash val="solid"/>
            <a:round/>
            <a:headEnd len="sm" w="sm" type="none"/>
            <a:tailEnd len="sm" w="sm" type="none"/>
          </a:ln>
          <a:effectLst>
            <a:outerShdw blurRad="12700" rotWithShape="0" algn="bl" dir="2700000" dist="50800">
              <a:srgbClr val="B8C1CC">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8" name="Google Shape;598;p33"/>
          <p:cNvSpPr/>
          <p:nvPr/>
        </p:nvSpPr>
        <p:spPr>
          <a:xfrm>
            <a:off x="6021324" y="2228850"/>
            <a:ext cx="48006" cy="174879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9" name="Google Shape;599;p33"/>
          <p:cNvSpPr/>
          <p:nvPr/>
        </p:nvSpPr>
        <p:spPr>
          <a:xfrm>
            <a:off x="6172200" y="2352294"/>
            <a:ext cx="23317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À expliquer</a:t>
            </a:r>
            <a:endParaRPr sz="1100">
              <a:solidFill>
                <a:schemeClr val="dk1"/>
              </a:solidFill>
              <a:latin typeface="Arial"/>
              <a:ea typeface="Arial"/>
              <a:cs typeface="Arial"/>
              <a:sym typeface="Arial"/>
            </a:endParaRPr>
          </a:p>
        </p:txBody>
      </p:sp>
      <p:sp>
        <p:nvSpPr>
          <p:cNvPr id="600" name="Google Shape;600;p33"/>
          <p:cNvSpPr/>
          <p:nvPr/>
        </p:nvSpPr>
        <p:spPr>
          <a:xfrm>
            <a:off x="6172200" y="2612898"/>
            <a:ext cx="2338578" cy="126873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Gradio ne fait que fournir une interface. Le vrai travail est assuré par le modèle et la fonction de génération.</a:t>
            </a:r>
            <a:endParaRPr sz="900">
              <a:solidFill>
                <a:schemeClr val="dk1"/>
              </a:solidFill>
              <a:latin typeface="Arial"/>
              <a:ea typeface="Arial"/>
              <a:cs typeface="Arial"/>
              <a:sym typeface="Arial"/>
            </a:endParaRPr>
          </a:p>
        </p:txBody>
      </p:sp>
      <p:sp>
        <p:nvSpPr>
          <p:cNvPr id="601" name="Google Shape;601;p33"/>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lang="fr" sz="600">
                <a:solidFill>
                  <a:srgbClr val="667085"/>
                </a:solidFill>
                <a:latin typeface="Arial"/>
                <a:ea typeface="Arial"/>
                <a:cs typeface="Arial"/>
                <a:sym typeface="Arial"/>
              </a:rPr>
              <a:t>18 / 20</a:t>
            </a:r>
            <a:endParaRPr sz="600">
              <a:solidFill>
                <a:schemeClr val="dk1"/>
              </a:solidFill>
              <a:latin typeface="Arial"/>
              <a:ea typeface="Arial"/>
              <a:cs typeface="Arial"/>
              <a:sym typeface="Arial"/>
            </a:endParaRPr>
          </a:p>
        </p:txBody>
      </p:sp>
      <p:sp>
        <p:nvSpPr>
          <p:cNvPr id="602" name="Google Shape;602;p33"/>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fr" sz="600">
                <a:solidFill>
                  <a:srgbClr val="667085"/>
                </a:solidFill>
                <a:latin typeface="Arial"/>
                <a:ea typeface="Arial"/>
                <a:cs typeface="Arial"/>
                <a:sym typeface="Arial"/>
              </a:rPr>
              <a:t>‹#›</a:t>
            </a:fld>
            <a:endParaRPr sz="600">
              <a:solidFill>
                <a:srgbClr val="667085"/>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34"/>
          <p:cNvSpPr/>
          <p:nvPr/>
        </p:nvSpPr>
        <p:spPr>
          <a:xfrm>
            <a:off x="493776" y="246888"/>
            <a:ext cx="816102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800"/>
              <a:buFont typeface="Play"/>
              <a:buNone/>
            </a:pPr>
            <a:r>
              <a:rPr b="1" lang="fr" sz="1800">
                <a:solidFill>
                  <a:srgbClr val="0D1B2A"/>
                </a:solidFill>
                <a:latin typeface="Play"/>
                <a:ea typeface="Play"/>
                <a:cs typeface="Play"/>
                <a:sym typeface="Play"/>
              </a:rPr>
              <a:t>Annexe D — Questions probables</a:t>
            </a:r>
            <a:endParaRPr sz="1800">
              <a:solidFill>
                <a:schemeClr val="dk1"/>
              </a:solidFill>
              <a:latin typeface="Arial"/>
              <a:ea typeface="Arial"/>
              <a:cs typeface="Arial"/>
              <a:sym typeface="Arial"/>
            </a:endParaRPr>
          </a:p>
        </p:txBody>
      </p:sp>
      <p:sp>
        <p:nvSpPr>
          <p:cNvPr id="609" name="Google Shape;609;p34"/>
          <p:cNvSpPr/>
          <p:nvPr/>
        </p:nvSpPr>
        <p:spPr>
          <a:xfrm>
            <a:off x="507492" y="589788"/>
            <a:ext cx="805815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lang="fr" sz="900">
                <a:solidFill>
                  <a:srgbClr val="667085"/>
                </a:solidFill>
                <a:latin typeface="Arial"/>
                <a:ea typeface="Arial"/>
                <a:cs typeface="Arial"/>
                <a:sym typeface="Arial"/>
              </a:rPr>
              <a:t>Réponses courtes à maîtriser.</a:t>
            </a:r>
            <a:endParaRPr sz="900">
              <a:solidFill>
                <a:schemeClr val="dk1"/>
              </a:solidFill>
              <a:latin typeface="Arial"/>
              <a:ea typeface="Arial"/>
              <a:cs typeface="Arial"/>
              <a:sym typeface="Arial"/>
            </a:endParaRPr>
          </a:p>
        </p:txBody>
      </p:sp>
      <p:sp>
        <p:nvSpPr>
          <p:cNvPr id="610" name="Google Shape;610;p34"/>
          <p:cNvSpPr/>
          <p:nvPr/>
        </p:nvSpPr>
        <p:spPr>
          <a:xfrm>
            <a:off x="7063740" y="267462"/>
            <a:ext cx="1543050" cy="233172"/>
          </a:xfrm>
          <a:prstGeom prst="roundRect">
            <a:avLst>
              <a:gd fmla="val 17647" name="adj"/>
            </a:avLst>
          </a:prstGeom>
          <a:solidFill>
            <a:srgbClr val="E8F7F5"/>
          </a:solidFill>
          <a:ln cap="flat" cmpd="sng" w="12700">
            <a:solidFill>
              <a:srgbClr val="E8F7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1" name="Google Shape;611;p34"/>
          <p:cNvSpPr/>
          <p:nvPr/>
        </p:nvSpPr>
        <p:spPr>
          <a:xfrm>
            <a:off x="7098030" y="315468"/>
            <a:ext cx="147447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7B"/>
              </a:buClr>
              <a:buSzPts val="700"/>
              <a:buFont typeface="Arial"/>
              <a:buNone/>
            </a:pPr>
            <a:r>
              <a:rPr b="1" lang="fr" sz="700">
                <a:solidFill>
                  <a:srgbClr val="0E7C7B"/>
                </a:solidFill>
                <a:latin typeface="Arial"/>
                <a:ea typeface="Arial"/>
                <a:cs typeface="Arial"/>
                <a:sym typeface="Arial"/>
              </a:rPr>
              <a:t>ANNEXE</a:t>
            </a:r>
            <a:endParaRPr sz="700">
              <a:solidFill>
                <a:schemeClr val="dk1"/>
              </a:solidFill>
              <a:latin typeface="Arial"/>
              <a:ea typeface="Arial"/>
              <a:cs typeface="Arial"/>
              <a:sym typeface="Arial"/>
            </a:endParaRPr>
          </a:p>
        </p:txBody>
      </p:sp>
      <p:sp>
        <p:nvSpPr>
          <p:cNvPr id="612" name="Google Shape;612;p34"/>
          <p:cNvSpPr/>
          <p:nvPr/>
        </p:nvSpPr>
        <p:spPr>
          <a:xfrm>
            <a:off x="562356" y="891540"/>
            <a:ext cx="3806190" cy="973836"/>
          </a:xfrm>
          <a:prstGeom prst="roundRect">
            <a:avLst>
              <a:gd fmla="val 5634"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3" name="Google Shape;613;p34"/>
          <p:cNvSpPr/>
          <p:nvPr/>
        </p:nvSpPr>
        <p:spPr>
          <a:xfrm>
            <a:off x="562356" y="891540"/>
            <a:ext cx="48006" cy="973836"/>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4" name="Google Shape;614;p34"/>
          <p:cNvSpPr/>
          <p:nvPr/>
        </p:nvSpPr>
        <p:spPr>
          <a:xfrm>
            <a:off x="713232" y="101498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Pourquoi QLoRA ?</a:t>
            </a:r>
            <a:endParaRPr sz="1100">
              <a:solidFill>
                <a:schemeClr val="dk1"/>
              </a:solidFill>
              <a:latin typeface="Arial"/>
              <a:ea typeface="Arial"/>
              <a:cs typeface="Arial"/>
              <a:sym typeface="Arial"/>
            </a:endParaRPr>
          </a:p>
        </p:txBody>
      </p:sp>
      <p:sp>
        <p:nvSpPr>
          <p:cNvPr id="615" name="Google Shape;615;p34"/>
          <p:cNvSpPr/>
          <p:nvPr/>
        </p:nvSpPr>
        <p:spPr>
          <a:xfrm>
            <a:off x="713232" y="1275588"/>
            <a:ext cx="3573018" cy="49377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Pour réduire la mémoire : modèle 4 bits + entraînement de petits adaptateurs LoRA au lieu de tous les poids.</a:t>
            </a:r>
            <a:endParaRPr sz="900">
              <a:solidFill>
                <a:schemeClr val="dk1"/>
              </a:solidFill>
              <a:latin typeface="Arial"/>
              <a:ea typeface="Arial"/>
              <a:cs typeface="Arial"/>
              <a:sym typeface="Arial"/>
            </a:endParaRPr>
          </a:p>
        </p:txBody>
      </p:sp>
      <p:sp>
        <p:nvSpPr>
          <p:cNvPr id="616" name="Google Shape;616;p34"/>
          <p:cNvSpPr/>
          <p:nvPr/>
        </p:nvSpPr>
        <p:spPr>
          <a:xfrm>
            <a:off x="4677156" y="891540"/>
            <a:ext cx="3806190" cy="973836"/>
          </a:xfrm>
          <a:prstGeom prst="roundRect">
            <a:avLst>
              <a:gd fmla="val 5634"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7" name="Google Shape;617;p34"/>
          <p:cNvSpPr/>
          <p:nvPr/>
        </p:nvSpPr>
        <p:spPr>
          <a:xfrm>
            <a:off x="4677156" y="891540"/>
            <a:ext cx="48006" cy="973836"/>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8" name="Google Shape;618;p34"/>
          <p:cNvSpPr/>
          <p:nvPr/>
        </p:nvSpPr>
        <p:spPr>
          <a:xfrm>
            <a:off x="4828032" y="101498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Pourquoi une baseline ?</a:t>
            </a:r>
            <a:endParaRPr sz="1100">
              <a:solidFill>
                <a:schemeClr val="dk1"/>
              </a:solidFill>
              <a:latin typeface="Arial"/>
              <a:ea typeface="Arial"/>
              <a:cs typeface="Arial"/>
              <a:sym typeface="Arial"/>
            </a:endParaRPr>
          </a:p>
        </p:txBody>
      </p:sp>
      <p:sp>
        <p:nvSpPr>
          <p:cNvPr id="619" name="Google Shape;619;p34"/>
          <p:cNvSpPr/>
          <p:nvPr/>
        </p:nvSpPr>
        <p:spPr>
          <a:xfrm>
            <a:off x="4828032" y="1275588"/>
            <a:ext cx="3573018" cy="49377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Pour mesurer l’apport réel du fine-tuning par rapport au modèle initial avec prompting.</a:t>
            </a:r>
            <a:endParaRPr sz="900">
              <a:solidFill>
                <a:schemeClr val="dk1"/>
              </a:solidFill>
              <a:latin typeface="Arial"/>
              <a:ea typeface="Arial"/>
              <a:cs typeface="Arial"/>
              <a:sym typeface="Arial"/>
            </a:endParaRPr>
          </a:p>
        </p:txBody>
      </p:sp>
      <p:sp>
        <p:nvSpPr>
          <p:cNvPr id="620" name="Google Shape;620;p34"/>
          <p:cNvSpPr/>
          <p:nvPr/>
        </p:nvSpPr>
        <p:spPr>
          <a:xfrm>
            <a:off x="562356" y="2057400"/>
            <a:ext cx="3806190" cy="973836"/>
          </a:xfrm>
          <a:prstGeom prst="roundRect">
            <a:avLst>
              <a:gd fmla="val 5634" name="adj"/>
            </a:avLst>
          </a:prstGeom>
          <a:solidFill>
            <a:srgbClr val="EAF2F8"/>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1" name="Google Shape;621;p34"/>
          <p:cNvSpPr/>
          <p:nvPr/>
        </p:nvSpPr>
        <p:spPr>
          <a:xfrm>
            <a:off x="562356" y="2057400"/>
            <a:ext cx="48006" cy="973836"/>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2" name="Google Shape;622;p34"/>
          <p:cNvSpPr/>
          <p:nvPr/>
        </p:nvSpPr>
        <p:spPr>
          <a:xfrm>
            <a:off x="713232" y="218084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Pourquoi 2 epochs ?</a:t>
            </a:r>
            <a:endParaRPr sz="1100">
              <a:solidFill>
                <a:schemeClr val="dk1"/>
              </a:solidFill>
              <a:latin typeface="Arial"/>
              <a:ea typeface="Arial"/>
              <a:cs typeface="Arial"/>
              <a:sym typeface="Arial"/>
            </a:endParaRPr>
          </a:p>
        </p:txBody>
      </p:sp>
      <p:sp>
        <p:nvSpPr>
          <p:cNvPr id="623" name="Google Shape;623;p34"/>
          <p:cNvSpPr/>
          <p:nvPr/>
        </p:nvSpPr>
        <p:spPr>
          <a:xfrm>
            <a:off x="713232" y="2441448"/>
            <a:ext cx="3573018" cy="49377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Petit dataset + spécialisation rapide ; augmenter davantage risquait d’accentuer la mémorisation.</a:t>
            </a:r>
            <a:endParaRPr sz="900">
              <a:solidFill>
                <a:schemeClr val="dk1"/>
              </a:solidFill>
              <a:latin typeface="Arial"/>
              <a:ea typeface="Arial"/>
              <a:cs typeface="Arial"/>
              <a:sym typeface="Arial"/>
            </a:endParaRPr>
          </a:p>
        </p:txBody>
      </p:sp>
      <p:sp>
        <p:nvSpPr>
          <p:cNvPr id="624" name="Google Shape;624;p34"/>
          <p:cNvSpPr/>
          <p:nvPr/>
        </p:nvSpPr>
        <p:spPr>
          <a:xfrm>
            <a:off x="4677156" y="2057400"/>
            <a:ext cx="3806190" cy="973836"/>
          </a:xfrm>
          <a:prstGeom prst="roundRect">
            <a:avLst>
              <a:gd fmla="val 5634" name="adj"/>
            </a:avLst>
          </a:prstGeom>
          <a:solidFill>
            <a:srgbClr val="EAF2F8"/>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5" name="Google Shape;625;p34"/>
          <p:cNvSpPr/>
          <p:nvPr/>
        </p:nvSpPr>
        <p:spPr>
          <a:xfrm>
            <a:off x="4677156" y="2057400"/>
            <a:ext cx="48006" cy="973836"/>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6" name="Google Shape;626;p34"/>
          <p:cNvSpPr/>
          <p:nvPr/>
        </p:nvSpPr>
        <p:spPr>
          <a:xfrm>
            <a:off x="4828032" y="218084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Pourquoi ROUGE-L = 1 ?</a:t>
            </a:r>
            <a:endParaRPr sz="1100">
              <a:solidFill>
                <a:schemeClr val="dk1"/>
              </a:solidFill>
              <a:latin typeface="Arial"/>
              <a:ea typeface="Arial"/>
              <a:cs typeface="Arial"/>
              <a:sym typeface="Arial"/>
            </a:endParaRPr>
          </a:p>
        </p:txBody>
      </p:sp>
      <p:sp>
        <p:nvSpPr>
          <p:cNvPr id="627" name="Google Shape;627;p34"/>
          <p:cNvSpPr/>
          <p:nvPr/>
        </p:nvSpPr>
        <p:spPr>
          <a:xfrm>
            <a:off x="4828032" y="2441448"/>
            <a:ext cx="3573018" cy="49377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Le modèle reproduit presque exactement les références sur ce test ; cela ne prouve pas une généralisation parfaite.</a:t>
            </a:r>
            <a:endParaRPr sz="900">
              <a:solidFill>
                <a:schemeClr val="dk1"/>
              </a:solidFill>
              <a:latin typeface="Arial"/>
              <a:ea typeface="Arial"/>
              <a:cs typeface="Arial"/>
              <a:sym typeface="Arial"/>
            </a:endParaRPr>
          </a:p>
        </p:txBody>
      </p:sp>
      <p:sp>
        <p:nvSpPr>
          <p:cNvPr id="628" name="Google Shape;628;p34"/>
          <p:cNvSpPr/>
          <p:nvPr/>
        </p:nvSpPr>
        <p:spPr>
          <a:xfrm>
            <a:off x="562356" y="3223260"/>
            <a:ext cx="3806190" cy="973836"/>
          </a:xfrm>
          <a:prstGeom prst="roundRect">
            <a:avLst>
              <a:gd fmla="val 5634"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9" name="Google Shape;629;p34"/>
          <p:cNvSpPr/>
          <p:nvPr/>
        </p:nvSpPr>
        <p:spPr>
          <a:xfrm>
            <a:off x="562356" y="3223260"/>
            <a:ext cx="48006" cy="973836"/>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0" name="Google Shape;630;p34"/>
          <p:cNvSpPr/>
          <p:nvPr/>
        </p:nvSpPr>
        <p:spPr>
          <a:xfrm>
            <a:off x="713232" y="334670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Pourquoi un challenge ?</a:t>
            </a:r>
            <a:endParaRPr sz="1100">
              <a:solidFill>
                <a:schemeClr val="dk1"/>
              </a:solidFill>
              <a:latin typeface="Arial"/>
              <a:ea typeface="Arial"/>
              <a:cs typeface="Arial"/>
              <a:sym typeface="Arial"/>
            </a:endParaRPr>
          </a:p>
        </p:txBody>
      </p:sp>
      <p:sp>
        <p:nvSpPr>
          <p:cNvPr id="631" name="Google Shape;631;p34"/>
          <p:cNvSpPr/>
          <p:nvPr/>
        </p:nvSpPr>
        <p:spPr>
          <a:xfrm>
            <a:off x="713232" y="3607308"/>
            <a:ext cx="3573018" cy="49377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Pour tester des formulations et raisonnements moins proches des templates du dataset.</a:t>
            </a:r>
            <a:endParaRPr sz="900">
              <a:solidFill>
                <a:schemeClr val="dk1"/>
              </a:solidFill>
              <a:latin typeface="Arial"/>
              <a:ea typeface="Arial"/>
              <a:cs typeface="Arial"/>
              <a:sym typeface="Arial"/>
            </a:endParaRPr>
          </a:p>
        </p:txBody>
      </p:sp>
      <p:sp>
        <p:nvSpPr>
          <p:cNvPr id="632" name="Google Shape;632;p34"/>
          <p:cNvSpPr/>
          <p:nvPr/>
        </p:nvSpPr>
        <p:spPr>
          <a:xfrm>
            <a:off x="4677156" y="3223260"/>
            <a:ext cx="3806190" cy="973836"/>
          </a:xfrm>
          <a:prstGeom prst="roundRect">
            <a:avLst>
              <a:gd fmla="val 5634" name="adj"/>
            </a:avLst>
          </a:prstGeom>
          <a:solidFill>
            <a:srgbClr val="FFFFFF"/>
          </a:solidFill>
          <a:ln cap="flat" cmpd="sng" w="12700">
            <a:solidFill>
              <a:srgbClr val="D7DE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3" name="Google Shape;633;p34"/>
          <p:cNvSpPr/>
          <p:nvPr/>
        </p:nvSpPr>
        <p:spPr>
          <a:xfrm>
            <a:off x="4677156" y="3223260"/>
            <a:ext cx="48006" cy="973836"/>
          </a:xfrm>
          <a:prstGeom prst="rect">
            <a:avLst/>
          </a:prstGeom>
          <a:solidFill>
            <a:srgbClr val="19A7A0"/>
          </a:solidFill>
          <a:ln cap="flat" cmpd="sng" w="12700">
            <a:solidFill>
              <a:srgbClr val="19A7A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4" name="Google Shape;634;p34"/>
          <p:cNvSpPr/>
          <p:nvPr/>
        </p:nvSpPr>
        <p:spPr>
          <a:xfrm>
            <a:off x="4828032" y="3346704"/>
            <a:ext cx="35661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Arial"/>
              <a:buNone/>
            </a:pPr>
            <a:r>
              <a:rPr b="1" lang="fr" sz="1100">
                <a:solidFill>
                  <a:srgbClr val="0D1B2A"/>
                </a:solidFill>
                <a:latin typeface="Arial"/>
                <a:ea typeface="Arial"/>
                <a:cs typeface="Arial"/>
                <a:sym typeface="Arial"/>
              </a:rPr>
              <a:t>Pourquoi Gradio ?</a:t>
            </a:r>
            <a:endParaRPr sz="1100">
              <a:solidFill>
                <a:schemeClr val="dk1"/>
              </a:solidFill>
              <a:latin typeface="Arial"/>
              <a:ea typeface="Arial"/>
              <a:cs typeface="Arial"/>
              <a:sym typeface="Arial"/>
            </a:endParaRPr>
          </a:p>
        </p:txBody>
      </p:sp>
      <p:sp>
        <p:nvSpPr>
          <p:cNvPr id="635" name="Google Shape;635;p34"/>
          <p:cNvSpPr/>
          <p:nvPr/>
        </p:nvSpPr>
        <p:spPr>
          <a:xfrm>
            <a:off x="4828032" y="3607308"/>
            <a:ext cx="3573018" cy="493776"/>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D2939"/>
              </a:buClr>
              <a:buSzPts val="900"/>
              <a:buFont typeface="Arial"/>
              <a:buNone/>
            </a:pPr>
            <a:r>
              <a:rPr lang="fr" sz="900">
                <a:solidFill>
                  <a:srgbClr val="1D2939"/>
                </a:solidFill>
                <a:latin typeface="Arial"/>
                <a:ea typeface="Arial"/>
                <a:cs typeface="Arial"/>
                <a:sym typeface="Arial"/>
              </a:rPr>
              <a:t>Pour valider que le modèle peut être utilisé comme application, pas seulement évalué dans un notebook.</a:t>
            </a:r>
            <a:endParaRPr sz="900">
              <a:solidFill>
                <a:schemeClr val="dk1"/>
              </a:solidFill>
              <a:latin typeface="Arial"/>
              <a:ea typeface="Arial"/>
              <a:cs typeface="Arial"/>
              <a:sym typeface="Arial"/>
            </a:endParaRPr>
          </a:p>
        </p:txBody>
      </p:sp>
      <p:sp>
        <p:nvSpPr>
          <p:cNvPr id="636" name="Google Shape;636;p34"/>
          <p:cNvSpPr/>
          <p:nvPr/>
        </p:nvSpPr>
        <p:spPr>
          <a:xfrm>
            <a:off x="7852410" y="4869180"/>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600"/>
              <a:buFont typeface="Arial"/>
              <a:buNone/>
            </a:pPr>
            <a:r>
              <a:rPr lang="fr" sz="600">
                <a:solidFill>
                  <a:srgbClr val="667085"/>
                </a:solidFill>
                <a:latin typeface="Arial"/>
                <a:ea typeface="Arial"/>
                <a:cs typeface="Arial"/>
                <a:sym typeface="Arial"/>
              </a:rPr>
              <a:t>19 / 20</a:t>
            </a:r>
            <a:endParaRPr sz="600">
              <a:solidFill>
                <a:schemeClr val="dk1"/>
              </a:solidFill>
              <a:latin typeface="Arial"/>
              <a:ea typeface="Arial"/>
              <a:cs typeface="Arial"/>
              <a:sym typeface="Arial"/>
            </a:endParaRPr>
          </a:p>
        </p:txBody>
      </p:sp>
      <p:sp>
        <p:nvSpPr>
          <p:cNvPr id="637" name="Google Shape;637;p34"/>
          <p:cNvSpPr txBox="1"/>
          <p:nvPr>
            <p:ph idx="4294967295" type="sldNum"/>
          </p:nvPr>
        </p:nvSpPr>
        <p:spPr>
          <a:xfrm>
            <a:off x="8126730" y="4869180"/>
            <a:ext cx="548640" cy="13716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fr" sz="600">
                <a:solidFill>
                  <a:srgbClr val="667085"/>
                </a:solidFill>
                <a:latin typeface="Arial"/>
                <a:ea typeface="Arial"/>
                <a:cs typeface="Arial"/>
                <a:sym typeface="Arial"/>
              </a:rPr>
              <a:t>‹#›</a:t>
            </a:fld>
            <a:endParaRPr sz="600">
              <a:solidFill>
                <a:srgbClr val="667085"/>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